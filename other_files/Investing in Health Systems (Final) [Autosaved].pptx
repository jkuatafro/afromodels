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8" r:id="rId3"/>
    <p:sldId id="260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0" autoAdjust="0"/>
    <p:restoredTop sz="94660"/>
  </p:normalViewPr>
  <p:slideViewPr>
    <p:cSldViewPr snapToGrid="0">
      <p:cViewPr varScale="1">
        <p:scale>
          <a:sx n="48" d="100"/>
          <a:sy n="48" d="100"/>
        </p:scale>
        <p:origin x="62" y="2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77988-1040-4D94-A1A4-72818F46F5F5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26C80-AA2B-46C7-AD5A-BB8F5C90DEB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2241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77988-1040-4D94-A1A4-72818F46F5F5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26C80-AA2B-46C7-AD5A-BB8F5C90D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74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77988-1040-4D94-A1A4-72818F46F5F5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26C80-AA2B-46C7-AD5A-BB8F5C90DEB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8600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77988-1040-4D94-A1A4-72818F46F5F5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26C80-AA2B-46C7-AD5A-BB8F5C90D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036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77988-1040-4D94-A1A4-72818F46F5F5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26C80-AA2B-46C7-AD5A-BB8F5C90D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264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77988-1040-4D94-A1A4-72818F46F5F5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26C80-AA2B-46C7-AD5A-BB8F5C90D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603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77988-1040-4D94-A1A4-72818F46F5F5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26C80-AA2B-46C7-AD5A-BB8F5C90D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768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1177988-1040-4D94-A1A4-72818F46F5F5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7F26C80-AA2B-46C7-AD5A-BB8F5C90D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403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77988-1040-4D94-A1A4-72818F46F5F5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26C80-AA2B-46C7-AD5A-BB8F5C90D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211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77988-1040-4D94-A1A4-72818F46F5F5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26C80-AA2B-46C7-AD5A-BB8F5C90D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567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77988-1040-4D94-A1A4-72818F46F5F5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26C80-AA2B-46C7-AD5A-BB8F5C90D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612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1177988-1040-4D94-A1A4-72818F46F5F5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7F26C80-AA2B-46C7-AD5A-BB8F5C90DEBB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0672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DAA6C-7CB4-DCF7-1F35-5032815FEA49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542908" y="3429000"/>
            <a:ext cx="8634234" cy="2387600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4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INVESTING IN HEALTH SYSTEMS: </a:t>
            </a:r>
            <a:br>
              <a:rPr lang="en-US" sz="67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 into How Health Financing Shapes Workforce Density, UHC Service Coverage, and Key Health Outcomes. </a:t>
            </a: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WHO African Regional Perspective</a:t>
            </a:r>
            <a:br>
              <a:rPr lang="en-US" sz="5000" b="1" dirty="0"/>
            </a:br>
            <a:endParaRPr lang="en-US" sz="5000" b="1" dirty="0"/>
          </a:p>
        </p:txBody>
      </p:sp>
    </p:spTree>
    <p:extLst>
      <p:ext uri="{BB962C8B-B14F-4D97-AF65-F5344CB8AC3E}">
        <p14:creationId xmlns:p14="http://schemas.microsoft.com/office/powerpoint/2010/main" val="3074044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002D2-C9B1-BA7B-E8BE-D3AF4509577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75071" y="560386"/>
            <a:ext cx="7030065" cy="857251"/>
          </a:xfrm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031F2-AE6D-D01F-1CB8-53DA3400063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75070" y="1417637"/>
            <a:ext cx="10678755" cy="4806182"/>
          </a:xfrm>
        </p:spPr>
        <p:txBody>
          <a:bodyPr>
            <a:normAutofit fontScale="92500" lnSpcReduction="20000"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dirty="0"/>
              <a:t> Health financing refers to how resources are raised, pooled, and spent to fund health services.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/>
              <a:t> WHO standards emphasize on raising sufficient funds, pooling risks fairly, and purchasing services strategically to ensure people have access to quality care without financial hardship.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/>
              <a:t> Most countries in Africa face challenges such as high out-of-pocket (OOP) spending, fragmented risk pools, underfunding of public health, and overreliance on donor funding.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/>
              <a:t> Because after all</a:t>
            </a:r>
            <a:r>
              <a:rPr lang="en-US" i="1" dirty="0">
                <a:solidFill>
                  <a:srgbClr val="FF0000"/>
                </a:solidFill>
              </a:rPr>
              <a:t>,</a:t>
            </a:r>
            <a:r>
              <a:rPr lang="en-US" b="1" i="1" dirty="0">
                <a:solidFill>
                  <a:srgbClr val="FF0000"/>
                </a:solidFill>
              </a:rPr>
              <a:t> “Health financing is not just about spending more, but spending better and pooling risks fairly”.</a:t>
            </a:r>
            <a:endParaRPr lang="en-US" dirty="0"/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/>
              <a:t> In this research, we aimed to:</a:t>
            </a:r>
            <a:endParaRPr lang="en-US" sz="1600" dirty="0"/>
          </a:p>
          <a:p>
            <a:pPr lvl="3" algn="just">
              <a:buFont typeface="Wingdings" panose="05000000000000000000" pitchFamily="2" charset="2"/>
              <a:buChar char="Ø"/>
            </a:pPr>
            <a:r>
              <a:rPr lang="en-US" sz="1800" dirty="0"/>
              <a:t> Identify the proportion of CHE components to achieve optimal key health outcomes.</a:t>
            </a:r>
          </a:p>
          <a:p>
            <a:pPr lvl="3" algn="just">
              <a:buFont typeface="Wingdings" panose="05000000000000000000" pitchFamily="2" charset="2"/>
              <a:buChar char="Ø"/>
            </a:pPr>
            <a:r>
              <a:rPr lang="en-US" sz="1800" dirty="0"/>
              <a:t>Determine the optimal number of doctors, nurses, midwives, pharmacists, and dentists to achieve improved key health outcomes.</a:t>
            </a:r>
          </a:p>
          <a:p>
            <a:pPr lvl="3" algn="just">
              <a:buFont typeface="Wingdings" panose="05000000000000000000" pitchFamily="2" charset="2"/>
              <a:buChar char="Ø"/>
            </a:pPr>
            <a:r>
              <a:rPr lang="en-US" sz="1800" dirty="0"/>
              <a:t>Compute the amount of government expenditure on health required to achieve the optimal level of health workforce density.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/>
              <a:t>Historical data from 2000-2024 for the 47 WHO African regional countries was used for this analysis.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/>
              <a:t> Key health outcomes such as life expectancy (LE), maternal mortality (MMR), infant mortality (IMR), and UHC service coverage index (SCI) were considered in the optimization problems.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417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E3751-E2C0-CD97-0300-31A3FD86E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A3FD4-0C25-F31C-A8A0-7BDD24A52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3743" y="815993"/>
            <a:ext cx="10058400" cy="912932"/>
          </a:xfrm>
        </p:spPr>
        <p:txBody>
          <a:bodyPr>
            <a:noAutofit/>
          </a:bodyPr>
          <a:lstStyle/>
          <a:p>
            <a:r>
              <a:rPr lang="en-US" sz="3500" b="1" dirty="0">
                <a:solidFill>
                  <a:schemeClr val="accent2"/>
                </a:solidFill>
              </a:rPr>
              <a:t>Effect of CHE components on Key Health Outcomes</a:t>
            </a:r>
            <a:endParaRPr lang="en-US" sz="3500" dirty="0">
              <a:solidFill>
                <a:schemeClr val="accent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F105C9-0A90-1553-035F-FE629CBF90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2037347"/>
                <a:ext cx="10058400" cy="3433011"/>
              </a:xfrm>
            </p:spPr>
            <p:txBody>
              <a:bodyPr>
                <a:noAutofit/>
              </a:bodyPr>
              <a:lstStyle/>
              <a:p>
                <a:pPr>
                  <a:buFont typeface="Wingdings" panose="05000000000000000000" pitchFamily="2" charset="2"/>
                  <a:buChar char="q"/>
                </a:pPr>
                <a:r>
                  <a:rPr lang="en-US" sz="2400" dirty="0"/>
                  <a:t> Current Health Expenditure (CHE) is composed of three major funding components: government (GGHED), donor (EXT), and private (PVTD). 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sz="2400" dirty="0"/>
                  <a:t> The CHE components were assumed to be non-linearly correlated with LE, UHC_SCI, MMR, and IMR.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sz="2400" dirty="0"/>
                  <a:t> A generalized additive regression model (</a:t>
                </a:r>
                <a:r>
                  <a:rPr lang="en-US" sz="2400" dirty="0" err="1"/>
                  <a:t>eqn</a:t>
                </a:r>
                <a:r>
                  <a:rPr lang="en-US" sz="2400" dirty="0"/>
                  <a:t> 1) was first fitted for each of the four key health outcomes (KHO): LE, MMR, IMR, and UHC_SCI.</a:t>
                </a:r>
              </a:p>
              <a:p>
                <a:pPr marL="0" indent="0" algn="ctr">
                  <a:buNone/>
                </a:pPr>
                <a:r>
                  <a:rPr lang="en-US" sz="2400" dirty="0"/>
                  <a:t>g(E[KHO])=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(EXT)+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(GGHED)+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400" dirty="0"/>
                  <a:t>(PVTD)+e                       (1)</a:t>
                </a:r>
              </a:p>
              <a:p>
                <a:pPr marL="0" indent="0">
                  <a:buNone/>
                </a:pPr>
                <a:r>
                  <a:rPr lang="en-US" sz="2400" dirty="0"/>
                  <a:t>where g(.) is a link function,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(.)</m:t>
                    </m:r>
                  </m:oMath>
                </a14:m>
                <a:r>
                  <a:rPr lang="en-US" sz="2400" dirty="0"/>
                  <a:t> is a smooth function, e is the error term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F105C9-0A90-1553-035F-FE629CBF90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2037347"/>
                <a:ext cx="10058400" cy="3433011"/>
              </a:xfrm>
              <a:blipFill>
                <a:blip r:embed="rId2"/>
                <a:stretch>
                  <a:fillRect l="-1818" t="-2487" r="-667" b="-44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1603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07F6A-26C7-4BF3-D208-6D85B256B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9B31E-C825-4B17-53CF-3611DA4A4A3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98896" y="487808"/>
            <a:ext cx="10058400" cy="912813"/>
          </a:xfrm>
        </p:spPr>
        <p:txBody>
          <a:bodyPr>
            <a:noAutofit/>
          </a:bodyPr>
          <a:lstStyle/>
          <a:p>
            <a:r>
              <a:rPr lang="en-US" sz="3500" b="1" dirty="0">
                <a:solidFill>
                  <a:schemeClr val="accent2"/>
                </a:solidFill>
              </a:rPr>
              <a:t>Effect of CHE components on Key Health Outcomes and Service Coverage Index </a:t>
            </a:r>
            <a:r>
              <a:rPr lang="en-US" sz="3500" b="1" dirty="0" err="1">
                <a:solidFill>
                  <a:schemeClr val="accent2"/>
                </a:solidFill>
              </a:rPr>
              <a:t>contd</a:t>
            </a:r>
            <a:r>
              <a:rPr lang="en-US" sz="3500" b="1" dirty="0">
                <a:solidFill>
                  <a:schemeClr val="accent2"/>
                </a:solidFill>
              </a:rPr>
              <a:t>…</a:t>
            </a:r>
            <a:endParaRPr lang="en-US" sz="3500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82F33-8302-A047-58FE-53FBC5A5C49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98896" y="1576070"/>
            <a:ext cx="10058400" cy="4543425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 The results of the GAM model were as summarized in Table 1.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On average, GGHED has the most significant effect on all health outcomes: LE, MMR, and IMR.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 EXT has the second-highest effect on LE and IMR.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 PVTD has the second-highest effect on LE and MMR.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UHC_SCI is influenced by EXT followed by GGHED.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56F8232-D9D4-0EDD-196F-56D2156D20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3959364"/>
              </p:ext>
            </p:extLst>
          </p:nvPr>
        </p:nvGraphicFramePr>
        <p:xfrm>
          <a:off x="1334704" y="1926967"/>
          <a:ext cx="9013259" cy="214935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69357">
                  <a:extLst>
                    <a:ext uri="{9D8B030D-6E8A-4147-A177-3AD203B41FA5}">
                      <a16:colId xmlns:a16="http://schemas.microsoft.com/office/drawing/2014/main" val="504188680"/>
                    </a:ext>
                  </a:extLst>
                </a:gridCol>
                <a:gridCol w="1124651">
                  <a:extLst>
                    <a:ext uri="{9D8B030D-6E8A-4147-A177-3AD203B41FA5}">
                      <a16:colId xmlns:a16="http://schemas.microsoft.com/office/drawing/2014/main" val="2696987359"/>
                    </a:ext>
                  </a:extLst>
                </a:gridCol>
                <a:gridCol w="1311091">
                  <a:extLst>
                    <a:ext uri="{9D8B030D-6E8A-4147-A177-3AD203B41FA5}">
                      <a16:colId xmlns:a16="http://schemas.microsoft.com/office/drawing/2014/main" val="2409925900"/>
                    </a:ext>
                  </a:extLst>
                </a:gridCol>
                <a:gridCol w="1262978">
                  <a:extLst>
                    <a:ext uri="{9D8B030D-6E8A-4147-A177-3AD203B41FA5}">
                      <a16:colId xmlns:a16="http://schemas.microsoft.com/office/drawing/2014/main" val="3987179205"/>
                    </a:ext>
                  </a:extLst>
                </a:gridCol>
                <a:gridCol w="1195819">
                  <a:extLst>
                    <a:ext uri="{9D8B030D-6E8A-4147-A177-3AD203B41FA5}">
                      <a16:colId xmlns:a16="http://schemas.microsoft.com/office/drawing/2014/main" val="3616994291"/>
                    </a:ext>
                  </a:extLst>
                </a:gridCol>
                <a:gridCol w="149363">
                  <a:extLst>
                    <a:ext uri="{9D8B030D-6E8A-4147-A177-3AD203B41FA5}">
                      <a16:colId xmlns:a16="http://schemas.microsoft.com/office/drawing/2014/main" val="369409126"/>
                    </a:ext>
                  </a:extLst>
                </a:gridCol>
              </a:tblGrid>
              <a:tr h="394619">
                <a:tc gridSpan="6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</a:rPr>
                        <a:t>Table 1: </a:t>
                      </a:r>
                      <a:r>
                        <a:rPr lang="en-US" sz="1600" kern="100" dirty="0">
                          <a:effectLst/>
                        </a:rPr>
                        <a:t>Fitted GAM Results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1219948"/>
                  </a:ext>
                </a:extLst>
              </a:tr>
              <a:tr h="45347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0" dirty="0">
                          <a:effectLst/>
                        </a:rPr>
                        <a:t>Key Health Variable</a:t>
                      </a:r>
                      <a:endParaRPr lang="en-US" sz="1200" b="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effectLst/>
                        </a:rPr>
                        <a:t>EXT</a:t>
                      </a:r>
                      <a:endParaRPr lang="en-US" sz="12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</a:rPr>
                        <a:t>GGHED</a:t>
                      </a:r>
                      <a:endParaRPr lang="en-US" sz="12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effectLst/>
                        </a:rPr>
                        <a:t>PVTD</a:t>
                      </a:r>
                      <a:endParaRPr lang="en-US" sz="12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effectLst/>
                        </a:rPr>
                        <a:t>Deviance Explained (%)</a:t>
                      </a:r>
                      <a:endParaRPr lang="en-US" sz="12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</a:rPr>
                        <a:t> </a:t>
                      </a:r>
                      <a:endParaRPr lang="en-US" sz="12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45244424"/>
                  </a:ext>
                </a:extLst>
              </a:tr>
              <a:tr h="22003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Life Expectancy (LE)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6.447***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7.975***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5.440***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30.2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53184572"/>
                  </a:ext>
                </a:extLst>
              </a:tr>
              <a:tr h="29197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Maternal Mortality Ratio (MMR)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3.839***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8.692***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8.130***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40.3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27899339"/>
                  </a:ext>
                </a:extLst>
              </a:tr>
              <a:tr h="34916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Infant Mortality Rate (IMR)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5.363***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8.565***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3.620***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42.2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83792200"/>
                  </a:ext>
                </a:extLst>
              </a:tr>
              <a:tr h="44007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Universal Health Coverage (UHC_SCI)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7.769***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6.960***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6.617***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73.1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91177731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AE9D282D-5FF4-0F87-8E0A-3D4AED36E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3444" y="4076322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Sig. codes: ***&lt;0.001, **&lt;0.01, *&lt;0.05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1656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DBAFE-F13F-CA6D-C5C7-66E2D26F8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E7B3C-9B6A-F740-039E-340A2D280BC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95350" y="265112"/>
            <a:ext cx="10058400" cy="912813"/>
          </a:xfrm>
        </p:spPr>
        <p:txBody>
          <a:bodyPr>
            <a:noAutofit/>
          </a:bodyPr>
          <a:lstStyle/>
          <a:p>
            <a:r>
              <a:rPr lang="en-US" sz="3500" b="1" dirty="0">
                <a:solidFill>
                  <a:schemeClr val="accent2"/>
                </a:solidFill>
              </a:rPr>
              <a:t>Optimal Allocation of CHE Components</a:t>
            </a:r>
            <a:endParaRPr lang="en-US" sz="3500" dirty="0">
              <a:solidFill>
                <a:schemeClr val="accent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B401C6-66CD-BD5C-75EF-F1421030B600}"/>
                  </a:ext>
                </a:extLst>
              </p:cNvPr>
              <p:cNvSpPr>
                <a:spLocks noGrp="1"/>
              </p:cNvSpPr>
              <p:nvPr>
                <p:ph idx="4294967295"/>
              </p:nvPr>
            </p:nvSpPr>
            <p:spPr>
              <a:xfrm>
                <a:off x="1066800" y="1177925"/>
                <a:ext cx="10058400" cy="4864100"/>
              </a:xfrm>
            </p:spPr>
            <p:txBody>
              <a:bodyPr>
                <a:noAutofit/>
              </a:bodyPr>
              <a:lstStyle/>
              <a:p>
                <a:pPr>
                  <a:buFont typeface="Wingdings" panose="05000000000000000000" pitchFamily="2" charset="2"/>
                  <a:buChar char="q"/>
                </a:pPr>
                <a:r>
                  <a:rPr lang="en-US" sz="2400" dirty="0"/>
                  <a:t> </a:t>
                </a:r>
                <a:r>
                  <a:rPr lang="en-US" dirty="0"/>
                  <a:t>Secondly, the results of the GAM model were fed to the non-linear optimization problem to determine the optimal proportions of CHE components.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dirty="0"/>
                  <a:t> The objective function was to minimize the health outcomes: (-LE, MMR, IMR, -UHC_SCI).</a:t>
                </a:r>
              </a:p>
              <a:p>
                <a:pPr algn="ctr"/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dirty="0"/>
              </a:p>
              <a:p>
                <a:r>
                  <a:rPr lang="en-US" dirty="0"/>
                  <a:t>Subject to the constraints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Such that;</a:t>
                </a:r>
              </a:p>
              <a:p>
                <a:pPr algn="ctr"/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𝐶𝐻𝐸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𝐸𝑋𝑇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𝐺𝐺𝐻𝐸𝐷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𝑃𝑉𝑇𝐷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={−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𝐿𝐸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𝑀𝑀𝑅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𝐼𝑀𝑅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 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𝑈𝐻𝐶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𝑆𝐶𝐼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}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={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𝐸𝑋𝑇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𝐺𝐺𝐻𝐸𝐷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𝑃𝑉𝑇𝐷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}</m:t>
                            </m:r>
                          </m:e>
                        </m:eqArr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= {-LE,-UHC_SCI, MMR, IMR}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B401C6-66CD-BD5C-75EF-F1421030B6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1066800" y="1177925"/>
                <a:ext cx="10058400" cy="4864100"/>
              </a:xfrm>
              <a:blipFill>
                <a:blip r:embed="rId2"/>
                <a:stretch>
                  <a:fillRect l="-1697" t="-13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7992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28D03-AB77-598F-8C6A-EC9F4139D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24F9C-39C9-D7A2-DC0B-134310FAEF3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66800" y="244642"/>
            <a:ext cx="10058400" cy="912813"/>
          </a:xfrm>
        </p:spPr>
        <p:txBody>
          <a:bodyPr>
            <a:noAutofit/>
          </a:bodyPr>
          <a:lstStyle/>
          <a:p>
            <a:r>
              <a:rPr lang="en-US" sz="3500" b="1" dirty="0">
                <a:solidFill>
                  <a:schemeClr val="accent2"/>
                </a:solidFill>
              </a:rPr>
              <a:t>CHE Components Optimal Level Results</a:t>
            </a:r>
            <a:endParaRPr lang="en-US" sz="3500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36CC39-4CEE-0D9F-96B7-50D3248DBB0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066800" y="1386055"/>
            <a:ext cx="10058400" cy="4998703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 Table 2 below show the optimal allocation of CHE funding that improves the different health outcomes.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2400" dirty="0"/>
          </a:p>
          <a:p>
            <a:pPr>
              <a:buFont typeface="Wingdings" panose="05000000000000000000" pitchFamily="2" charset="2"/>
              <a:buChar char="q"/>
            </a:pPr>
            <a:endParaRPr lang="en-US" sz="2400" dirty="0"/>
          </a:p>
          <a:p>
            <a:pPr>
              <a:buFont typeface="Wingdings" panose="05000000000000000000" pitchFamily="2" charset="2"/>
              <a:buChar char="q"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pPr marL="0" indent="0">
              <a:buNone/>
            </a:pPr>
            <a:endParaRPr lang="en-US" sz="24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To obtain great health outcomes, governments should be encouraged to contribute 67% of CHE, private sources 19% of CHE, and the remaining 14% of CHE to be funded by external donor funding.</a:t>
            </a:r>
          </a:p>
          <a:p>
            <a:pPr marL="0" indent="0">
              <a:buNone/>
            </a:pPr>
            <a:endParaRPr lang="en-US" sz="24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0D7495F-973D-5BEC-F58F-2303EA1847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353680"/>
              </p:ext>
            </p:extLst>
          </p:nvPr>
        </p:nvGraphicFramePr>
        <p:xfrm>
          <a:off x="1475874" y="2202426"/>
          <a:ext cx="9384632" cy="296012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163445">
                  <a:extLst>
                    <a:ext uri="{9D8B030D-6E8A-4147-A177-3AD203B41FA5}">
                      <a16:colId xmlns:a16="http://schemas.microsoft.com/office/drawing/2014/main" val="32137624"/>
                    </a:ext>
                  </a:extLst>
                </a:gridCol>
                <a:gridCol w="1777904">
                  <a:extLst>
                    <a:ext uri="{9D8B030D-6E8A-4147-A177-3AD203B41FA5}">
                      <a16:colId xmlns:a16="http://schemas.microsoft.com/office/drawing/2014/main" val="2300986708"/>
                    </a:ext>
                  </a:extLst>
                </a:gridCol>
                <a:gridCol w="1732894">
                  <a:extLst>
                    <a:ext uri="{9D8B030D-6E8A-4147-A177-3AD203B41FA5}">
                      <a16:colId xmlns:a16="http://schemas.microsoft.com/office/drawing/2014/main" val="45076582"/>
                    </a:ext>
                  </a:extLst>
                </a:gridCol>
                <a:gridCol w="1710389">
                  <a:extLst>
                    <a:ext uri="{9D8B030D-6E8A-4147-A177-3AD203B41FA5}">
                      <a16:colId xmlns:a16="http://schemas.microsoft.com/office/drawing/2014/main" val="1982269133"/>
                    </a:ext>
                  </a:extLst>
                </a:gridCol>
              </a:tblGrid>
              <a:tr h="471664">
                <a:tc gridSpan="4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</a:rPr>
                        <a:t>Table 2: Optimal Current Health Expenditure (CHE) Allocation Proportions (%)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4491700"/>
                  </a:ext>
                </a:extLst>
              </a:tr>
              <a:tr h="34924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Key Health Variable (j)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EXT (</a:t>
                      </a:r>
                      <a:r>
                        <a:rPr lang="en-US" sz="1200" kern="0" dirty="0" err="1">
                          <a:effectLst/>
                        </a:rPr>
                        <a:t>i</a:t>
                      </a:r>
                      <a:r>
                        <a:rPr lang="en-US" sz="1200" kern="0" dirty="0">
                          <a:effectLst/>
                        </a:rPr>
                        <a:t>=1)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GGHED (</a:t>
                      </a:r>
                      <a:r>
                        <a:rPr lang="en-US" sz="1200" kern="0" dirty="0" err="1">
                          <a:effectLst/>
                        </a:rPr>
                        <a:t>i</a:t>
                      </a:r>
                      <a:r>
                        <a:rPr lang="en-US" sz="1200" kern="0" dirty="0">
                          <a:effectLst/>
                        </a:rPr>
                        <a:t>=2)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PVTD (i=3)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32508260"/>
                  </a:ext>
                </a:extLst>
              </a:tr>
              <a:tr h="34924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Life Expectancy (LE)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13.76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50.05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36.19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92169464"/>
                  </a:ext>
                </a:extLst>
              </a:tr>
              <a:tr h="51043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Maternal Mortality Ratio (MMR)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7.71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92.29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0.00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25268906"/>
                  </a:ext>
                </a:extLst>
              </a:tr>
              <a:tr h="34924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Infant Mortality Rate (IMR)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16.68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43.95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39.37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24606176"/>
                  </a:ext>
                </a:extLst>
              </a:tr>
              <a:tr h="56761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Universal Health Coverage (UHC_SCI)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17.98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82.02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0.00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22249043"/>
                  </a:ext>
                </a:extLst>
              </a:tr>
              <a:tr h="36267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Averages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 dirty="0">
                          <a:effectLst/>
                        </a:rPr>
                        <a:t>14.03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effectLst/>
                        </a:rPr>
                        <a:t>67.08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 dirty="0">
                          <a:effectLst/>
                        </a:rPr>
                        <a:t>18.89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40980463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9237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DECEA-1386-0C0D-C33B-FEDABAE34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B8E8A-B1E7-612C-025A-87DB56F0E9C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66800" y="204787"/>
            <a:ext cx="10058400" cy="912813"/>
          </a:xfrm>
        </p:spPr>
        <p:txBody>
          <a:bodyPr>
            <a:noAutofit/>
          </a:bodyPr>
          <a:lstStyle/>
          <a:p>
            <a:r>
              <a:rPr lang="en-US" sz="3500" b="1" dirty="0">
                <a:solidFill>
                  <a:schemeClr val="accent2"/>
                </a:solidFill>
              </a:rPr>
              <a:t>Effect of 67% Government Expenditure on Health</a:t>
            </a:r>
            <a:endParaRPr lang="en-US" sz="3500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85570-D9A8-4E39-404C-AA28BF388CD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066800" y="1117600"/>
            <a:ext cx="10058400" cy="5267158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 Table 3 shows the effect of investing more than 67% of CHE.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 Average health outcomes of countries recording 67% of CHE or more were compared to those recording less than 67% of CHE towards their GGHED.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2400" dirty="0"/>
          </a:p>
          <a:p>
            <a:pPr>
              <a:buFont typeface="Wingdings" panose="05000000000000000000" pitchFamily="2" charset="2"/>
              <a:buChar char="q"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Table 3 results show that for governments investing in &gt;=67% of CHE, their:</a:t>
            </a:r>
          </a:p>
          <a:p>
            <a:pPr lvl="7">
              <a:buFont typeface="Wingdings" panose="05000000000000000000" pitchFamily="2" charset="2"/>
              <a:buChar char="ü"/>
            </a:pPr>
            <a:r>
              <a:rPr lang="en-US" sz="1900" dirty="0"/>
              <a:t> Universal Health Service coverage index is higher by 26%.</a:t>
            </a:r>
          </a:p>
          <a:p>
            <a:pPr lvl="7">
              <a:buFont typeface="Wingdings" panose="05000000000000000000" pitchFamily="2" charset="2"/>
              <a:buChar char="ü"/>
            </a:pPr>
            <a:r>
              <a:rPr lang="en-US" sz="1900" dirty="0"/>
              <a:t>Life expectancy is higher by 12.5 years.</a:t>
            </a:r>
          </a:p>
          <a:p>
            <a:pPr lvl="7">
              <a:buFont typeface="Wingdings" panose="05000000000000000000" pitchFamily="2" charset="2"/>
              <a:buChar char="ü"/>
            </a:pPr>
            <a:r>
              <a:rPr lang="en-US" sz="1900" dirty="0"/>
              <a:t>Maternal mortality ratios decrease by 414.5 deaths per 100,000 live births</a:t>
            </a:r>
          </a:p>
          <a:p>
            <a:pPr lvl="7">
              <a:buFont typeface="Wingdings" panose="05000000000000000000" pitchFamily="2" charset="2"/>
              <a:buChar char="ü"/>
            </a:pPr>
            <a:r>
              <a:rPr lang="en-US" sz="1900" dirty="0"/>
              <a:t>Infant Mortality ratios decrease by 34 deaths per 1,000 live births</a:t>
            </a:r>
          </a:p>
          <a:p>
            <a:pPr marL="0" indent="0">
              <a:buNone/>
            </a:pPr>
            <a:endParaRPr lang="en-US" sz="24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F9031FB-7EC3-AC40-7F75-9D7010AC5F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3676653"/>
              </p:ext>
            </p:extLst>
          </p:nvPr>
        </p:nvGraphicFramePr>
        <p:xfrm>
          <a:off x="1311604" y="2390775"/>
          <a:ext cx="9149692" cy="202882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86255">
                  <a:extLst>
                    <a:ext uri="{9D8B030D-6E8A-4147-A177-3AD203B41FA5}">
                      <a16:colId xmlns:a16="http://schemas.microsoft.com/office/drawing/2014/main" val="3441026507"/>
                    </a:ext>
                  </a:extLst>
                </a:gridCol>
                <a:gridCol w="1716925">
                  <a:extLst>
                    <a:ext uri="{9D8B030D-6E8A-4147-A177-3AD203B41FA5}">
                      <a16:colId xmlns:a16="http://schemas.microsoft.com/office/drawing/2014/main" val="2068053279"/>
                    </a:ext>
                  </a:extLst>
                </a:gridCol>
                <a:gridCol w="1673459">
                  <a:extLst>
                    <a:ext uri="{9D8B030D-6E8A-4147-A177-3AD203B41FA5}">
                      <a16:colId xmlns:a16="http://schemas.microsoft.com/office/drawing/2014/main" val="3210397516"/>
                    </a:ext>
                  </a:extLst>
                </a:gridCol>
                <a:gridCol w="1651726">
                  <a:extLst>
                    <a:ext uri="{9D8B030D-6E8A-4147-A177-3AD203B41FA5}">
                      <a16:colId xmlns:a16="http://schemas.microsoft.com/office/drawing/2014/main" val="3402180604"/>
                    </a:ext>
                  </a:extLst>
                </a:gridCol>
                <a:gridCol w="1521327">
                  <a:extLst>
                    <a:ext uri="{9D8B030D-6E8A-4147-A177-3AD203B41FA5}">
                      <a16:colId xmlns:a16="http://schemas.microsoft.com/office/drawing/2014/main" val="3792032770"/>
                    </a:ext>
                  </a:extLst>
                </a:gridCol>
              </a:tblGrid>
              <a:tr h="477371">
                <a:tc gridSpan="5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0" dirty="0">
                          <a:effectLst/>
                        </a:rPr>
                        <a:t>Table 3: Impact of Government Health Expenditure on Health Outcomes</a:t>
                      </a:r>
                      <a:endParaRPr lang="en-US" sz="15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4234233"/>
                  </a:ext>
                </a:extLst>
              </a:tr>
              <a:tr h="51715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>
                          <a:effectLst/>
                        </a:rPr>
                        <a:t>Key Health Variable</a:t>
                      </a:r>
                      <a:endParaRPr lang="en-US" sz="14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>
                          <a:effectLst/>
                        </a:rPr>
                        <a:t>SCI_UHC</a:t>
                      </a:r>
                      <a:endParaRPr lang="en-US" sz="14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>
                          <a:effectLst/>
                        </a:rPr>
                        <a:t>LE</a:t>
                      </a:r>
                      <a:endParaRPr lang="en-US" sz="14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 dirty="0">
                          <a:effectLst/>
                        </a:rPr>
                        <a:t>MMR</a:t>
                      </a:r>
                      <a:endParaRPr lang="en-US" sz="14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 dirty="0">
                          <a:effectLst/>
                        </a:rPr>
                        <a:t>IMR</a:t>
                      </a:r>
                      <a:endParaRPr lang="en-US" sz="14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52218841"/>
                  </a:ext>
                </a:extLst>
              </a:tr>
              <a:tr h="51715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effectLst/>
                        </a:rPr>
                        <a:t>GGHED&lt;=67% of CHE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effectLst/>
                        </a:rPr>
                        <a:t>39.3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</a:rPr>
                        <a:t>59.3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</a:rPr>
                        <a:t>496.0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effectLst/>
                        </a:rPr>
                        <a:t>58.0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63126636"/>
                  </a:ext>
                </a:extLst>
              </a:tr>
              <a:tr h="51715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</a:rPr>
                        <a:t>GGHED&gt;67% of CHE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effectLst/>
                        </a:rPr>
                        <a:t>65.3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effectLst/>
                        </a:rPr>
                        <a:t>71.8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effectLst/>
                        </a:rPr>
                        <a:t>81.5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effectLst/>
                        </a:rPr>
                        <a:t>24.0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733055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80222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6AC5B-8990-C2BD-8766-8EFA2D6A7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3F26C-ECCD-0660-6CBB-9065FB5BD5C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2950" y="474662"/>
            <a:ext cx="10058400" cy="912813"/>
          </a:xfrm>
        </p:spPr>
        <p:txBody>
          <a:bodyPr>
            <a:noAutofit/>
          </a:bodyPr>
          <a:lstStyle/>
          <a:p>
            <a:r>
              <a:rPr lang="en-US" sz="3500" b="1" dirty="0">
                <a:solidFill>
                  <a:schemeClr val="accent2"/>
                </a:solidFill>
              </a:rPr>
              <a:t>Effect of  Key HWF Cadres on Key Health Outcomes</a:t>
            </a:r>
            <a:endParaRPr lang="en-US" sz="3500" dirty="0">
              <a:solidFill>
                <a:schemeClr val="accent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84125A-40BC-241E-FDAA-BE43348EDF0B}"/>
                  </a:ext>
                </a:extLst>
              </p:cNvPr>
              <p:cNvSpPr>
                <a:spLocks noGrp="1"/>
              </p:cNvSpPr>
              <p:nvPr>
                <p:ph idx="4294967295"/>
              </p:nvPr>
            </p:nvSpPr>
            <p:spPr>
              <a:xfrm>
                <a:off x="742950" y="1387475"/>
                <a:ext cx="10058400" cy="3433762"/>
              </a:xfrm>
            </p:spPr>
            <p:txBody>
              <a:bodyPr>
                <a:noAutofit/>
              </a:bodyPr>
              <a:lstStyle/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en-US" sz="2400" dirty="0"/>
                  <a:t> Health workforce (HWF) density refers to the number of health care professionals, such as doctors, nurses, midwives, pharmacists, dentists, etc., available per unit of population (measured per 10,000 population).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sz="2400" dirty="0"/>
                  <a:t> The HWF cadres were assumed to be non-linearly correlated with LE, UHC_SCI, MMR, and IMR.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sz="2400" dirty="0"/>
                  <a:t> A generalized additive regression model (</a:t>
                </a:r>
                <a:r>
                  <a:rPr lang="en-US" sz="2400" dirty="0" err="1"/>
                  <a:t>eqn</a:t>
                </a:r>
                <a:r>
                  <a:rPr lang="en-US" sz="2400" dirty="0"/>
                  <a:t> 2) was first fitted for each of the four key health outcomes (KHO): LE, MMR, IMR, and UHC_SCI.</a:t>
                </a:r>
              </a:p>
              <a:p>
                <a:pPr marL="0" indent="0" algn="ctr">
                  <a:buNone/>
                </a:pPr>
                <a:r>
                  <a:rPr lang="en-US" sz="2400" dirty="0"/>
                  <a:t>g(E[KHO])=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(</a:t>
                </a:r>
                <a:r>
                  <a:rPr lang="en-US" sz="2400" dirty="0" err="1"/>
                  <a:t>Workforce_Cadre</a:t>
                </a:r>
                <a:r>
                  <a:rPr lang="en-US" sz="2400" dirty="0"/>
                  <a:t>)+e                       (2)</a:t>
                </a:r>
              </a:p>
              <a:p>
                <a:pPr marL="0" indent="0">
                  <a:buNone/>
                </a:pPr>
                <a:r>
                  <a:rPr lang="en-US" sz="2400" dirty="0"/>
                  <a:t>where g(.) is a link function,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(.)</m:t>
                    </m:r>
                  </m:oMath>
                </a14:m>
                <a:r>
                  <a:rPr lang="en-US" sz="2400" dirty="0"/>
                  <a:t> is a smooth function, e is the error term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84125A-40BC-241E-FDAA-BE43348EDF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742950" y="1387475"/>
                <a:ext cx="10058400" cy="3433762"/>
              </a:xfrm>
              <a:blipFill>
                <a:blip r:embed="rId2"/>
                <a:stretch>
                  <a:fillRect l="-1879" t="-2487" r="-1818" b="-140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99377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DBE3B-CA20-BDB9-7124-AFE8FD1C0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F2993-147D-A244-9562-54389D8CF3A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66800" y="16835"/>
            <a:ext cx="10058400" cy="912813"/>
          </a:xfrm>
        </p:spPr>
        <p:txBody>
          <a:bodyPr>
            <a:noAutofit/>
          </a:bodyPr>
          <a:lstStyle/>
          <a:p>
            <a:r>
              <a:rPr lang="en-US" sz="3500" b="1" dirty="0">
                <a:solidFill>
                  <a:schemeClr val="accent2"/>
                </a:solidFill>
              </a:rPr>
              <a:t>Optimal Health Workforce Density Level Results</a:t>
            </a:r>
            <a:endParaRPr lang="en-US" sz="3500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1FEC5-0581-ECFF-806D-E4D3820CDE9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066800" y="929649"/>
            <a:ext cx="10058400" cy="545511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 Table 4 below show the optimal allocation of CHE funding that improves the different health outcomes.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2400" dirty="0"/>
          </a:p>
          <a:p>
            <a:pPr>
              <a:buFont typeface="Wingdings" panose="05000000000000000000" pitchFamily="2" charset="2"/>
              <a:buChar char="q"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endParaRPr lang="en-US" sz="24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 To obtain improved health outcomes, countries need (22-32) doctors, (46-61) nurses and midwives, (3-4) dentists, and (8-11) pharmacists per 10,000 population.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 Leading to a total of around  78-89 key health workers across the 5 cadres.</a:t>
            </a:r>
          </a:p>
          <a:p>
            <a:pPr marL="0" indent="0">
              <a:buNone/>
            </a:pPr>
            <a:endParaRPr lang="en-US" sz="24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4ECFFE7-B020-E57B-D483-A58266C480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5831258"/>
              </p:ext>
            </p:extLst>
          </p:nvPr>
        </p:nvGraphicFramePr>
        <p:xfrm>
          <a:off x="1666875" y="1695450"/>
          <a:ext cx="8458200" cy="300989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43298">
                  <a:extLst>
                    <a:ext uri="{9D8B030D-6E8A-4147-A177-3AD203B41FA5}">
                      <a16:colId xmlns:a16="http://schemas.microsoft.com/office/drawing/2014/main" val="1044401877"/>
                    </a:ext>
                  </a:extLst>
                </a:gridCol>
                <a:gridCol w="1688967">
                  <a:extLst>
                    <a:ext uri="{9D8B030D-6E8A-4147-A177-3AD203B41FA5}">
                      <a16:colId xmlns:a16="http://schemas.microsoft.com/office/drawing/2014/main" val="379974039"/>
                    </a:ext>
                  </a:extLst>
                </a:gridCol>
                <a:gridCol w="1064078">
                  <a:extLst>
                    <a:ext uri="{9D8B030D-6E8A-4147-A177-3AD203B41FA5}">
                      <a16:colId xmlns:a16="http://schemas.microsoft.com/office/drawing/2014/main" val="3107014836"/>
                    </a:ext>
                  </a:extLst>
                </a:gridCol>
                <a:gridCol w="1483179">
                  <a:extLst>
                    <a:ext uri="{9D8B030D-6E8A-4147-A177-3AD203B41FA5}">
                      <a16:colId xmlns:a16="http://schemas.microsoft.com/office/drawing/2014/main" val="3733467339"/>
                    </a:ext>
                  </a:extLst>
                </a:gridCol>
                <a:gridCol w="1298122">
                  <a:extLst>
                    <a:ext uri="{9D8B030D-6E8A-4147-A177-3AD203B41FA5}">
                      <a16:colId xmlns:a16="http://schemas.microsoft.com/office/drawing/2014/main" val="1570430429"/>
                    </a:ext>
                  </a:extLst>
                </a:gridCol>
                <a:gridCol w="1121228">
                  <a:extLst>
                    <a:ext uri="{9D8B030D-6E8A-4147-A177-3AD203B41FA5}">
                      <a16:colId xmlns:a16="http://schemas.microsoft.com/office/drawing/2014/main" val="751153811"/>
                    </a:ext>
                  </a:extLst>
                </a:gridCol>
                <a:gridCol w="1159328">
                  <a:extLst>
                    <a:ext uri="{9D8B030D-6E8A-4147-A177-3AD203B41FA5}">
                      <a16:colId xmlns:a16="http://schemas.microsoft.com/office/drawing/2014/main" val="337347821"/>
                    </a:ext>
                  </a:extLst>
                </a:gridCol>
              </a:tblGrid>
              <a:tr h="42545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 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54" marR="51854" marT="0" marB="0"/>
                </a:tc>
                <a:tc gridSpan="6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Table 4:  Optimal Health Workforce Density Thresholds per 10,000 population Required for Key Health Outcomes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54" marR="51854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171913"/>
                  </a:ext>
                </a:extLst>
              </a:tr>
              <a:tr h="459806"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</a:rPr>
                        <a:t>Key Health Variable </a:t>
                      </a:r>
                      <a:endParaRPr lang="en-US" sz="12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54" marR="51854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effectLst/>
                        </a:rPr>
                        <a:t>Doctors</a:t>
                      </a:r>
                      <a:endParaRPr lang="en-US" sz="12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54" marR="5185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effectLst/>
                        </a:rPr>
                        <a:t>Nurses &amp; Midwives</a:t>
                      </a:r>
                      <a:endParaRPr lang="en-US" sz="12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54" marR="5185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</a:rPr>
                        <a:t>Dentists</a:t>
                      </a:r>
                      <a:endParaRPr lang="en-US" sz="12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54" marR="5185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</a:rPr>
                        <a:t>Pharmacists</a:t>
                      </a:r>
                      <a:endParaRPr lang="en-US" sz="12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54" marR="5185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effectLst/>
                        </a:rPr>
                        <a:t>Total </a:t>
                      </a:r>
                      <a:endParaRPr lang="en-US" sz="12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54" marR="51854" marT="0" marB="0" anchor="ctr"/>
                </a:tc>
                <a:extLst>
                  <a:ext uri="{0D108BD9-81ED-4DB2-BD59-A6C34878D82A}">
                    <a16:rowId xmlns:a16="http://schemas.microsoft.com/office/drawing/2014/main" val="707638025"/>
                  </a:ext>
                </a:extLst>
              </a:tr>
              <a:tr h="418368"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Life Expectancy (LE)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54" marR="51854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30.52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54" marR="5185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29.25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54" marR="5185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2.57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54" marR="5185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5.15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54" marR="5185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67.49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54" marR="51854" marT="0" marB="0" anchor="ctr"/>
                </a:tc>
                <a:extLst>
                  <a:ext uri="{0D108BD9-81ED-4DB2-BD59-A6C34878D82A}">
                    <a16:rowId xmlns:a16="http://schemas.microsoft.com/office/drawing/2014/main" val="4251109248"/>
                  </a:ext>
                </a:extLst>
              </a:tr>
              <a:tr h="510880"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Maternal Mortality Ratio (MMR)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54" marR="51854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11.96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54" marR="5185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60.91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54" marR="5185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2.17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54" marR="5185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10.08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54" marR="5185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85.12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54" marR="51854" marT="0" marB="0" anchor="ctr"/>
                </a:tc>
                <a:extLst>
                  <a:ext uri="{0D108BD9-81ED-4DB2-BD59-A6C34878D82A}">
                    <a16:rowId xmlns:a16="http://schemas.microsoft.com/office/drawing/2014/main" val="2789962363"/>
                  </a:ext>
                </a:extLst>
              </a:tr>
              <a:tr h="387565"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Infant Mortality Rate (IMR)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54" marR="51854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31.61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54" marR="5185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46.35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54" marR="5185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2.85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54" marR="5185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7.96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54" marR="5185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88.77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54" marR="51854" marT="0" marB="0" anchor="ctr"/>
                </a:tc>
                <a:extLst>
                  <a:ext uri="{0D108BD9-81ED-4DB2-BD59-A6C34878D82A}">
                    <a16:rowId xmlns:a16="http://schemas.microsoft.com/office/drawing/2014/main" val="178219346"/>
                  </a:ext>
                </a:extLst>
              </a:tr>
              <a:tr h="581346"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Universal Health Coverage (UHC_SCI)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54" marR="51854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12.69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54" marR="5185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47.44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54" marR="5185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3.16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54" marR="5185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7.88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54" marR="5185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71.17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54" marR="51854" marT="0" marB="0" anchor="ctr"/>
                </a:tc>
                <a:extLst>
                  <a:ext uri="{0D108BD9-81ED-4DB2-BD59-A6C34878D82A}">
                    <a16:rowId xmlns:a16="http://schemas.microsoft.com/office/drawing/2014/main" val="2680710625"/>
                  </a:ext>
                </a:extLst>
              </a:tr>
              <a:tr h="226483"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Averages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54" marR="51854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21.70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54" marR="5185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45.99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54" marR="5185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2.69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54" marR="5185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7.77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54" marR="5185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78.15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54" marR="51854" marT="0" marB="0" anchor="ctr"/>
                </a:tc>
                <a:extLst>
                  <a:ext uri="{0D108BD9-81ED-4DB2-BD59-A6C34878D82A}">
                    <a16:rowId xmlns:a16="http://schemas.microsoft.com/office/drawing/2014/main" val="4254795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35801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FA6B5-651F-B4C1-2110-BC95E40C7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CCCBC-4CE0-9839-9D80-EF24CCE7934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66800" y="474662"/>
            <a:ext cx="10058400" cy="912813"/>
          </a:xfrm>
        </p:spPr>
        <p:txBody>
          <a:bodyPr>
            <a:noAutofit/>
          </a:bodyPr>
          <a:lstStyle/>
          <a:p>
            <a:r>
              <a:rPr lang="en-US" sz="3500" b="1" dirty="0">
                <a:solidFill>
                  <a:schemeClr val="accent2"/>
                </a:solidFill>
              </a:rPr>
              <a:t>Effect of Government Financing on HWF Density</a:t>
            </a:r>
            <a:endParaRPr lang="en-US" sz="3500" dirty="0">
              <a:solidFill>
                <a:schemeClr val="accent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183B75-5591-8B58-7AC5-8A0A55DC69E9}"/>
                  </a:ext>
                </a:extLst>
              </p:cNvPr>
              <p:cNvSpPr>
                <a:spLocks noGrp="1"/>
              </p:cNvSpPr>
              <p:nvPr>
                <p:ph idx="4294967295"/>
              </p:nvPr>
            </p:nvSpPr>
            <p:spPr>
              <a:xfrm>
                <a:off x="1066800" y="1387474"/>
                <a:ext cx="10058400" cy="4575175"/>
              </a:xfrm>
            </p:spPr>
            <p:txBody>
              <a:bodyPr>
                <a:noAutofit/>
              </a:bodyPr>
              <a:lstStyle/>
              <a:p>
                <a:pPr>
                  <a:buFont typeface="Wingdings" panose="05000000000000000000" pitchFamily="2" charset="2"/>
                  <a:buChar char="q"/>
                </a:pPr>
                <a:r>
                  <a:rPr lang="en-US" sz="2600" dirty="0"/>
                  <a:t> Government funding (GGHED) at different lags was assumed to have a non-linear relationship with workforce density levels.  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sz="2600" dirty="0"/>
                  <a:t> A generalized additive regression model (</a:t>
                </a:r>
                <a:r>
                  <a:rPr lang="en-US" sz="2600" dirty="0" err="1"/>
                  <a:t>eqn</a:t>
                </a:r>
                <a:r>
                  <a:rPr lang="en-US" sz="2600" dirty="0"/>
                  <a:t> 3) was fitted to the total HWF density: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𝐻𝑊𝐹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𝐺𝐺𝐻𝐸𝐷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𝑖𝑡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𝐺𝐺𝐻𝐸𝐷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−1)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𝐺𝐺𝐻𝐸𝐷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−2)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𝐺𝐺𝐻𝐸𝐷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−3)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𝐺𝐺𝐻𝐸𝐷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−4)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𝐺𝐺𝐻𝐸𝐷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−5)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)+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𝑖𝑡</m:t>
                        </m:r>
                      </m:sub>
                    </m:sSub>
                  </m:oMath>
                </a14:m>
                <a:r>
                  <a:rPr lang="en-US" dirty="0"/>
                  <a:t>                       (3)</a:t>
                </a:r>
              </a:p>
              <a:p>
                <a:pPr marL="0" indent="0">
                  <a:buNone/>
                </a:pPr>
                <a:r>
                  <a:rPr lang="en-US" sz="2600" dirty="0"/>
                  <a:t>Where: </a:t>
                </a:r>
              </a:p>
              <a:p>
                <a:pPr marL="0" indent="0" algn="ctr">
                  <a:buNone/>
                </a:pPr>
                <a:r>
                  <a:rPr lang="en-US" sz="2600" dirty="0"/>
                  <a:t>HWF=</a:t>
                </a:r>
                <a:r>
                  <a:rPr lang="en-US" sz="2600" dirty="0" err="1"/>
                  <a:t>Doctors+Nurses+Midwives+Dentists+Pharmacists</a:t>
                </a:r>
                <a:endParaRPr lang="en-US" sz="2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183B75-5591-8B58-7AC5-8A0A55DC69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1066800" y="1387474"/>
                <a:ext cx="10058400" cy="4575175"/>
              </a:xfrm>
              <a:blipFill>
                <a:blip r:embed="rId2"/>
                <a:stretch>
                  <a:fillRect l="-2000" t="-21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72332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E2ABD-8C0E-B937-5BC6-CA9042A1A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384C6-6263-89C5-35C8-421E3371981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66800" y="16835"/>
            <a:ext cx="10058400" cy="912813"/>
          </a:xfrm>
        </p:spPr>
        <p:txBody>
          <a:bodyPr>
            <a:noAutofit/>
          </a:bodyPr>
          <a:lstStyle/>
          <a:p>
            <a:r>
              <a:rPr lang="en-US" sz="3500" b="1" dirty="0">
                <a:solidFill>
                  <a:schemeClr val="accent2"/>
                </a:solidFill>
              </a:rPr>
              <a:t>Lagged GAM Model Results</a:t>
            </a:r>
            <a:endParaRPr lang="en-US" sz="3500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1FB8F-7EFD-E45A-0A30-4D644857EA9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066800" y="929649"/>
            <a:ext cx="10058400" cy="545511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 The fitted GAM model result smooth parameter estimates were as shown: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2400" dirty="0"/>
          </a:p>
          <a:p>
            <a:pPr>
              <a:buFont typeface="Wingdings" panose="05000000000000000000" pitchFamily="2" charset="2"/>
              <a:buChar char="q"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  Current and 5-year GGHED expenditures are only significant lags.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 The 5-year  GGHED lag had the most significant effect on HWF density, suggesting that health financing has a delayed effect on workforce growth through other constraints such as training, retention, etc.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 </a:t>
            </a:r>
            <a:r>
              <a:rPr lang="en-US" sz="2400" dirty="0" err="1"/>
              <a:t>edf</a:t>
            </a:r>
            <a:r>
              <a:rPr lang="en-US" sz="2400" dirty="0"/>
              <a:t>&gt;&gt;1 implying that there is a non-linear effect of GGHED on HWF, implying there might be different thresholds depicting a possibility of diminishing returns.</a:t>
            </a:r>
          </a:p>
          <a:p>
            <a:pPr marL="0" indent="0">
              <a:buNone/>
            </a:pPr>
            <a:endParaRPr lang="en-US" sz="24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6DF671F-B506-298F-5715-38EA640B07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8069879"/>
              </p:ext>
            </p:extLst>
          </p:nvPr>
        </p:nvGraphicFramePr>
        <p:xfrm>
          <a:off x="2105025" y="1333500"/>
          <a:ext cx="6848475" cy="250341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15259">
                  <a:extLst>
                    <a:ext uri="{9D8B030D-6E8A-4147-A177-3AD203B41FA5}">
                      <a16:colId xmlns:a16="http://schemas.microsoft.com/office/drawing/2014/main" val="2972440772"/>
                    </a:ext>
                  </a:extLst>
                </a:gridCol>
                <a:gridCol w="1006644">
                  <a:extLst>
                    <a:ext uri="{9D8B030D-6E8A-4147-A177-3AD203B41FA5}">
                      <a16:colId xmlns:a16="http://schemas.microsoft.com/office/drawing/2014/main" val="2307042153"/>
                    </a:ext>
                  </a:extLst>
                </a:gridCol>
                <a:gridCol w="1089154">
                  <a:extLst>
                    <a:ext uri="{9D8B030D-6E8A-4147-A177-3AD203B41FA5}">
                      <a16:colId xmlns:a16="http://schemas.microsoft.com/office/drawing/2014/main" val="3714509076"/>
                    </a:ext>
                  </a:extLst>
                </a:gridCol>
                <a:gridCol w="862706">
                  <a:extLst>
                    <a:ext uri="{9D8B030D-6E8A-4147-A177-3AD203B41FA5}">
                      <a16:colId xmlns:a16="http://schemas.microsoft.com/office/drawing/2014/main" val="2978715663"/>
                    </a:ext>
                  </a:extLst>
                </a:gridCol>
                <a:gridCol w="2074712">
                  <a:extLst>
                    <a:ext uri="{9D8B030D-6E8A-4147-A177-3AD203B41FA5}">
                      <a16:colId xmlns:a16="http://schemas.microsoft.com/office/drawing/2014/main" val="728108005"/>
                    </a:ext>
                  </a:extLst>
                </a:gridCol>
              </a:tblGrid>
              <a:tr h="399142">
                <a:tc gridSpan="5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effectLst/>
                        </a:rPr>
                        <a:t>Table 5: Lagged GAM Model Results on the effect of GGHED per capita on HWF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8530371"/>
                  </a:ext>
                </a:extLst>
              </a:tr>
              <a:tr h="30061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Variable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edf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Ref.df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F-value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pvalue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4022032350"/>
                  </a:ext>
                </a:extLst>
              </a:tr>
              <a:tr h="30061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f(GGHED_Lag0)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8.174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8.745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3.716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0.0002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471160701"/>
                  </a:ext>
                </a:extLst>
              </a:tr>
              <a:tr h="30061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f(GGHED_Lag1)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1.000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1.000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0.156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0.6930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731885143"/>
                  </a:ext>
                </a:extLst>
              </a:tr>
              <a:tr h="30061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f(GGHED_Lag2)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1.433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1.769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0.735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0.5703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198165014"/>
                  </a:ext>
                </a:extLst>
              </a:tr>
              <a:tr h="30061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f(GGHED_Lag3)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1.000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1.000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2.746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0.0989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405752576"/>
                  </a:ext>
                </a:extLst>
              </a:tr>
              <a:tr h="30061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f(GGHED_Lag4)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6.419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7.558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1.669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0.1299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624014088"/>
                  </a:ext>
                </a:extLst>
              </a:tr>
              <a:tr h="30061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f(GGHED_Lag5)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8.203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8.762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4.383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0.0000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2489763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91504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4CE26-001A-7D1C-1C21-BB261C8C2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9118D-D042-C7C4-8A05-AAF9666BF07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66800" y="474662"/>
            <a:ext cx="10408920" cy="912813"/>
          </a:xfrm>
        </p:spPr>
        <p:txBody>
          <a:bodyPr>
            <a:noAutofit/>
          </a:bodyPr>
          <a:lstStyle/>
          <a:p>
            <a:r>
              <a:rPr lang="en-US" sz="3500" b="1" dirty="0">
                <a:solidFill>
                  <a:schemeClr val="accent2"/>
                </a:solidFill>
              </a:rPr>
              <a:t>Current Govt Health Financing Thresholds on HWF Density</a:t>
            </a:r>
            <a:endParaRPr lang="en-US" sz="3500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4142E0-01E7-EF76-4E23-EA8CEDD9987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066800" y="1274128"/>
            <a:ext cx="10058400" cy="4575175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600" dirty="0"/>
              <a:t> The results of the GAM model were fitted to the threshold regression model independently for the current and 5-year lag GGHED.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2600" dirty="0"/>
          </a:p>
          <a:p>
            <a:pPr>
              <a:buFont typeface="Wingdings" panose="05000000000000000000" pitchFamily="2" charset="2"/>
              <a:buChar char="q"/>
            </a:pPr>
            <a:endParaRPr lang="en-US" sz="2600" dirty="0"/>
          </a:p>
          <a:p>
            <a:pPr>
              <a:buFont typeface="Wingdings" panose="05000000000000000000" pitchFamily="2" charset="2"/>
              <a:buChar char="q"/>
            </a:pPr>
            <a:endParaRPr lang="en-US" sz="26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600" dirty="0"/>
              <a:t> At current GGHED levels, thresholds where the sign of the derivative changes occur at $29, $87, $162, and $ 137 per capita.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600" dirty="0"/>
              <a:t> This shows that  there are alternating phases of growth and decline as spending increases.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600" dirty="0"/>
              <a:t> Implying that more current spending on health doesn’t guarantee more workforce density.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2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5A61CB-A505-66FE-E19A-CD823A97BA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00" y="2176146"/>
            <a:ext cx="5105399" cy="148145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6BA68E7-D3E2-AFC0-280F-DA684D1E20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619423"/>
              </p:ext>
            </p:extLst>
          </p:nvPr>
        </p:nvGraphicFramePr>
        <p:xfrm>
          <a:off x="1224914" y="2176144"/>
          <a:ext cx="3537585" cy="148145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94086">
                  <a:extLst>
                    <a:ext uri="{9D8B030D-6E8A-4147-A177-3AD203B41FA5}">
                      <a16:colId xmlns:a16="http://schemas.microsoft.com/office/drawing/2014/main" val="3034949738"/>
                    </a:ext>
                  </a:extLst>
                </a:gridCol>
                <a:gridCol w="1543499">
                  <a:extLst>
                    <a:ext uri="{9D8B030D-6E8A-4147-A177-3AD203B41FA5}">
                      <a16:colId xmlns:a16="http://schemas.microsoft.com/office/drawing/2014/main" val="2475242386"/>
                    </a:ext>
                  </a:extLst>
                </a:gridCol>
              </a:tblGrid>
              <a:tr h="246909">
                <a:tc gridSpan="2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effectLst/>
                        </a:rPr>
                        <a:t>Table 6: GGHED Threshold on HWF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270513"/>
                  </a:ext>
                </a:extLst>
              </a:tr>
              <a:tr h="24690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GGHED per capita, $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Derivative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59537725"/>
                  </a:ext>
                </a:extLst>
              </a:tr>
              <a:tr h="24690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29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0.0211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435281896"/>
                  </a:ext>
                </a:extLst>
              </a:tr>
              <a:tr h="24690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87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-0.0144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292336446"/>
                  </a:ext>
                </a:extLst>
              </a:tr>
              <a:tr h="24690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162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0.0106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284209722"/>
                  </a:ext>
                </a:extLst>
              </a:tr>
              <a:tr h="24690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337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-0.0226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050323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93966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D521D-194F-874F-48CA-A64E178F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0C9B6-BEF1-B122-0CAE-EC3DD7370A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14400" y="474662"/>
            <a:ext cx="11109960" cy="912813"/>
          </a:xfrm>
        </p:spPr>
        <p:txBody>
          <a:bodyPr>
            <a:noAutofit/>
          </a:bodyPr>
          <a:lstStyle/>
          <a:p>
            <a:r>
              <a:rPr lang="en-US" sz="3450" b="1" dirty="0">
                <a:solidFill>
                  <a:schemeClr val="accent2"/>
                </a:solidFill>
              </a:rPr>
              <a:t>5- Year Lagged Govt Health Financing Thresholds on HWF Density</a:t>
            </a:r>
            <a:endParaRPr lang="en-US" sz="3450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2ED02-5C71-B2A9-6CA6-0B2E93713C0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066800" y="1274128"/>
            <a:ext cx="10058400" cy="4974272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600" dirty="0"/>
          </a:p>
          <a:p>
            <a:pPr>
              <a:buFont typeface="Wingdings" panose="05000000000000000000" pitchFamily="2" charset="2"/>
              <a:buChar char="q"/>
            </a:pPr>
            <a:endParaRPr lang="en-US" sz="2600" dirty="0"/>
          </a:p>
          <a:p>
            <a:pPr>
              <a:buFont typeface="Wingdings" panose="05000000000000000000" pitchFamily="2" charset="2"/>
              <a:buChar char="q"/>
            </a:pPr>
            <a:endParaRPr lang="en-US" sz="2600" dirty="0"/>
          </a:p>
          <a:p>
            <a:pPr marL="0" indent="0">
              <a:buNone/>
            </a:pPr>
            <a:endParaRPr lang="en-US" sz="26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600" dirty="0"/>
              <a:t>The 5-Year GGHED lagged levels thresholds where the sign of the derivative changes occur at $81, $129, $174, $214 and $300 per capita.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600" dirty="0"/>
              <a:t> This shows that  even with delayed effect, there are still alternating phases of growth and decline as spending increases.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600" dirty="0"/>
              <a:t> Implying that more current spending on health doesn’t guarantee more workforce density 5 years into the future unless efficiency and optimal allocation levels are maintained.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26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9A03BAA-6DE3-A0E7-0544-EBDFAFA075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6248527"/>
              </p:ext>
            </p:extLst>
          </p:nvPr>
        </p:nvGraphicFramePr>
        <p:xfrm>
          <a:off x="1310640" y="1445260"/>
          <a:ext cx="4053840" cy="186201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64740">
                  <a:extLst>
                    <a:ext uri="{9D8B030D-6E8A-4147-A177-3AD203B41FA5}">
                      <a16:colId xmlns:a16="http://schemas.microsoft.com/office/drawing/2014/main" val="302006321"/>
                    </a:ext>
                  </a:extLst>
                </a:gridCol>
                <a:gridCol w="166658">
                  <a:extLst>
                    <a:ext uri="{9D8B030D-6E8A-4147-A177-3AD203B41FA5}">
                      <a16:colId xmlns:a16="http://schemas.microsoft.com/office/drawing/2014/main" val="4259972034"/>
                    </a:ext>
                  </a:extLst>
                </a:gridCol>
                <a:gridCol w="1522442">
                  <a:extLst>
                    <a:ext uri="{9D8B030D-6E8A-4147-A177-3AD203B41FA5}">
                      <a16:colId xmlns:a16="http://schemas.microsoft.com/office/drawing/2014/main" val="1128959057"/>
                    </a:ext>
                  </a:extLst>
                </a:gridCol>
              </a:tblGrid>
              <a:tr h="446536">
                <a:tc gridSpan="2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effectLst/>
                        </a:rPr>
                        <a:t>Table 7: Five-Year Lagged GGHED Threshold on HWF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 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20462972"/>
                  </a:ext>
                </a:extLst>
              </a:tr>
              <a:tr h="22728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</a:rPr>
                        <a:t>GGHED per capita, $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</a:rPr>
                        <a:t>Derivative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661287"/>
                  </a:ext>
                </a:extLst>
              </a:tr>
              <a:tr h="2181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</a:rPr>
                        <a:t>81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effectLst/>
                        </a:rPr>
                        <a:t>0.0117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436751"/>
                  </a:ext>
                </a:extLst>
              </a:tr>
              <a:tr h="2181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</a:rPr>
                        <a:t>129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effectLst/>
                        </a:rPr>
                        <a:t>-0.0005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83517"/>
                  </a:ext>
                </a:extLst>
              </a:tr>
              <a:tr h="2181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</a:rPr>
                        <a:t>174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effectLst/>
                        </a:rPr>
                        <a:t>0.0066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1930859"/>
                  </a:ext>
                </a:extLst>
              </a:tr>
              <a:tr h="2181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</a:rPr>
                        <a:t>214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effectLst/>
                        </a:rPr>
                        <a:t>-0.0167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7136591"/>
                  </a:ext>
                </a:extLst>
              </a:tr>
              <a:tr h="22728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effectLst/>
                        </a:rPr>
                        <a:t>300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effectLst/>
                        </a:rPr>
                        <a:t>0.0107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7436649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257E7608-4282-C13A-B8B8-357E5A6C9F2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8320" y="1445260"/>
            <a:ext cx="5516880" cy="19837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06271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8E7A3-2929-6BA4-D7C5-1C1AA4114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A0EEF-6945-FEAB-80AE-E01F24938B9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66800" y="-17462"/>
            <a:ext cx="10058400" cy="912813"/>
          </a:xfrm>
        </p:spPr>
        <p:txBody>
          <a:bodyPr>
            <a:noAutofit/>
          </a:bodyPr>
          <a:lstStyle/>
          <a:p>
            <a:r>
              <a:rPr lang="en-US" sz="3500" b="1" dirty="0">
                <a:solidFill>
                  <a:schemeClr val="accent2"/>
                </a:solidFill>
              </a:rPr>
              <a:t>Health Workforce Elasticity vs Government Financing</a:t>
            </a:r>
            <a:endParaRPr lang="en-US" sz="3500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BBA16-0FCE-4C69-FDE2-8DB80887A24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066800" y="895352"/>
            <a:ext cx="10881360" cy="5238748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600" dirty="0"/>
              <a:t> The threshold regression model results were subjected to elasticity analysis.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600" dirty="0"/>
              <a:t> Elasticity measures the % change HWF gets for a % increase in GGHED.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2600" dirty="0"/>
          </a:p>
          <a:p>
            <a:pPr>
              <a:buFont typeface="Wingdings" panose="05000000000000000000" pitchFamily="2" charset="2"/>
              <a:buChar char="q"/>
            </a:pPr>
            <a:endParaRPr lang="en-US" sz="2600" dirty="0"/>
          </a:p>
          <a:p>
            <a:pPr>
              <a:buFont typeface="Wingdings" panose="05000000000000000000" pitchFamily="2" charset="2"/>
              <a:buChar char="q"/>
            </a:pPr>
            <a:endParaRPr lang="en-US" sz="26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600" dirty="0"/>
              <a:t>HWF density non-linearly increase with GGHED.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600" dirty="0"/>
              <a:t> HWF  elasticity levels increase and decrease at different levels of GGHED</a:t>
            </a:r>
            <a:r>
              <a:rPr lang="en-US" dirty="0"/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sz="2600" dirty="0"/>
              <a:t>Optimal GGHED levels per capita recorded at $40.75, $186.83, and $438.41, responding 21.12, 43.46, and 72.88 health workers (doctors, nurses, midwives, pharmacists and dentists), respectively, per 10,000 population.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600" dirty="0"/>
              <a:t> To achieve the recommended </a:t>
            </a:r>
            <a:r>
              <a:rPr lang="en-US" sz="2600"/>
              <a:t>78.16 HWF, </a:t>
            </a:r>
            <a:r>
              <a:rPr lang="en-US" sz="2600" dirty="0"/>
              <a:t>invest $449.23 GGHED per capita.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2600" dirty="0"/>
          </a:p>
          <a:p>
            <a:pPr>
              <a:buFont typeface="Wingdings" panose="05000000000000000000" pitchFamily="2" charset="2"/>
              <a:buChar char="q"/>
            </a:pPr>
            <a:endParaRPr lang="en-US" sz="2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A605D1-FAE0-3653-C8A6-D5CCC1B916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5885" y="1792605"/>
            <a:ext cx="8915400" cy="17316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2541877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9120</TotalTime>
  <Words>1832</Words>
  <Application>Microsoft Office PowerPoint</Application>
  <PresentationFormat>Widescreen</PresentationFormat>
  <Paragraphs>290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Times New Roman</vt:lpstr>
      <vt:lpstr>Wingdings</vt:lpstr>
      <vt:lpstr>Retrospect</vt:lpstr>
      <vt:lpstr>INVESTING IN HEALTH SYSTEMS:  Insights into How Health Financing Shapes Workforce Density, UHC Service Coverage, and Key Health Outcomes.  A WHO African Regional Perspective </vt:lpstr>
      <vt:lpstr>Background</vt:lpstr>
      <vt:lpstr>Effect of CHE components on Key Health Outcomes</vt:lpstr>
      <vt:lpstr>Effect of CHE components on Key Health Outcomes and Service Coverage Index contd…</vt:lpstr>
      <vt:lpstr>Optimal Allocation of CHE Components</vt:lpstr>
      <vt:lpstr>CHE Components Optimal Level Results</vt:lpstr>
      <vt:lpstr>Effect of 67% Government Expenditure on Health</vt:lpstr>
      <vt:lpstr>Effect of  Key HWF Cadres on Key Health Outcomes</vt:lpstr>
      <vt:lpstr>Optimal Health Workforce Density Level Results</vt:lpstr>
      <vt:lpstr>Effect of Government Financing on HWF Density</vt:lpstr>
      <vt:lpstr>Lagged GAM Model Results</vt:lpstr>
      <vt:lpstr>Current Govt Health Financing Thresholds on HWF Density</vt:lpstr>
      <vt:lpstr>5- Year Lagged Govt Health Financing Thresholds on HWF Density</vt:lpstr>
      <vt:lpstr>Health Workforce Elasticity vs Government Financing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Charity Wamwea</dc:creator>
  <cp:lastModifiedBy>Charity Wamwea</cp:lastModifiedBy>
  <cp:revision>18</cp:revision>
  <dcterms:created xsi:type="dcterms:W3CDTF">2026-03-03T13:44:27Z</dcterms:created>
  <dcterms:modified xsi:type="dcterms:W3CDTF">2026-04-30T12:52:27Z</dcterms:modified>
</cp:coreProperties>
</file>
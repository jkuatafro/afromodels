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9" r:id="rId4"/>
    <p:sldId id="260" r:id="rId5"/>
    <p:sldId id="264" r:id="rId6"/>
    <p:sldId id="265" r:id="rId7"/>
    <p:sldId id="266" r:id="rId8"/>
    <p:sldId id="26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0" autoAdjust="0"/>
    <p:restoredTop sz="94660"/>
  </p:normalViewPr>
  <p:slideViewPr>
    <p:cSldViewPr snapToGrid="0">
      <p:cViewPr varScale="1">
        <p:scale>
          <a:sx n="78" d="100"/>
          <a:sy n="78" d="100"/>
        </p:scale>
        <p:origin x="21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24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532974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177988-1040-4D94-A1A4-72818F46F5F5}"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600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177988-1040-4D94-A1A4-72818F46F5F5}"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872036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177988-1040-4D94-A1A4-72818F46F5F5}"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848264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177988-1040-4D94-A1A4-72818F46F5F5}"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520603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1177988-1040-4D94-A1A4-72818F46F5F5}" type="datetimeFigureOut">
              <a:rPr lang="en-US" smtClean="0"/>
              <a:t>3/11/2026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3626768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1177988-1040-4D94-A1A4-72818F46F5F5}" type="datetimeFigureOut">
              <a:rPr lang="en-US" smtClean="0"/>
              <a:t>3/11/2026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7F26C80-AA2B-46C7-AD5A-BB8F5C90DEBB}" type="slidenum">
              <a:rPr lang="en-US" smtClean="0"/>
              <a:t>‹#›</a:t>
            </a:fld>
            <a:endParaRPr lang="en-US"/>
          </a:p>
        </p:txBody>
      </p:sp>
    </p:spTree>
    <p:extLst>
      <p:ext uri="{BB962C8B-B14F-4D97-AF65-F5344CB8AC3E}">
        <p14:creationId xmlns:p14="http://schemas.microsoft.com/office/powerpoint/2010/main" val="1762403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177988-1040-4D94-A1A4-72818F46F5F5}"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943211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077567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1614612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1177988-1040-4D94-A1A4-72818F46F5F5}" type="datetimeFigureOut">
              <a:rPr lang="en-US" smtClean="0"/>
              <a:t>3/11/2026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7F26C80-AA2B-46C7-AD5A-BB8F5C90DEB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6726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DAA6C-7CB4-DCF7-1F35-5032815FEA49}"/>
              </a:ext>
            </a:extLst>
          </p:cNvPr>
          <p:cNvSpPr>
            <a:spLocks noGrp="1"/>
          </p:cNvSpPr>
          <p:nvPr>
            <p:ph type="ctrTitle" idx="4294967295"/>
          </p:nvPr>
        </p:nvSpPr>
        <p:spPr>
          <a:xfrm>
            <a:off x="1139031" y="2663979"/>
            <a:ext cx="9913937" cy="2387600"/>
          </a:xfrm>
        </p:spPr>
        <p:txBody>
          <a:bodyPr>
            <a:normAutofit fontScale="90000"/>
          </a:bodyPr>
          <a:lstStyle/>
          <a:p>
            <a:r>
              <a:rPr lang="en-US" sz="6700" b="1" dirty="0">
                <a:solidFill>
                  <a:schemeClr val="accent2"/>
                </a:solidFill>
              </a:rPr>
              <a:t>Investing in Health Systems: </a:t>
            </a:r>
            <a:br>
              <a:rPr lang="en-US" sz="6700" b="1" dirty="0">
                <a:solidFill>
                  <a:schemeClr val="accent2"/>
                </a:solidFill>
              </a:rPr>
            </a:br>
            <a:br>
              <a:rPr lang="en-US" sz="6700" b="1" dirty="0">
                <a:solidFill>
                  <a:schemeClr val="accent2"/>
                </a:solidFill>
              </a:rPr>
            </a:br>
            <a:r>
              <a:rPr lang="en-US" sz="5000" b="1" dirty="0"/>
              <a:t>Insights into how Current Health Financing Allocations Shape UHC Service Coverage and Key Health Outcomes</a:t>
            </a:r>
            <a:br>
              <a:rPr lang="en-US" sz="5000" b="1" dirty="0"/>
            </a:br>
            <a:endParaRPr lang="en-US" sz="5000" b="1" dirty="0"/>
          </a:p>
        </p:txBody>
      </p:sp>
    </p:spTree>
    <p:extLst>
      <p:ext uri="{BB962C8B-B14F-4D97-AF65-F5344CB8AC3E}">
        <p14:creationId xmlns:p14="http://schemas.microsoft.com/office/powerpoint/2010/main" val="3074044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02D2-C9B1-BA7B-E8BE-D3AF45095775}"/>
              </a:ext>
            </a:extLst>
          </p:cNvPr>
          <p:cNvSpPr>
            <a:spLocks noGrp="1"/>
          </p:cNvSpPr>
          <p:nvPr>
            <p:ph type="title" idx="4294967295"/>
          </p:nvPr>
        </p:nvSpPr>
        <p:spPr>
          <a:xfrm>
            <a:off x="875071" y="560386"/>
            <a:ext cx="7030065" cy="857251"/>
          </a:xfrm>
        </p:spPr>
        <p:txBody>
          <a:bodyPr/>
          <a:lstStyle/>
          <a:p>
            <a:r>
              <a:rPr lang="en-US" b="1" dirty="0">
                <a:solidFill>
                  <a:schemeClr val="accent2"/>
                </a:solidFill>
              </a:rPr>
              <a:t>Background</a:t>
            </a:r>
          </a:p>
        </p:txBody>
      </p:sp>
      <p:sp>
        <p:nvSpPr>
          <p:cNvPr id="3" name="Content Placeholder 2">
            <a:extLst>
              <a:ext uri="{FF2B5EF4-FFF2-40B4-BE49-F238E27FC236}">
                <a16:creationId xmlns:a16="http://schemas.microsoft.com/office/drawing/2014/main" id="{661031F2-AE6D-D01F-1CB8-53DA3400063B}"/>
              </a:ext>
            </a:extLst>
          </p:cNvPr>
          <p:cNvSpPr>
            <a:spLocks noGrp="1"/>
          </p:cNvSpPr>
          <p:nvPr>
            <p:ph idx="4294967295"/>
          </p:nvPr>
        </p:nvSpPr>
        <p:spPr>
          <a:xfrm>
            <a:off x="875071" y="1417637"/>
            <a:ext cx="10058400" cy="4806182"/>
          </a:xfrm>
        </p:spPr>
        <p:txBody>
          <a:bodyPr>
            <a:normAutofit/>
          </a:bodyPr>
          <a:lstStyle/>
          <a:p>
            <a:pPr>
              <a:buFont typeface="Wingdings" panose="05000000000000000000" pitchFamily="2" charset="2"/>
              <a:buChar char="q"/>
            </a:pPr>
            <a:r>
              <a:rPr lang="en-US" dirty="0"/>
              <a:t> Health financing is central to achieving 100% Universal Health Service Coverage (UHC). </a:t>
            </a:r>
          </a:p>
          <a:p>
            <a:pPr>
              <a:buFont typeface="Wingdings" panose="05000000000000000000" pitchFamily="2" charset="2"/>
              <a:buChar char="q"/>
            </a:pPr>
            <a:r>
              <a:rPr lang="en-US" dirty="0"/>
              <a:t>WHO standards emphasize raising sufficient funds, pooling risks fairly, and purchasing services strategically to ensure people have access to quality care without financial hardship. </a:t>
            </a:r>
          </a:p>
          <a:p>
            <a:pPr>
              <a:buFont typeface="Wingdings" panose="05000000000000000000" pitchFamily="2" charset="2"/>
              <a:buChar char="q"/>
            </a:pPr>
            <a:r>
              <a:rPr lang="en-US" dirty="0"/>
              <a:t>Most countries in Africa face challenges such as high out-of-pocket (OOP) spending, fragmented risk pools, underfunding of public health, and overreliance on donor funding. </a:t>
            </a:r>
          </a:p>
          <a:p>
            <a:pPr>
              <a:buFont typeface="Wingdings" panose="05000000000000000000" pitchFamily="2" charset="2"/>
              <a:buChar char="q"/>
            </a:pPr>
            <a:r>
              <a:rPr lang="en-US" dirty="0"/>
              <a:t>In this section, we aim to identify the optimal ratios of government (GGHED), donor (EXT), and private (PVTD) expenditure to current health expenditure (CHE) that:</a:t>
            </a:r>
          </a:p>
          <a:p>
            <a:pPr lvl="3">
              <a:buFont typeface="Wingdings" panose="05000000000000000000" pitchFamily="2" charset="2"/>
              <a:buChar char="Ø"/>
            </a:pPr>
            <a:r>
              <a:rPr lang="en-US" sz="1600" dirty="0"/>
              <a:t>Maximize Universal Health Service Coverage (UHC)</a:t>
            </a:r>
          </a:p>
          <a:p>
            <a:pPr lvl="3">
              <a:buFont typeface="Wingdings" panose="05000000000000000000" pitchFamily="2" charset="2"/>
              <a:buChar char="Ø"/>
            </a:pPr>
            <a:r>
              <a:rPr lang="en-US" sz="1600" dirty="0"/>
              <a:t> Maximize life expectancy (LE)</a:t>
            </a:r>
          </a:p>
          <a:p>
            <a:pPr lvl="3">
              <a:buFont typeface="Wingdings" panose="05000000000000000000" pitchFamily="2" charset="2"/>
              <a:buChar char="Ø"/>
            </a:pPr>
            <a:r>
              <a:rPr lang="en-US" sz="1600" dirty="0"/>
              <a:t>Minimize maternal mortality ratio (MMR)</a:t>
            </a:r>
          </a:p>
          <a:p>
            <a:pPr lvl="3">
              <a:buFont typeface="Wingdings" panose="05000000000000000000" pitchFamily="2" charset="2"/>
              <a:buChar char="Ø"/>
            </a:pPr>
            <a:r>
              <a:rPr lang="en-US" sz="1600" dirty="0"/>
              <a:t>Minimize infant mortality ratio (IMR)</a:t>
            </a:r>
          </a:p>
          <a:p>
            <a:pPr>
              <a:buFont typeface="Wingdings" panose="05000000000000000000" pitchFamily="2" charset="2"/>
              <a:buChar char="q"/>
            </a:pPr>
            <a:r>
              <a:rPr lang="en-US" dirty="0"/>
              <a:t> </a:t>
            </a:r>
            <a:r>
              <a:rPr lang="en-US" sz="2600" dirty="0"/>
              <a:t>Because after </a:t>
            </a:r>
            <a:r>
              <a:rPr lang="en-US" i="1" dirty="0"/>
              <a:t>all,</a:t>
            </a:r>
            <a:r>
              <a:rPr lang="en-US" b="1" i="1" dirty="0"/>
              <a:t> “Health financing is not just about spending more, but spending better and pooling risks fairly”.</a:t>
            </a:r>
            <a:endParaRPr lang="en-US" dirty="0"/>
          </a:p>
          <a:p>
            <a:endParaRPr lang="en-US" dirty="0"/>
          </a:p>
        </p:txBody>
      </p:sp>
    </p:spTree>
    <p:extLst>
      <p:ext uri="{BB962C8B-B14F-4D97-AF65-F5344CB8AC3E}">
        <p14:creationId xmlns:p14="http://schemas.microsoft.com/office/powerpoint/2010/main" val="1831417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D847E-FB12-559B-FBCA-91469138F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44770-E41B-E861-59D8-1D6C41B0E569}"/>
              </a:ext>
            </a:extLst>
          </p:cNvPr>
          <p:cNvSpPr>
            <a:spLocks noGrp="1"/>
          </p:cNvSpPr>
          <p:nvPr>
            <p:ph type="title" idx="4294967295"/>
          </p:nvPr>
        </p:nvSpPr>
        <p:spPr>
          <a:xfrm>
            <a:off x="865238" y="292477"/>
            <a:ext cx="10058400" cy="912812"/>
          </a:xfrm>
        </p:spPr>
        <p:txBody>
          <a:bodyPr>
            <a:normAutofit/>
          </a:bodyPr>
          <a:lstStyle/>
          <a:p>
            <a:r>
              <a:rPr lang="en-US" sz="3000" b="1" dirty="0">
                <a:solidFill>
                  <a:schemeClr val="accent2"/>
                </a:solidFill>
              </a:rPr>
              <a:t>Relationship between CHE and UHC_SCI and Key Health Outcomes</a:t>
            </a:r>
          </a:p>
        </p:txBody>
      </p:sp>
      <p:sp>
        <p:nvSpPr>
          <p:cNvPr id="3" name="Content Placeholder 2">
            <a:extLst>
              <a:ext uri="{FF2B5EF4-FFF2-40B4-BE49-F238E27FC236}">
                <a16:creationId xmlns:a16="http://schemas.microsoft.com/office/drawing/2014/main" id="{78109E70-8813-846E-EF5B-EDEDE126F5B6}"/>
              </a:ext>
            </a:extLst>
          </p:cNvPr>
          <p:cNvSpPr>
            <a:spLocks noGrp="1"/>
          </p:cNvSpPr>
          <p:nvPr>
            <p:ph idx="4294967295"/>
          </p:nvPr>
        </p:nvSpPr>
        <p:spPr>
          <a:xfrm>
            <a:off x="865239" y="1287796"/>
            <a:ext cx="10933472" cy="4955687"/>
          </a:xfrm>
        </p:spPr>
        <p:txBody>
          <a:bodyPr>
            <a:normAutofit fontScale="70000" lnSpcReduction="20000"/>
          </a:bodyPr>
          <a:lstStyle/>
          <a:p>
            <a:pPr>
              <a:buFont typeface="Wingdings" panose="05000000000000000000" pitchFamily="2" charset="2"/>
              <a:buChar char="§"/>
            </a:pPr>
            <a:r>
              <a:rPr lang="en-US" dirty="0"/>
              <a:t> A scatter plot of data from 47 WHO African regional countries spanning from 2000 to 2024 was done to check the relationship between current health expenditure (CHE) and key health outcomes such as life expectancy (LE), maternal mortality ratio (MMR) per 100,000 live births, infant mortality ratio (IMR) per 1,000 live births and universal service health coverage (UHC_SCI).</a:t>
            </a:r>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marL="0" indent="0">
              <a:buNone/>
            </a:pPr>
            <a:endParaRPr lang="en-US" dirty="0"/>
          </a:p>
          <a:p>
            <a:pPr marL="0" indent="0" algn="ctr">
              <a:buNone/>
            </a:pPr>
            <a:endParaRPr lang="en-US" dirty="0"/>
          </a:p>
          <a:p>
            <a:pPr marL="0" indent="0" algn="ctr">
              <a:buNone/>
            </a:pPr>
            <a:r>
              <a:rPr lang="en-US" b="1" dirty="0"/>
              <a:t>Figure 1: Relationship between CHE and Key Health Outcomes</a:t>
            </a:r>
          </a:p>
          <a:p>
            <a:pPr>
              <a:buFont typeface="Wingdings" panose="05000000000000000000" pitchFamily="2" charset="2"/>
              <a:buChar char="§"/>
            </a:pPr>
            <a:r>
              <a:rPr lang="en-US" dirty="0"/>
              <a:t> Figure 1 shows that life expectancy (LE) and universal health coverage index (UHC_SCI) non-linearly increase with an increase in current health expenditure, the maternal mortality ratio (MMR) per 100,000 live births, and the infant mortality ratio (IMR) per 1,000 live births, respectively (nonlinearly) decrease with an increase in CHE. </a:t>
            </a:r>
          </a:p>
        </p:txBody>
      </p:sp>
      <p:pic>
        <p:nvPicPr>
          <p:cNvPr id="5" name="Picture 4">
            <a:extLst>
              <a:ext uri="{FF2B5EF4-FFF2-40B4-BE49-F238E27FC236}">
                <a16:creationId xmlns:a16="http://schemas.microsoft.com/office/drawing/2014/main" id="{A1DBBE48-8EAF-9381-33C2-9269CB22AA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48856" y="2086921"/>
            <a:ext cx="8502834" cy="3131746"/>
          </a:xfrm>
          <a:prstGeom prst="rect">
            <a:avLst/>
          </a:prstGeom>
          <a:noFill/>
          <a:ln>
            <a:noFill/>
          </a:ln>
        </p:spPr>
      </p:pic>
    </p:spTree>
    <p:extLst>
      <p:ext uri="{BB962C8B-B14F-4D97-AF65-F5344CB8AC3E}">
        <p14:creationId xmlns:p14="http://schemas.microsoft.com/office/powerpoint/2010/main" val="309432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E3751-E2C0-CD97-0300-31A3FD86E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A3FD4-0C25-F31C-A8A0-7BDD24A5249E}"/>
              </a:ext>
            </a:extLst>
          </p:cNvPr>
          <p:cNvSpPr>
            <a:spLocks noGrp="1"/>
          </p:cNvSpPr>
          <p:nvPr>
            <p:ph type="title"/>
          </p:nvPr>
        </p:nvSpPr>
        <p:spPr>
          <a:xfrm>
            <a:off x="1273743" y="815993"/>
            <a:ext cx="10058400" cy="912932"/>
          </a:xfrm>
        </p:spPr>
        <p:txBody>
          <a:bodyPr>
            <a:noAutofit/>
          </a:bodyPr>
          <a:lstStyle/>
          <a:p>
            <a:r>
              <a:rPr lang="en-US" sz="3500" b="1" dirty="0">
                <a:solidFill>
                  <a:schemeClr val="accent2"/>
                </a:solidFill>
              </a:rPr>
              <a:t>Effect of CHE components on Key Health Outcomes and Service Coverage Index</a:t>
            </a:r>
            <a:endParaRPr lang="en-US" sz="3500" dirty="0">
              <a:solidFill>
                <a:schemeClr val="accent2"/>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2F105C9-0A90-1553-035F-FE629CBF9038}"/>
                  </a:ext>
                </a:extLst>
              </p:cNvPr>
              <p:cNvSpPr>
                <a:spLocks noGrp="1"/>
              </p:cNvSpPr>
              <p:nvPr>
                <p:ph idx="1"/>
              </p:nvPr>
            </p:nvSpPr>
            <p:spPr>
              <a:xfrm>
                <a:off x="1097280" y="2037347"/>
                <a:ext cx="10058400" cy="3433011"/>
              </a:xfrm>
            </p:spPr>
            <p:txBody>
              <a:bodyPr>
                <a:noAutofit/>
              </a:bodyPr>
              <a:lstStyle/>
              <a:p>
                <a:pPr>
                  <a:buFont typeface="Wingdings" panose="05000000000000000000" pitchFamily="2" charset="2"/>
                  <a:buChar char="q"/>
                </a:pPr>
                <a:r>
                  <a:rPr lang="en-US" sz="2400" dirty="0"/>
                  <a:t> Due to the nonlinear relationship between CHE and the key health outcomes, </a:t>
                </a:r>
              </a:p>
              <a:p>
                <a:pPr>
                  <a:buFont typeface="Wingdings" panose="05000000000000000000" pitchFamily="2" charset="2"/>
                  <a:buChar char="q"/>
                </a:pPr>
                <a:r>
                  <a:rPr lang="en-US" sz="2400" dirty="0"/>
                  <a:t> It was assumed that the CHE components: GGHED, PVTD, and EXT are also nonlinearly correlated with LE, UHC_SCI, MMR, and IMR.</a:t>
                </a:r>
              </a:p>
              <a:p>
                <a:pPr>
                  <a:buFont typeface="Wingdings" panose="05000000000000000000" pitchFamily="2" charset="2"/>
                  <a:buChar char="q"/>
                </a:pPr>
                <a:r>
                  <a:rPr lang="en-US" sz="2400" dirty="0"/>
                  <a:t> A generalized additive regression model (</a:t>
                </a:r>
                <a:r>
                  <a:rPr lang="en-US" sz="2400" dirty="0" err="1"/>
                  <a:t>eqn</a:t>
                </a:r>
                <a:r>
                  <a:rPr lang="en-US" sz="2400" dirty="0"/>
                  <a:t> 1) was fitted for each key health outcome (KHO) i.e. LE, MMR,IMR and UHC_SCI.</a:t>
                </a:r>
              </a:p>
              <a:p>
                <a:pPr marL="0" indent="0" algn="ctr">
                  <a:buNone/>
                </a:pPr>
                <a:r>
                  <a:rPr lang="en-US" sz="2400" dirty="0"/>
                  <a:t>g(E[KHO])=</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1</m:t>
                        </m:r>
                      </m:sub>
                    </m:sSub>
                  </m:oMath>
                </a14:m>
                <a:r>
                  <a:rPr lang="en-US" sz="2400" dirty="0"/>
                  <a:t>(EXT)+</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2</m:t>
                        </m:r>
                      </m:sub>
                    </m:sSub>
                  </m:oMath>
                </a14:m>
                <a:r>
                  <a:rPr lang="en-US" sz="2400" dirty="0"/>
                  <a:t>(GGHED)+</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3</m:t>
                        </m:r>
                      </m:sub>
                    </m:sSub>
                  </m:oMath>
                </a14:m>
                <a:r>
                  <a:rPr lang="en-US" sz="2400" dirty="0"/>
                  <a:t>(PVTD)+e                       (1)</a:t>
                </a:r>
              </a:p>
              <a:p>
                <a:pPr marL="0" indent="0">
                  <a:buNone/>
                </a:pPr>
                <a:r>
                  <a:rPr lang="en-US" sz="2400" dirty="0"/>
                  <a:t>where g(.) is a link function, </a:t>
                </a:r>
                <a14:m>
                  <m:oMath xmlns:m="http://schemas.openxmlformats.org/officeDocument/2006/math">
                    <m:sSub>
                      <m:sSubPr>
                        <m:ctrlPr>
                          <a:rPr lang="en-US" sz="2400" i="1"/>
                        </m:ctrlPr>
                      </m:sSubPr>
                      <m:e>
                        <m:r>
                          <a:rPr lang="en-US" sz="2400" i="1"/>
                          <m:t>𝑓</m:t>
                        </m:r>
                      </m:e>
                      <m:sub>
                        <m:r>
                          <a:rPr lang="en-US" sz="2400" i="1"/>
                          <m:t>𝑗</m:t>
                        </m:r>
                      </m:sub>
                    </m:sSub>
                    <m:r>
                      <a:rPr lang="en-US" sz="2400" i="1"/>
                      <m:t>(.)</m:t>
                    </m:r>
                  </m:oMath>
                </a14:m>
                <a:r>
                  <a:rPr lang="en-US" sz="2400" dirty="0"/>
                  <a:t> is a smooth function, e is the error term</a:t>
                </a:r>
              </a:p>
            </p:txBody>
          </p:sp>
        </mc:Choice>
        <mc:Fallback>
          <p:sp>
            <p:nvSpPr>
              <p:cNvPr id="3" name="Content Placeholder 2">
                <a:extLst>
                  <a:ext uri="{FF2B5EF4-FFF2-40B4-BE49-F238E27FC236}">
                    <a16:creationId xmlns:a16="http://schemas.microsoft.com/office/drawing/2014/main" id="{42F105C9-0A90-1553-035F-FE629CBF9038}"/>
                  </a:ext>
                </a:extLst>
              </p:cNvPr>
              <p:cNvSpPr>
                <a:spLocks noGrp="1" noRot="1" noChangeAspect="1" noMove="1" noResize="1" noEditPoints="1" noAdjustHandles="1" noChangeArrowheads="1" noChangeShapeType="1" noTextEdit="1"/>
              </p:cNvSpPr>
              <p:nvPr>
                <p:ph idx="1"/>
              </p:nvPr>
            </p:nvSpPr>
            <p:spPr>
              <a:xfrm>
                <a:off x="1097280" y="2037347"/>
                <a:ext cx="10058400" cy="3433011"/>
              </a:xfrm>
              <a:blipFill>
                <a:blip r:embed="rId2"/>
                <a:stretch>
                  <a:fillRect l="-1818" t="-2487" r="-1212"/>
                </a:stretch>
              </a:blipFill>
            </p:spPr>
            <p:txBody>
              <a:bodyPr/>
              <a:lstStyle/>
              <a:p>
                <a:r>
                  <a:rPr lang="en-US">
                    <a:noFill/>
                  </a:rPr>
                  <a:t> </a:t>
                </a:r>
              </a:p>
            </p:txBody>
          </p:sp>
        </mc:Fallback>
      </mc:AlternateContent>
    </p:spTree>
    <p:extLst>
      <p:ext uri="{BB962C8B-B14F-4D97-AF65-F5344CB8AC3E}">
        <p14:creationId xmlns:p14="http://schemas.microsoft.com/office/powerpoint/2010/main" val="273160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07F6A-26C7-4BF3-D208-6D85B256B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9B31E-C825-4B17-53CF-3611DA4A4A36}"/>
              </a:ext>
            </a:extLst>
          </p:cNvPr>
          <p:cNvSpPr>
            <a:spLocks noGrp="1"/>
          </p:cNvSpPr>
          <p:nvPr>
            <p:ph type="title"/>
          </p:nvPr>
        </p:nvSpPr>
        <p:spPr>
          <a:xfrm>
            <a:off x="1273743" y="815993"/>
            <a:ext cx="10058400" cy="912932"/>
          </a:xfrm>
        </p:spPr>
        <p:txBody>
          <a:bodyPr>
            <a:noAutofit/>
          </a:bodyPr>
          <a:lstStyle/>
          <a:p>
            <a:r>
              <a:rPr lang="en-US" sz="3500" b="1" dirty="0">
                <a:solidFill>
                  <a:schemeClr val="accent2"/>
                </a:solidFill>
              </a:rPr>
              <a:t>Effect of CHE components on Key Health Outcomes and Service Coverage Index </a:t>
            </a:r>
            <a:r>
              <a:rPr lang="en-US" sz="3500" b="1" dirty="0" err="1">
                <a:solidFill>
                  <a:schemeClr val="accent2"/>
                </a:solidFill>
              </a:rPr>
              <a:t>contd</a:t>
            </a:r>
            <a:r>
              <a:rPr lang="en-US" sz="3500" b="1" dirty="0">
                <a:solidFill>
                  <a:schemeClr val="accent2"/>
                </a:solidFill>
              </a:rPr>
              <a:t>…</a:t>
            </a:r>
            <a:endParaRPr lang="en-US" sz="3500" dirty="0">
              <a:solidFill>
                <a:schemeClr val="accent2"/>
              </a:solidFill>
            </a:endParaRPr>
          </a:p>
        </p:txBody>
      </p:sp>
      <p:sp>
        <p:nvSpPr>
          <p:cNvPr id="3" name="Content Placeholder 2">
            <a:extLst>
              <a:ext uri="{FF2B5EF4-FFF2-40B4-BE49-F238E27FC236}">
                <a16:creationId xmlns:a16="http://schemas.microsoft.com/office/drawing/2014/main" id="{EB182F33-8302-A047-58FE-53FBC5A5C491}"/>
              </a:ext>
            </a:extLst>
          </p:cNvPr>
          <p:cNvSpPr>
            <a:spLocks noGrp="1"/>
          </p:cNvSpPr>
          <p:nvPr>
            <p:ph idx="1"/>
          </p:nvPr>
        </p:nvSpPr>
        <p:spPr>
          <a:xfrm>
            <a:off x="1097280" y="1728925"/>
            <a:ext cx="10058400" cy="4543538"/>
          </a:xfrm>
        </p:spPr>
        <p:txBody>
          <a:bodyPr>
            <a:noAutofit/>
          </a:bodyPr>
          <a:lstStyle/>
          <a:p>
            <a:pPr>
              <a:buFont typeface="Wingdings" panose="05000000000000000000" pitchFamily="2" charset="2"/>
              <a:buChar char="q"/>
            </a:pPr>
            <a:r>
              <a:rPr lang="en-US" sz="2400" dirty="0"/>
              <a:t> The results of the GAM model were as summarized in Table 1.</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dirty="0"/>
              <a:t> </a:t>
            </a:r>
          </a:p>
          <a:p>
            <a:pPr>
              <a:buFont typeface="Wingdings" panose="05000000000000000000" pitchFamily="2" charset="2"/>
              <a:buChar char="q"/>
            </a:pPr>
            <a:endParaRPr lang="en-US" dirty="0"/>
          </a:p>
          <a:p>
            <a:pPr>
              <a:buFont typeface="Wingdings" panose="05000000000000000000" pitchFamily="2" charset="2"/>
              <a:buChar char="q"/>
            </a:pPr>
            <a:r>
              <a:rPr lang="en-US" dirty="0"/>
              <a:t> Table 1 results show that, on average, government health funding (GGHED) has the most significant effect, followed by external donor funding (EXT), then private funding (PVTD) in explaining all the key health variables.</a:t>
            </a:r>
            <a:endParaRPr lang="en-US" sz="2400" dirty="0"/>
          </a:p>
        </p:txBody>
      </p:sp>
      <p:graphicFrame>
        <p:nvGraphicFramePr>
          <p:cNvPr id="4" name="Table 3">
            <a:extLst>
              <a:ext uri="{FF2B5EF4-FFF2-40B4-BE49-F238E27FC236}">
                <a16:creationId xmlns:a16="http://schemas.microsoft.com/office/drawing/2014/main" id="{A56F8232-D9D4-0EDD-196F-56D2156D2028}"/>
              </a:ext>
            </a:extLst>
          </p:cNvPr>
          <p:cNvGraphicFramePr>
            <a:graphicFrameLocks noGrp="1"/>
          </p:cNvGraphicFramePr>
          <p:nvPr>
            <p:extLst>
              <p:ext uri="{D42A27DB-BD31-4B8C-83A1-F6EECF244321}">
                <p14:modId xmlns:p14="http://schemas.microsoft.com/office/powerpoint/2010/main" val="87197942"/>
              </p:ext>
            </p:extLst>
          </p:nvPr>
        </p:nvGraphicFramePr>
        <p:xfrm>
          <a:off x="1832994" y="2163565"/>
          <a:ext cx="7553894" cy="2621540"/>
        </p:xfrm>
        <a:graphic>
          <a:graphicData uri="http://schemas.openxmlformats.org/drawingml/2006/table">
            <a:tbl>
              <a:tblPr firstRow="1" firstCol="1" bandRow="1">
                <a:tableStyleId>{5C22544A-7EE6-4342-B048-85BDC9FD1C3A}</a:tableStyleId>
              </a:tblPr>
              <a:tblGrid>
                <a:gridCol w="3326667">
                  <a:extLst>
                    <a:ext uri="{9D8B030D-6E8A-4147-A177-3AD203B41FA5}">
                      <a16:colId xmlns:a16="http://schemas.microsoft.com/office/drawing/2014/main" val="504188680"/>
                    </a:ext>
                  </a:extLst>
                </a:gridCol>
                <a:gridCol w="942555">
                  <a:extLst>
                    <a:ext uri="{9D8B030D-6E8A-4147-A177-3AD203B41FA5}">
                      <a16:colId xmlns:a16="http://schemas.microsoft.com/office/drawing/2014/main" val="2696987359"/>
                    </a:ext>
                  </a:extLst>
                </a:gridCol>
                <a:gridCol w="1098808">
                  <a:extLst>
                    <a:ext uri="{9D8B030D-6E8A-4147-A177-3AD203B41FA5}">
                      <a16:colId xmlns:a16="http://schemas.microsoft.com/office/drawing/2014/main" val="2409925900"/>
                    </a:ext>
                  </a:extLst>
                </a:gridCol>
                <a:gridCol w="1058485">
                  <a:extLst>
                    <a:ext uri="{9D8B030D-6E8A-4147-A177-3AD203B41FA5}">
                      <a16:colId xmlns:a16="http://schemas.microsoft.com/office/drawing/2014/main" val="3987179205"/>
                    </a:ext>
                  </a:extLst>
                </a:gridCol>
                <a:gridCol w="1002200">
                  <a:extLst>
                    <a:ext uri="{9D8B030D-6E8A-4147-A177-3AD203B41FA5}">
                      <a16:colId xmlns:a16="http://schemas.microsoft.com/office/drawing/2014/main" val="3616994291"/>
                    </a:ext>
                  </a:extLst>
                </a:gridCol>
                <a:gridCol w="125179">
                  <a:extLst>
                    <a:ext uri="{9D8B030D-6E8A-4147-A177-3AD203B41FA5}">
                      <a16:colId xmlns:a16="http://schemas.microsoft.com/office/drawing/2014/main" val="369409126"/>
                    </a:ext>
                  </a:extLst>
                </a:gridCol>
              </a:tblGrid>
              <a:tr h="481312">
                <a:tc gridSpan="6">
                  <a:txBody>
                    <a:bodyPr/>
                    <a:lstStyle/>
                    <a:p>
                      <a:pPr marL="0" marR="0">
                        <a:lnSpc>
                          <a:spcPct val="115000"/>
                        </a:lnSpc>
                        <a:spcAft>
                          <a:spcPts val="800"/>
                        </a:spcAft>
                        <a:buNone/>
                      </a:pPr>
                      <a:r>
                        <a:rPr lang="en-US" sz="1600" kern="0" dirty="0">
                          <a:effectLst/>
                        </a:rPr>
                        <a:t>Table 1: </a:t>
                      </a:r>
                      <a:r>
                        <a:rPr lang="en-US" sz="1600" kern="100" dirty="0">
                          <a:effectLst/>
                        </a:rPr>
                        <a:t>Fitted GAM Results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21219948"/>
                  </a:ext>
                </a:extLst>
              </a:tr>
              <a:tr h="553102">
                <a:tc>
                  <a:txBody>
                    <a:bodyPr/>
                    <a:lstStyle/>
                    <a:p>
                      <a:pPr marL="0" marR="0">
                        <a:lnSpc>
                          <a:spcPct val="115000"/>
                        </a:lnSpc>
                        <a:spcAft>
                          <a:spcPts val="800"/>
                        </a:spcAft>
                        <a:buNone/>
                      </a:pPr>
                      <a:r>
                        <a:rPr lang="en-US" sz="1200" b="0" kern="0" dirty="0">
                          <a:effectLst/>
                        </a:rPr>
                        <a:t>Key Health Variable</a:t>
                      </a:r>
                      <a:endParaRPr lang="en-US" sz="12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b="1" kern="0" dirty="0">
                          <a:effectLst/>
                        </a:rPr>
                        <a:t>EXT</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b="1" kern="0">
                          <a:effectLst/>
                        </a:rPr>
                        <a:t>GGHED</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b="1" kern="0" dirty="0">
                          <a:effectLst/>
                        </a:rPr>
                        <a:t>PVTD</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15000"/>
                        </a:lnSpc>
                        <a:spcAft>
                          <a:spcPts val="800"/>
                        </a:spcAft>
                        <a:buNone/>
                      </a:pPr>
                      <a:r>
                        <a:rPr lang="en-US" sz="1200" b="1" kern="0" dirty="0">
                          <a:effectLst/>
                        </a:rPr>
                        <a:t>Deviance Explained (%)</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b="1" kern="100" dirty="0">
                          <a:effectLst/>
                        </a:rPr>
                        <a:t> </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445244424"/>
                  </a:ext>
                </a:extLst>
              </a:tr>
              <a:tr h="268378">
                <a:tc>
                  <a:txBody>
                    <a:bodyPr/>
                    <a:lstStyle/>
                    <a:p>
                      <a:pPr marL="0" marR="0">
                        <a:lnSpc>
                          <a:spcPct val="115000"/>
                        </a:lnSpc>
                        <a:spcAft>
                          <a:spcPts val="800"/>
                        </a:spcAft>
                        <a:buNone/>
                      </a:pPr>
                      <a:r>
                        <a:rPr lang="en-US" sz="1200" kern="0">
                          <a:effectLst/>
                        </a:rPr>
                        <a:t>Life Expectancy (LE)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6.447***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7.975***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5.440***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30.2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053184572"/>
                  </a:ext>
                </a:extLst>
              </a:tr>
              <a:tr h="356118">
                <a:tc>
                  <a:txBody>
                    <a:bodyPr/>
                    <a:lstStyle/>
                    <a:p>
                      <a:pPr marL="0" marR="0">
                        <a:lnSpc>
                          <a:spcPct val="115000"/>
                        </a:lnSpc>
                        <a:spcAft>
                          <a:spcPts val="800"/>
                        </a:spcAft>
                        <a:buNone/>
                      </a:pPr>
                      <a:r>
                        <a:rPr lang="en-US" sz="1200" kern="0">
                          <a:effectLst/>
                        </a:rPr>
                        <a:t>Maternal Mortality Ratio (IMR)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3.839***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dirty="0">
                          <a:effectLst/>
                        </a:rPr>
                        <a:t>8.692***</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8.130***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40.3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527899339"/>
                  </a:ext>
                </a:extLst>
              </a:tr>
              <a:tr h="425872">
                <a:tc>
                  <a:txBody>
                    <a:bodyPr/>
                    <a:lstStyle/>
                    <a:p>
                      <a:pPr marL="0" marR="0">
                        <a:lnSpc>
                          <a:spcPct val="115000"/>
                        </a:lnSpc>
                        <a:spcAft>
                          <a:spcPts val="800"/>
                        </a:spcAft>
                        <a:buNone/>
                      </a:pPr>
                      <a:r>
                        <a:rPr lang="en-US" sz="1200" kern="0">
                          <a:effectLst/>
                        </a:rPr>
                        <a:t>Infant Mortality Rate (IMR)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5.363***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8.565***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3.620***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42.2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3792200"/>
                  </a:ext>
                </a:extLst>
              </a:tr>
              <a:tr h="536758">
                <a:tc>
                  <a:txBody>
                    <a:bodyPr/>
                    <a:lstStyle/>
                    <a:p>
                      <a:pPr marL="0" marR="0">
                        <a:lnSpc>
                          <a:spcPct val="115000"/>
                        </a:lnSpc>
                        <a:spcAft>
                          <a:spcPts val="800"/>
                        </a:spcAft>
                        <a:buNone/>
                      </a:pPr>
                      <a:r>
                        <a:rPr lang="en-US" sz="1200" kern="0" dirty="0">
                          <a:effectLst/>
                        </a:rPr>
                        <a:t>Universal Health Coverage (UHC_SCI)</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dirty="0">
                          <a:effectLst/>
                        </a:rPr>
                        <a:t>1.928</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2.803**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1.000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64.5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291177731"/>
                  </a:ext>
                </a:extLst>
              </a:tr>
            </a:tbl>
          </a:graphicData>
        </a:graphic>
      </p:graphicFrame>
      <p:sp>
        <p:nvSpPr>
          <p:cNvPr id="5" name="Rectangle 1">
            <a:extLst>
              <a:ext uri="{FF2B5EF4-FFF2-40B4-BE49-F238E27FC236}">
                <a16:creationId xmlns:a16="http://schemas.microsoft.com/office/drawing/2014/main" id="{AE9D282D-5FF4-0F87-8E0A-3D4AED36E16F}"/>
              </a:ext>
            </a:extLst>
          </p:cNvPr>
          <p:cNvSpPr>
            <a:spLocks noChangeArrowheads="1"/>
          </p:cNvSpPr>
          <p:nvPr/>
        </p:nvSpPr>
        <p:spPr bwMode="auto">
          <a:xfrm>
            <a:off x="2128804" y="473349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Sig. codes: ***&lt;0.001, **&lt;0.01, *&lt;0.05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1656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DBAFE-F13F-CA6D-C5C7-66E2D26F8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E7B3C-9B6A-F740-039E-340A2D280BCE}"/>
              </a:ext>
            </a:extLst>
          </p:cNvPr>
          <p:cNvSpPr>
            <a:spLocks noGrp="1"/>
          </p:cNvSpPr>
          <p:nvPr>
            <p:ph type="title"/>
          </p:nvPr>
        </p:nvSpPr>
        <p:spPr>
          <a:xfrm>
            <a:off x="1273743" y="815993"/>
            <a:ext cx="10058400" cy="912932"/>
          </a:xfrm>
        </p:spPr>
        <p:txBody>
          <a:bodyPr>
            <a:noAutofit/>
          </a:bodyPr>
          <a:lstStyle/>
          <a:p>
            <a:r>
              <a:rPr lang="en-US" sz="3500" b="1" dirty="0">
                <a:solidFill>
                  <a:schemeClr val="accent2"/>
                </a:solidFill>
              </a:rPr>
              <a:t>Optimal Allocation of CHE Components</a:t>
            </a:r>
            <a:endParaRPr lang="en-US" sz="3500" dirty="0">
              <a:solidFill>
                <a:schemeClr val="accent2"/>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7B401C6-66CD-BD5C-75EF-F1421030B600}"/>
                  </a:ext>
                </a:extLst>
              </p:cNvPr>
              <p:cNvSpPr>
                <a:spLocks noGrp="1"/>
              </p:cNvSpPr>
              <p:nvPr>
                <p:ph idx="1"/>
              </p:nvPr>
            </p:nvSpPr>
            <p:spPr>
              <a:xfrm>
                <a:off x="1097280" y="1728924"/>
                <a:ext cx="10058400" cy="4864381"/>
              </a:xfrm>
            </p:spPr>
            <p:txBody>
              <a:bodyPr>
                <a:noAutofit/>
              </a:bodyPr>
              <a:lstStyle/>
              <a:p>
                <a:pPr>
                  <a:buFont typeface="Wingdings" panose="05000000000000000000" pitchFamily="2" charset="2"/>
                  <a:buChar char="q"/>
                </a:pPr>
                <a:r>
                  <a:rPr lang="en-US" sz="2400" dirty="0"/>
                  <a:t> </a:t>
                </a:r>
                <a:r>
                  <a:rPr lang="en-US" dirty="0"/>
                  <a:t>The results of the GAM model were fed to the non-linear optimization problem to determine the optimal proportions of CHE components that minimize the different health outcomes:</a:t>
                </a:r>
              </a:p>
              <a:p>
                <a:pPr algn="ctr"/>
                <a14:m>
                  <m:oMath xmlns:m="http://schemas.openxmlformats.org/officeDocument/2006/math">
                    <m:func>
                      <m:funcPr>
                        <m:ctrlPr>
                          <a:rPr lang="en-US" i="1"/>
                        </m:ctrlPr>
                      </m:funcPr>
                      <m:fName>
                        <m:limLow>
                          <m:limLowPr>
                            <m:ctrlPr>
                              <a:rPr lang="en-US" i="1"/>
                            </m:ctrlPr>
                          </m:limLowPr>
                          <m:e>
                            <m:r>
                              <m:rPr>
                                <m:sty m:val="p"/>
                              </m:rPr>
                              <a:rPr lang="en-US"/>
                              <m:t>min</m:t>
                            </m:r>
                          </m:e>
                          <m:lim>
                            <m:r>
                              <a:rPr lang="en-US" i="1"/>
                              <m:t>𝑗</m:t>
                            </m:r>
                          </m:lim>
                        </m:limLow>
                      </m:fName>
                      <m:e>
                        <m:sSub>
                          <m:sSubPr>
                            <m:ctrlPr>
                              <a:rPr lang="en-US" i="1"/>
                            </m:ctrlPr>
                          </m:sSubPr>
                          <m:e>
                            <m:r>
                              <a:rPr lang="en-US" i="1"/>
                              <m:t>𝑓</m:t>
                            </m:r>
                          </m:e>
                          <m:sub>
                            <m:r>
                              <a:rPr lang="en-US" i="1"/>
                              <m:t>𝑗</m:t>
                            </m:r>
                          </m:sub>
                        </m:sSub>
                        <m:r>
                          <a:rPr lang="en-US" i="1"/>
                          <m:t>(</m:t>
                        </m:r>
                        <m:r>
                          <a:rPr lang="en-US" i="1"/>
                          <m:t>𝑖</m:t>
                        </m:r>
                        <m:r>
                          <a:rPr lang="en-US" i="1"/>
                          <m:t>)</m:t>
                        </m:r>
                      </m:e>
                    </m:func>
                  </m:oMath>
                </a14:m>
                <a:endParaRPr lang="en-US" dirty="0"/>
              </a:p>
              <a:p>
                <a:r>
                  <a:rPr lang="en-US" dirty="0"/>
                  <a:t>Subject to the constraints</a:t>
                </a:r>
              </a:p>
              <a:p>
                <a:pPr algn="ctr"/>
                <a14:m>
                  <m:oMath xmlns:m="http://schemas.openxmlformats.org/officeDocument/2006/math">
                    <m:sSub>
                      <m:sSubPr>
                        <m:ctrlPr>
                          <a:rPr lang="en-US" i="1"/>
                        </m:ctrlPr>
                      </m:sSubPr>
                      <m:e>
                        <m:r>
                          <a:rPr lang="en-US" i="1"/>
                          <m:t>𝜔</m:t>
                        </m:r>
                      </m:e>
                      <m:sub>
                        <m:r>
                          <a:rPr lang="en-US" i="1"/>
                          <m:t>𝑖𝑗</m:t>
                        </m:r>
                      </m:sub>
                    </m:sSub>
                    <m:r>
                      <a:rPr lang="en-US" i="1"/>
                      <m:t>≥0</m:t>
                    </m:r>
                  </m:oMath>
                </a14:m>
                <a:r>
                  <a:rPr lang="en-US" dirty="0"/>
                  <a:t> and </a:t>
                </a:r>
                <a14:m>
                  <m:oMath xmlns:m="http://schemas.openxmlformats.org/officeDocument/2006/math">
                    <m:nary>
                      <m:naryPr>
                        <m:chr m:val="∑"/>
                        <m:limLoc m:val="subSup"/>
                        <m:supHide m:val="on"/>
                        <m:ctrlPr>
                          <a:rPr lang="en-US" i="1"/>
                        </m:ctrlPr>
                      </m:naryPr>
                      <m:sub>
                        <m:r>
                          <a:rPr lang="en-US" i="1"/>
                          <m:t>𝑖</m:t>
                        </m:r>
                      </m:sub>
                      <m:sup/>
                      <m:e>
                        <m:sSub>
                          <m:sSubPr>
                            <m:ctrlPr>
                              <a:rPr lang="en-US" i="1"/>
                            </m:ctrlPr>
                          </m:sSubPr>
                          <m:e>
                            <m:r>
                              <a:rPr lang="en-US" i="1"/>
                              <m:t>𝜔</m:t>
                            </m:r>
                          </m:e>
                          <m:sub>
                            <m:r>
                              <a:rPr lang="en-US" i="1"/>
                              <m:t>𝑖𝑗</m:t>
                            </m:r>
                          </m:sub>
                        </m:sSub>
                      </m:e>
                    </m:nary>
                    <m:r>
                      <a:rPr lang="en-US" i="1"/>
                      <m:t>=1</m:t>
                    </m:r>
                  </m:oMath>
                </a14:m>
                <a:endParaRPr lang="en-US" dirty="0"/>
              </a:p>
              <a:p>
                <a:pPr marL="0" indent="0">
                  <a:buNone/>
                </a:pPr>
                <a:r>
                  <a:rPr lang="en-US" dirty="0"/>
                  <a:t>Such that;</a:t>
                </a:r>
              </a:p>
              <a:p>
                <a:pPr algn="ctr"/>
                <a14:m>
                  <m:oMath xmlns:m="http://schemas.openxmlformats.org/officeDocument/2006/math">
                    <m:d>
                      <m:dPr>
                        <m:begChr m:val="{"/>
                        <m:endChr m:val=""/>
                        <m:ctrlPr>
                          <a:rPr lang="en-US" i="1"/>
                        </m:ctrlPr>
                      </m:dPr>
                      <m:e>
                        <m:eqArr>
                          <m:eqArrPr>
                            <m:ctrlPr>
                              <a:rPr lang="en-US" i="1"/>
                            </m:ctrlPr>
                          </m:eqArrPr>
                          <m:e>
                            <m:sSub>
                              <m:sSubPr>
                                <m:ctrlPr>
                                  <a:rPr lang="en-US" i="1"/>
                                </m:ctrlPr>
                              </m:sSubPr>
                              <m:e>
                                <m:r>
                                  <a:rPr lang="en-US" i="1"/>
                                  <m:t>𝐶𝐻𝐸</m:t>
                                </m:r>
                              </m:e>
                              <m:sub>
                                <m:r>
                                  <a:rPr lang="en-US" i="1"/>
                                  <m:t>𝑗</m:t>
                                </m:r>
                              </m:sub>
                            </m:sSub>
                            <m:r>
                              <a:rPr lang="en-US" i="1"/>
                              <m:t>=</m:t>
                            </m:r>
                            <m:sSub>
                              <m:sSubPr>
                                <m:ctrlPr>
                                  <a:rPr lang="en-US" i="1"/>
                                </m:ctrlPr>
                              </m:sSubPr>
                              <m:e>
                                <m:r>
                                  <a:rPr lang="en-US" i="1"/>
                                  <m:t>𝜔</m:t>
                                </m:r>
                              </m:e>
                              <m:sub>
                                <m:r>
                                  <a:rPr lang="en-US" i="1"/>
                                  <m:t>1</m:t>
                                </m:r>
                                <m:r>
                                  <a:rPr lang="en-US" i="1"/>
                                  <m:t>𝑗</m:t>
                                </m:r>
                              </m:sub>
                            </m:sSub>
                            <m:r>
                              <a:rPr lang="en-US" i="1"/>
                              <m:t>𝐸𝑋𝑇</m:t>
                            </m:r>
                            <m:r>
                              <a:rPr lang="en-US" i="1"/>
                              <m:t>+</m:t>
                            </m:r>
                            <m:sSub>
                              <m:sSubPr>
                                <m:ctrlPr>
                                  <a:rPr lang="en-US" i="1"/>
                                </m:ctrlPr>
                              </m:sSubPr>
                              <m:e>
                                <m:r>
                                  <a:rPr lang="en-US" i="1"/>
                                  <m:t>𝜔</m:t>
                                </m:r>
                              </m:e>
                              <m:sub>
                                <m:r>
                                  <a:rPr lang="en-US" i="1"/>
                                  <m:t>2</m:t>
                                </m:r>
                                <m:r>
                                  <a:rPr lang="en-US" i="1"/>
                                  <m:t>𝑗</m:t>
                                </m:r>
                              </m:sub>
                            </m:sSub>
                            <m:r>
                              <a:rPr lang="en-US" i="1"/>
                              <m:t>𝐺𝐺𝐻𝐸𝐷</m:t>
                            </m:r>
                            <m:r>
                              <a:rPr lang="en-US" i="1"/>
                              <m:t>+</m:t>
                            </m:r>
                            <m:sSub>
                              <m:sSubPr>
                                <m:ctrlPr>
                                  <a:rPr lang="en-US" i="1"/>
                                </m:ctrlPr>
                              </m:sSubPr>
                              <m:e>
                                <m:r>
                                  <a:rPr lang="en-US" i="1"/>
                                  <m:t>𝜔</m:t>
                                </m:r>
                              </m:e>
                              <m:sub>
                                <m:r>
                                  <a:rPr lang="en-US" i="1"/>
                                  <m:t>3</m:t>
                                </m:r>
                                <m:r>
                                  <a:rPr lang="en-US" i="1"/>
                                  <m:t>𝑗</m:t>
                                </m:r>
                              </m:sub>
                            </m:sSub>
                            <m:r>
                              <a:rPr lang="en-US" i="1"/>
                              <m:t>𝑃𝑉𝑇𝐷</m:t>
                            </m:r>
                          </m:e>
                          <m:e>
                            <m:r>
                              <a:rPr lang="en-US" i="1"/>
                              <m:t>𝑗</m:t>
                            </m:r>
                            <m:r>
                              <a:rPr lang="en-US" i="1"/>
                              <m:t>={−</m:t>
                            </m:r>
                            <m:r>
                              <a:rPr lang="en-US" i="1"/>
                              <m:t>𝐿𝐸</m:t>
                            </m:r>
                            <m:r>
                              <a:rPr lang="en-US" i="1"/>
                              <m:t>, </m:t>
                            </m:r>
                            <m:r>
                              <a:rPr lang="en-US" i="1"/>
                              <m:t>𝑀𝑀𝑅</m:t>
                            </m:r>
                            <m:r>
                              <a:rPr lang="en-US" i="1"/>
                              <m:t>, </m:t>
                            </m:r>
                            <m:r>
                              <a:rPr lang="en-US" i="1"/>
                              <m:t>𝐼𝑀𝑅</m:t>
                            </m:r>
                            <m:r>
                              <a:rPr lang="en-US" i="1"/>
                              <m:t>, −</m:t>
                            </m:r>
                            <m:r>
                              <a:rPr lang="en-US" i="1"/>
                              <m:t>𝑈𝐻𝐶</m:t>
                            </m:r>
                            <m:r>
                              <a:rPr lang="en-US" i="1"/>
                              <m:t>_</m:t>
                            </m:r>
                            <m:r>
                              <a:rPr lang="en-US" i="1"/>
                              <m:t>𝑆𝐶𝐼</m:t>
                            </m:r>
                            <m:r>
                              <a:rPr lang="en-US" i="1"/>
                              <m:t>}</m:t>
                            </m:r>
                          </m:e>
                          <m:e>
                            <m:r>
                              <a:rPr lang="en-US" i="1"/>
                              <m:t>𝑖</m:t>
                            </m:r>
                            <m:r>
                              <a:rPr lang="en-US" i="1"/>
                              <m:t>={</m:t>
                            </m:r>
                            <m:r>
                              <a:rPr lang="en-US" i="1"/>
                              <m:t>𝐸𝑋𝑇</m:t>
                            </m:r>
                            <m:r>
                              <a:rPr lang="en-US" i="1"/>
                              <m:t>, </m:t>
                            </m:r>
                            <m:r>
                              <a:rPr lang="en-US" i="1"/>
                              <m:t>𝐺𝐺𝐻𝐸𝐷</m:t>
                            </m:r>
                            <m:r>
                              <a:rPr lang="en-US" i="1"/>
                              <m:t>, </m:t>
                            </m:r>
                            <m:r>
                              <a:rPr lang="en-US" i="1"/>
                              <m:t>𝑃𝑉𝑇𝐷</m:t>
                            </m:r>
                            <m:r>
                              <a:rPr lang="en-US" i="1"/>
                              <m:t>}</m:t>
                            </m:r>
                          </m:e>
                        </m:eqArr>
                      </m:e>
                    </m:d>
                  </m:oMath>
                </a14:m>
                <a:endParaRPr lang="en-US" dirty="0"/>
              </a:p>
              <a:p>
                <a:pPr marL="0" indent="0">
                  <a:buNone/>
                </a:pPr>
                <a:r>
                  <a:rPr lang="en-US"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 </m:t>
                    </m:r>
                  </m:oMath>
                </a14:m>
                <a:r>
                  <a:rPr lang="en-US" dirty="0"/>
                  <a:t>= {-LE,-UHC_SCI, MMR, IMR}</a:t>
                </a:r>
              </a:p>
            </p:txBody>
          </p:sp>
        </mc:Choice>
        <mc:Fallback>
          <p:sp>
            <p:nvSpPr>
              <p:cNvPr id="3" name="Content Placeholder 2">
                <a:extLst>
                  <a:ext uri="{FF2B5EF4-FFF2-40B4-BE49-F238E27FC236}">
                    <a16:creationId xmlns:a16="http://schemas.microsoft.com/office/drawing/2014/main" id="{E7B401C6-66CD-BD5C-75EF-F1421030B600}"/>
                  </a:ext>
                </a:extLst>
              </p:cNvPr>
              <p:cNvSpPr>
                <a:spLocks noGrp="1" noRot="1" noChangeAspect="1" noMove="1" noResize="1" noEditPoints="1" noAdjustHandles="1" noChangeArrowheads="1" noChangeShapeType="1" noTextEdit="1"/>
              </p:cNvSpPr>
              <p:nvPr>
                <p:ph idx="1"/>
              </p:nvPr>
            </p:nvSpPr>
            <p:spPr>
              <a:xfrm>
                <a:off x="1097280" y="1728924"/>
                <a:ext cx="10058400" cy="4864381"/>
              </a:xfrm>
              <a:blipFill>
                <a:blip r:embed="rId2"/>
                <a:stretch>
                  <a:fillRect l="-1697" t="-1378" r="-545"/>
                </a:stretch>
              </a:blipFill>
            </p:spPr>
            <p:txBody>
              <a:bodyPr/>
              <a:lstStyle/>
              <a:p>
                <a:r>
                  <a:rPr lang="en-US">
                    <a:noFill/>
                  </a:rPr>
                  <a:t> </a:t>
                </a:r>
              </a:p>
            </p:txBody>
          </p:sp>
        </mc:Fallback>
      </mc:AlternateContent>
    </p:spTree>
    <p:extLst>
      <p:ext uri="{BB962C8B-B14F-4D97-AF65-F5344CB8AC3E}">
        <p14:creationId xmlns:p14="http://schemas.microsoft.com/office/powerpoint/2010/main" val="517992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28D03-AB77-598F-8C6A-EC9F4139D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24F9C-39C9-D7A2-DC0B-134310FAEF30}"/>
              </a:ext>
            </a:extLst>
          </p:cNvPr>
          <p:cNvSpPr>
            <a:spLocks noGrp="1"/>
          </p:cNvSpPr>
          <p:nvPr>
            <p:ph type="title" idx="4294967295"/>
          </p:nvPr>
        </p:nvSpPr>
        <p:spPr>
          <a:xfrm>
            <a:off x="1066800" y="585787"/>
            <a:ext cx="10058400" cy="912813"/>
          </a:xfrm>
        </p:spPr>
        <p:txBody>
          <a:bodyPr>
            <a:noAutofit/>
          </a:bodyPr>
          <a:lstStyle/>
          <a:p>
            <a:r>
              <a:rPr lang="en-US" sz="3500" b="1" dirty="0">
                <a:solidFill>
                  <a:schemeClr val="accent2"/>
                </a:solidFill>
              </a:rPr>
              <a:t>Optimal Allocation of CHE Components </a:t>
            </a:r>
            <a:r>
              <a:rPr lang="en-US" sz="3500" b="1" dirty="0" err="1">
                <a:solidFill>
                  <a:schemeClr val="accent2"/>
                </a:solidFill>
              </a:rPr>
              <a:t>contd</a:t>
            </a:r>
            <a:r>
              <a:rPr lang="en-US" sz="3500" b="1" dirty="0">
                <a:solidFill>
                  <a:schemeClr val="accent2"/>
                </a:solidFill>
              </a:rPr>
              <a:t>…</a:t>
            </a:r>
            <a:endParaRPr lang="en-US" sz="3500" dirty="0">
              <a:solidFill>
                <a:schemeClr val="accent2"/>
              </a:solidFill>
            </a:endParaRPr>
          </a:p>
        </p:txBody>
      </p:sp>
      <p:sp>
        <p:nvSpPr>
          <p:cNvPr id="3" name="Content Placeholder 2">
            <a:extLst>
              <a:ext uri="{FF2B5EF4-FFF2-40B4-BE49-F238E27FC236}">
                <a16:creationId xmlns:a16="http://schemas.microsoft.com/office/drawing/2014/main" id="{C436CC39-4CEE-0D9F-96B7-50D3248DBB07}"/>
              </a:ext>
            </a:extLst>
          </p:cNvPr>
          <p:cNvSpPr>
            <a:spLocks noGrp="1"/>
          </p:cNvSpPr>
          <p:nvPr>
            <p:ph idx="4294967295"/>
          </p:nvPr>
        </p:nvSpPr>
        <p:spPr>
          <a:xfrm>
            <a:off x="1331494" y="1498600"/>
            <a:ext cx="10058400" cy="4886158"/>
          </a:xfrm>
        </p:spPr>
        <p:txBody>
          <a:bodyPr>
            <a:noAutofit/>
          </a:bodyPr>
          <a:lstStyle/>
          <a:p>
            <a:pPr>
              <a:buFont typeface="Wingdings" panose="05000000000000000000" pitchFamily="2" charset="2"/>
              <a:buChar char="q"/>
            </a:pPr>
            <a:r>
              <a:rPr lang="en-US" sz="2400" dirty="0"/>
              <a:t> Table 2 below show the optimal allocation of CHE funding that improves the different health outcomes.</a:t>
            </a:r>
          </a:p>
          <a:p>
            <a:pPr>
              <a:buFont typeface="Wingdings" panose="05000000000000000000" pitchFamily="2" charset="2"/>
              <a:buChar char="q"/>
            </a:pPr>
            <a:endParaRPr lang="en-US" sz="2400" dirty="0"/>
          </a:p>
          <a:p>
            <a:pPr>
              <a:buFont typeface="Wingdings" panose="05000000000000000000" pitchFamily="2" charset="2"/>
              <a:buChar char="q"/>
            </a:pPr>
            <a:endParaRPr lang="en-US" sz="2400" dirty="0"/>
          </a:p>
          <a:p>
            <a:pPr>
              <a:buFont typeface="Wingdings" panose="05000000000000000000" pitchFamily="2" charset="2"/>
              <a:buChar char="q"/>
            </a:pPr>
            <a:endParaRPr lang="en-US" sz="2400" dirty="0"/>
          </a:p>
          <a:p>
            <a:pPr marL="0" indent="0">
              <a:buNone/>
            </a:pPr>
            <a:endParaRPr lang="en-US" sz="2400" dirty="0"/>
          </a:p>
          <a:p>
            <a:pPr>
              <a:buFont typeface="Wingdings" panose="05000000000000000000" pitchFamily="2" charset="2"/>
              <a:buChar char="q"/>
            </a:pPr>
            <a:endParaRPr lang="en-US" dirty="0"/>
          </a:p>
          <a:p>
            <a:pPr>
              <a:buFont typeface="Wingdings" panose="05000000000000000000" pitchFamily="2" charset="2"/>
              <a:buChar char="q"/>
            </a:pPr>
            <a:r>
              <a:rPr lang="en-US" sz="2400" dirty="0"/>
              <a:t>It can be seen that to obtain great health outcomes, governments should be encouraged to contribute 67% of CHE, followed by the private sector funding (contribute 19% of CHE), and the remaining 14% of CHE to be funded by external donor funding.</a:t>
            </a:r>
          </a:p>
          <a:p>
            <a:pPr marL="0" indent="0">
              <a:buNone/>
            </a:pPr>
            <a:endParaRPr lang="en-US" sz="2400" dirty="0"/>
          </a:p>
        </p:txBody>
      </p:sp>
      <p:graphicFrame>
        <p:nvGraphicFramePr>
          <p:cNvPr id="4" name="Table 3">
            <a:extLst>
              <a:ext uri="{FF2B5EF4-FFF2-40B4-BE49-F238E27FC236}">
                <a16:creationId xmlns:a16="http://schemas.microsoft.com/office/drawing/2014/main" id="{B0D7495F-973D-5BEC-F58F-2303EA1847ED}"/>
              </a:ext>
            </a:extLst>
          </p:cNvPr>
          <p:cNvGraphicFramePr>
            <a:graphicFrameLocks noGrp="1"/>
          </p:cNvGraphicFramePr>
          <p:nvPr>
            <p:extLst>
              <p:ext uri="{D42A27DB-BD31-4B8C-83A1-F6EECF244321}">
                <p14:modId xmlns:p14="http://schemas.microsoft.com/office/powerpoint/2010/main" val="2575235669"/>
              </p:ext>
            </p:extLst>
          </p:nvPr>
        </p:nvGraphicFramePr>
        <p:xfrm>
          <a:off x="1475874" y="2202427"/>
          <a:ext cx="9384632" cy="2591664"/>
        </p:xfrm>
        <a:graphic>
          <a:graphicData uri="http://schemas.openxmlformats.org/drawingml/2006/table">
            <a:tbl>
              <a:tblPr firstRow="1" firstCol="1" bandRow="1">
                <a:tableStyleId>{5C22544A-7EE6-4342-B048-85BDC9FD1C3A}</a:tableStyleId>
              </a:tblPr>
              <a:tblGrid>
                <a:gridCol w="4163445">
                  <a:extLst>
                    <a:ext uri="{9D8B030D-6E8A-4147-A177-3AD203B41FA5}">
                      <a16:colId xmlns:a16="http://schemas.microsoft.com/office/drawing/2014/main" val="32137624"/>
                    </a:ext>
                  </a:extLst>
                </a:gridCol>
                <a:gridCol w="1777904">
                  <a:extLst>
                    <a:ext uri="{9D8B030D-6E8A-4147-A177-3AD203B41FA5}">
                      <a16:colId xmlns:a16="http://schemas.microsoft.com/office/drawing/2014/main" val="2300986708"/>
                    </a:ext>
                  </a:extLst>
                </a:gridCol>
                <a:gridCol w="1732894">
                  <a:extLst>
                    <a:ext uri="{9D8B030D-6E8A-4147-A177-3AD203B41FA5}">
                      <a16:colId xmlns:a16="http://schemas.microsoft.com/office/drawing/2014/main" val="45076582"/>
                    </a:ext>
                  </a:extLst>
                </a:gridCol>
                <a:gridCol w="1710389">
                  <a:extLst>
                    <a:ext uri="{9D8B030D-6E8A-4147-A177-3AD203B41FA5}">
                      <a16:colId xmlns:a16="http://schemas.microsoft.com/office/drawing/2014/main" val="1982269133"/>
                    </a:ext>
                  </a:extLst>
                </a:gridCol>
              </a:tblGrid>
              <a:tr h="412954">
                <a:tc gridSpan="4">
                  <a:txBody>
                    <a:bodyPr/>
                    <a:lstStyle/>
                    <a:p>
                      <a:pPr marL="0" marR="0">
                        <a:lnSpc>
                          <a:spcPct val="115000"/>
                        </a:lnSpc>
                        <a:spcAft>
                          <a:spcPts val="800"/>
                        </a:spcAft>
                        <a:buNone/>
                      </a:pPr>
                      <a:r>
                        <a:rPr lang="en-US" sz="1600" kern="0" dirty="0">
                          <a:effectLst/>
                        </a:rPr>
                        <a:t>Table 2: Optimal Current Health Expenditure (CHE) Allocation Proportions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64491700"/>
                  </a:ext>
                </a:extLst>
              </a:tr>
              <a:tr h="305772">
                <a:tc>
                  <a:txBody>
                    <a:bodyPr/>
                    <a:lstStyle/>
                    <a:p>
                      <a:pPr marL="0" marR="0">
                        <a:lnSpc>
                          <a:spcPct val="115000"/>
                        </a:lnSpc>
                        <a:spcAft>
                          <a:spcPts val="800"/>
                        </a:spcAft>
                        <a:buNone/>
                      </a:pPr>
                      <a:r>
                        <a:rPr lang="en-US" sz="1200" kern="0">
                          <a:effectLst/>
                        </a:rPr>
                        <a:t>Key Health Variable (j)</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dirty="0">
                          <a:effectLst/>
                        </a:rPr>
                        <a:t>EXT (</a:t>
                      </a:r>
                      <a:r>
                        <a:rPr lang="en-US" sz="1200" kern="0" dirty="0" err="1">
                          <a:effectLst/>
                        </a:rPr>
                        <a:t>i</a:t>
                      </a:r>
                      <a:r>
                        <a:rPr lang="en-US" sz="1200" kern="0" dirty="0">
                          <a:effectLst/>
                        </a:rPr>
                        <a:t>=1)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GGHED (i=2)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PVTD (i=3)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32508260"/>
                  </a:ext>
                </a:extLst>
              </a:tr>
              <a:tr h="305772">
                <a:tc>
                  <a:txBody>
                    <a:bodyPr/>
                    <a:lstStyle/>
                    <a:p>
                      <a:pPr marL="0" marR="0">
                        <a:lnSpc>
                          <a:spcPct val="115000"/>
                        </a:lnSpc>
                        <a:spcAft>
                          <a:spcPts val="800"/>
                        </a:spcAft>
                        <a:buNone/>
                      </a:pPr>
                      <a:r>
                        <a:rPr lang="en-US" sz="1200" kern="0">
                          <a:effectLst/>
                        </a:rPr>
                        <a:t>Life Expectancy (LE)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13.76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50.05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36.19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92169464"/>
                  </a:ext>
                </a:extLst>
              </a:tr>
              <a:tr h="446897">
                <a:tc>
                  <a:txBody>
                    <a:bodyPr/>
                    <a:lstStyle/>
                    <a:p>
                      <a:pPr marL="0" marR="0">
                        <a:lnSpc>
                          <a:spcPct val="115000"/>
                        </a:lnSpc>
                        <a:spcAft>
                          <a:spcPts val="800"/>
                        </a:spcAft>
                        <a:buNone/>
                      </a:pPr>
                      <a:r>
                        <a:rPr lang="en-US" sz="1200" kern="0">
                          <a:effectLst/>
                        </a:rPr>
                        <a:t>Maternal Mortality Ratio (MMR)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7.71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92.29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25268906"/>
                  </a:ext>
                </a:extLst>
              </a:tr>
              <a:tr h="305772">
                <a:tc>
                  <a:txBody>
                    <a:bodyPr/>
                    <a:lstStyle/>
                    <a:p>
                      <a:pPr marL="0" marR="0">
                        <a:lnSpc>
                          <a:spcPct val="115000"/>
                        </a:lnSpc>
                        <a:spcAft>
                          <a:spcPts val="800"/>
                        </a:spcAft>
                        <a:buNone/>
                      </a:pPr>
                      <a:r>
                        <a:rPr lang="en-US" sz="1200" kern="0" dirty="0">
                          <a:effectLst/>
                        </a:rPr>
                        <a:t>Infant Mortality Rate (IMR)</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16.68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43.95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39.37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24606176"/>
                  </a:ext>
                </a:extLst>
              </a:tr>
              <a:tr h="496966">
                <a:tc>
                  <a:txBody>
                    <a:bodyPr/>
                    <a:lstStyle/>
                    <a:p>
                      <a:pPr marL="0" marR="0">
                        <a:lnSpc>
                          <a:spcPct val="115000"/>
                        </a:lnSpc>
                        <a:spcAft>
                          <a:spcPts val="800"/>
                        </a:spcAft>
                        <a:buNone/>
                      </a:pPr>
                      <a:r>
                        <a:rPr lang="en-US" sz="1200" kern="0">
                          <a:effectLst/>
                        </a:rPr>
                        <a:t>Universal Health Coverage (UHC_SCI)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17.98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82.02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22249043"/>
                  </a:ext>
                </a:extLst>
              </a:tr>
              <a:tr h="317531">
                <a:tc>
                  <a:txBody>
                    <a:bodyPr/>
                    <a:lstStyle/>
                    <a:p>
                      <a:pPr marL="0" marR="0">
                        <a:lnSpc>
                          <a:spcPct val="115000"/>
                        </a:lnSpc>
                        <a:spcAft>
                          <a:spcPts val="800"/>
                        </a:spcAft>
                        <a:buNone/>
                      </a:pPr>
                      <a:r>
                        <a:rPr lang="en-US" sz="1200" kern="0">
                          <a:effectLst/>
                        </a:rPr>
                        <a:t>Averages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0" dirty="0">
                          <a:effectLst/>
                        </a:rPr>
                        <a:t>14.03</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100" kern="0">
                          <a:effectLst/>
                        </a:rPr>
                        <a:t>67.08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100" kern="0" dirty="0">
                          <a:effectLst/>
                        </a:rPr>
                        <a:t>18.89</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098046334"/>
                  </a:ext>
                </a:extLst>
              </a:tr>
            </a:tbl>
          </a:graphicData>
        </a:graphic>
      </p:graphicFrame>
    </p:spTree>
    <p:extLst>
      <p:ext uri="{BB962C8B-B14F-4D97-AF65-F5344CB8AC3E}">
        <p14:creationId xmlns:p14="http://schemas.microsoft.com/office/powerpoint/2010/main" val="3529237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DECEA-1386-0C0D-C33B-FEDABAE34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B8E8A-B1E7-612C-025A-87DB56F0E9CB}"/>
              </a:ext>
            </a:extLst>
          </p:cNvPr>
          <p:cNvSpPr>
            <a:spLocks noGrp="1"/>
          </p:cNvSpPr>
          <p:nvPr>
            <p:ph type="title" idx="4294967295"/>
          </p:nvPr>
        </p:nvSpPr>
        <p:spPr>
          <a:xfrm>
            <a:off x="1066800" y="585787"/>
            <a:ext cx="10058400" cy="912813"/>
          </a:xfrm>
        </p:spPr>
        <p:txBody>
          <a:bodyPr>
            <a:noAutofit/>
          </a:bodyPr>
          <a:lstStyle/>
          <a:p>
            <a:r>
              <a:rPr lang="en-US" sz="3500" b="1" dirty="0">
                <a:solidFill>
                  <a:schemeClr val="accent2"/>
                </a:solidFill>
              </a:rPr>
              <a:t>Effect of 67% Government Expenditure on Health</a:t>
            </a:r>
            <a:endParaRPr lang="en-US" sz="3500" dirty="0">
              <a:solidFill>
                <a:schemeClr val="accent2"/>
              </a:solidFill>
            </a:endParaRPr>
          </a:p>
        </p:txBody>
      </p:sp>
      <p:sp>
        <p:nvSpPr>
          <p:cNvPr id="3" name="Content Placeholder 2">
            <a:extLst>
              <a:ext uri="{FF2B5EF4-FFF2-40B4-BE49-F238E27FC236}">
                <a16:creationId xmlns:a16="http://schemas.microsoft.com/office/drawing/2014/main" id="{C9785570-D9A8-4E39-404C-AA28BF388CD9}"/>
              </a:ext>
            </a:extLst>
          </p:cNvPr>
          <p:cNvSpPr>
            <a:spLocks noGrp="1"/>
          </p:cNvSpPr>
          <p:nvPr>
            <p:ph idx="4294967295"/>
          </p:nvPr>
        </p:nvSpPr>
        <p:spPr>
          <a:xfrm>
            <a:off x="1331494" y="1498600"/>
            <a:ext cx="10058400" cy="4886158"/>
          </a:xfrm>
        </p:spPr>
        <p:txBody>
          <a:bodyPr>
            <a:noAutofit/>
          </a:bodyPr>
          <a:lstStyle/>
          <a:p>
            <a:pPr>
              <a:buFont typeface="Wingdings" panose="05000000000000000000" pitchFamily="2" charset="2"/>
              <a:buChar char="q"/>
            </a:pPr>
            <a:r>
              <a:rPr lang="en-US" sz="2400" dirty="0"/>
              <a:t> A descriptive analysis of the effect of investing more than 67% of CHE on the different key health outcomes was done and summarized in Table 3. </a:t>
            </a:r>
          </a:p>
          <a:p>
            <a:pPr>
              <a:buFont typeface="Wingdings" panose="05000000000000000000" pitchFamily="2" charset="2"/>
              <a:buChar char="q"/>
            </a:pPr>
            <a:endParaRPr lang="en-US" sz="2400" dirty="0"/>
          </a:p>
          <a:p>
            <a:pPr>
              <a:buFont typeface="Wingdings" panose="05000000000000000000" pitchFamily="2" charset="2"/>
              <a:buChar char="q"/>
            </a:pPr>
            <a:endParaRPr lang="en-US" sz="2400" dirty="0"/>
          </a:p>
          <a:p>
            <a:pPr>
              <a:buFont typeface="Wingdings" panose="05000000000000000000" pitchFamily="2" charset="2"/>
              <a:buChar char="q"/>
            </a:pPr>
            <a:endParaRPr lang="en-US" sz="2400" dirty="0"/>
          </a:p>
          <a:p>
            <a:pPr marL="0" indent="0">
              <a:buNone/>
            </a:pPr>
            <a:endParaRPr lang="en-US" sz="2400" dirty="0"/>
          </a:p>
          <a:p>
            <a:pPr>
              <a:buFont typeface="Wingdings" panose="05000000000000000000" pitchFamily="2" charset="2"/>
              <a:buChar char="q"/>
            </a:pPr>
            <a:r>
              <a:rPr lang="en-US" sz="2400" dirty="0"/>
              <a:t> Table 3 results show that for governments investing in &gt;67% of CHE, their:</a:t>
            </a:r>
          </a:p>
          <a:p>
            <a:pPr lvl="7">
              <a:buFont typeface="Wingdings" panose="05000000000000000000" pitchFamily="2" charset="2"/>
              <a:buChar char="ü"/>
            </a:pPr>
            <a:r>
              <a:rPr lang="en-US" sz="1800" dirty="0"/>
              <a:t> Universal Health Service coverage index is higher by 26%.</a:t>
            </a:r>
          </a:p>
          <a:p>
            <a:pPr lvl="7">
              <a:buFont typeface="Wingdings" panose="05000000000000000000" pitchFamily="2" charset="2"/>
              <a:buChar char="ü"/>
            </a:pPr>
            <a:r>
              <a:rPr lang="en-US" sz="1800" dirty="0"/>
              <a:t>Life expectancy is higher by 12.5 years.</a:t>
            </a:r>
          </a:p>
          <a:p>
            <a:pPr lvl="7">
              <a:buFont typeface="Wingdings" panose="05000000000000000000" pitchFamily="2" charset="2"/>
              <a:buChar char="ü"/>
            </a:pPr>
            <a:r>
              <a:rPr lang="en-US" sz="1800" dirty="0"/>
              <a:t>Maternal mortality ratios decrease by 414.5 deaths per 100,000 live births</a:t>
            </a:r>
          </a:p>
          <a:p>
            <a:pPr lvl="7">
              <a:buFont typeface="Wingdings" panose="05000000000000000000" pitchFamily="2" charset="2"/>
              <a:buChar char="ü"/>
            </a:pPr>
            <a:r>
              <a:rPr lang="en-US" sz="1800" dirty="0"/>
              <a:t>Infant Mortality ratios decrease by 34 deaths per 1,000 live births</a:t>
            </a:r>
          </a:p>
          <a:p>
            <a:pPr marL="0" indent="0">
              <a:buNone/>
            </a:pPr>
            <a:endParaRPr lang="en-US" sz="2400" dirty="0"/>
          </a:p>
        </p:txBody>
      </p:sp>
      <p:graphicFrame>
        <p:nvGraphicFramePr>
          <p:cNvPr id="5" name="Table 4">
            <a:extLst>
              <a:ext uri="{FF2B5EF4-FFF2-40B4-BE49-F238E27FC236}">
                <a16:creationId xmlns:a16="http://schemas.microsoft.com/office/drawing/2014/main" id="{AF9031FB-7EC3-AC40-7F75-9D7010AC5F83}"/>
              </a:ext>
            </a:extLst>
          </p:cNvPr>
          <p:cNvGraphicFramePr>
            <a:graphicFrameLocks noGrp="1"/>
          </p:cNvGraphicFramePr>
          <p:nvPr>
            <p:extLst>
              <p:ext uri="{D42A27DB-BD31-4B8C-83A1-F6EECF244321}">
                <p14:modId xmlns:p14="http://schemas.microsoft.com/office/powerpoint/2010/main" val="4163094342"/>
              </p:ext>
            </p:extLst>
          </p:nvPr>
        </p:nvGraphicFramePr>
        <p:xfrm>
          <a:off x="1710814" y="2213811"/>
          <a:ext cx="9149692" cy="2032433"/>
        </p:xfrm>
        <a:graphic>
          <a:graphicData uri="http://schemas.openxmlformats.org/drawingml/2006/table">
            <a:tbl>
              <a:tblPr firstRow="1" firstCol="1" bandRow="1">
                <a:tableStyleId>{5C22544A-7EE6-4342-B048-85BDC9FD1C3A}</a:tableStyleId>
              </a:tblPr>
              <a:tblGrid>
                <a:gridCol w="2586255">
                  <a:extLst>
                    <a:ext uri="{9D8B030D-6E8A-4147-A177-3AD203B41FA5}">
                      <a16:colId xmlns:a16="http://schemas.microsoft.com/office/drawing/2014/main" val="3441026507"/>
                    </a:ext>
                  </a:extLst>
                </a:gridCol>
                <a:gridCol w="1716925">
                  <a:extLst>
                    <a:ext uri="{9D8B030D-6E8A-4147-A177-3AD203B41FA5}">
                      <a16:colId xmlns:a16="http://schemas.microsoft.com/office/drawing/2014/main" val="2068053279"/>
                    </a:ext>
                  </a:extLst>
                </a:gridCol>
                <a:gridCol w="1673459">
                  <a:extLst>
                    <a:ext uri="{9D8B030D-6E8A-4147-A177-3AD203B41FA5}">
                      <a16:colId xmlns:a16="http://schemas.microsoft.com/office/drawing/2014/main" val="3210397516"/>
                    </a:ext>
                  </a:extLst>
                </a:gridCol>
                <a:gridCol w="1651726">
                  <a:extLst>
                    <a:ext uri="{9D8B030D-6E8A-4147-A177-3AD203B41FA5}">
                      <a16:colId xmlns:a16="http://schemas.microsoft.com/office/drawing/2014/main" val="3402180604"/>
                    </a:ext>
                  </a:extLst>
                </a:gridCol>
                <a:gridCol w="1521327">
                  <a:extLst>
                    <a:ext uri="{9D8B030D-6E8A-4147-A177-3AD203B41FA5}">
                      <a16:colId xmlns:a16="http://schemas.microsoft.com/office/drawing/2014/main" val="3792032770"/>
                    </a:ext>
                  </a:extLst>
                </a:gridCol>
              </a:tblGrid>
              <a:tr h="478220">
                <a:tc gridSpan="5">
                  <a:txBody>
                    <a:bodyPr/>
                    <a:lstStyle/>
                    <a:p>
                      <a:pPr marL="0" marR="0">
                        <a:lnSpc>
                          <a:spcPct val="115000"/>
                        </a:lnSpc>
                        <a:spcAft>
                          <a:spcPts val="800"/>
                        </a:spcAft>
                        <a:buNone/>
                      </a:pPr>
                      <a:r>
                        <a:rPr lang="en-US" sz="1600" kern="0" dirty="0">
                          <a:effectLst/>
                        </a:rPr>
                        <a:t>Table 3: Impact of Government Health Expenditure on Health Outcomes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84234233"/>
                  </a:ext>
                </a:extLst>
              </a:tr>
              <a:tr h="518071">
                <a:tc>
                  <a:txBody>
                    <a:bodyPr/>
                    <a:lstStyle/>
                    <a:p>
                      <a:pPr marL="0" marR="0">
                        <a:lnSpc>
                          <a:spcPct val="115000"/>
                        </a:lnSpc>
                        <a:spcAft>
                          <a:spcPts val="800"/>
                        </a:spcAft>
                        <a:buNone/>
                      </a:pPr>
                      <a:r>
                        <a:rPr lang="en-US" sz="1200" b="1" kern="0">
                          <a:effectLst/>
                        </a:rPr>
                        <a:t>Key Health Variable</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b="1" kern="0">
                          <a:effectLst/>
                        </a:rPr>
                        <a:t>SCI_UHC</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b="1" kern="0">
                          <a:effectLst/>
                        </a:rPr>
                        <a:t>LE</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b="1" kern="0">
                          <a:effectLst/>
                        </a:rPr>
                        <a:t>MMR</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b="1" kern="0" dirty="0">
                          <a:effectLst/>
                        </a:rPr>
                        <a:t>IMR</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52218841"/>
                  </a:ext>
                </a:extLst>
              </a:tr>
              <a:tr h="518071">
                <a:tc>
                  <a:txBody>
                    <a:bodyPr/>
                    <a:lstStyle/>
                    <a:p>
                      <a:pPr marL="0" marR="0">
                        <a:lnSpc>
                          <a:spcPct val="115000"/>
                        </a:lnSpc>
                        <a:spcAft>
                          <a:spcPts val="800"/>
                        </a:spcAft>
                        <a:buNone/>
                      </a:pPr>
                      <a:r>
                        <a:rPr lang="en-US" sz="1200" kern="0">
                          <a:effectLst/>
                        </a:rPr>
                        <a:t>GGHED&lt;=67% of CHE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dirty="0">
                          <a:effectLst/>
                        </a:rPr>
                        <a:t>39.3</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59.3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496.0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dirty="0">
                          <a:effectLst/>
                        </a:rPr>
                        <a:t>58.0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63126636"/>
                  </a:ext>
                </a:extLst>
              </a:tr>
              <a:tr h="518071">
                <a:tc>
                  <a:txBody>
                    <a:bodyPr/>
                    <a:lstStyle/>
                    <a:p>
                      <a:pPr marL="0" marR="0">
                        <a:lnSpc>
                          <a:spcPct val="115000"/>
                        </a:lnSpc>
                        <a:spcAft>
                          <a:spcPts val="800"/>
                        </a:spcAft>
                        <a:buNone/>
                      </a:pPr>
                      <a:r>
                        <a:rPr lang="en-US" sz="1200" kern="0">
                          <a:effectLst/>
                        </a:rPr>
                        <a:t>GGHED&gt;67% of CHE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65.3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71.8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a:effectLst/>
                        </a:rPr>
                        <a:t>81.5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0" dirty="0">
                          <a:effectLst/>
                        </a:rPr>
                        <a:t>24.0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73305591"/>
                  </a:ext>
                </a:extLst>
              </a:tr>
            </a:tbl>
          </a:graphicData>
        </a:graphic>
      </p:graphicFrame>
    </p:spTree>
    <p:extLst>
      <p:ext uri="{BB962C8B-B14F-4D97-AF65-F5344CB8AC3E}">
        <p14:creationId xmlns:p14="http://schemas.microsoft.com/office/powerpoint/2010/main" val="98802222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7318</TotalTime>
  <Words>991</Words>
  <Application>Microsoft Office PowerPoint</Application>
  <PresentationFormat>Widescreen</PresentationFormat>
  <Paragraphs>140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Cambria Math</vt:lpstr>
      <vt:lpstr>Wingdings</vt:lpstr>
      <vt:lpstr>Retrospect</vt:lpstr>
      <vt:lpstr>Investing in Health Systems:   Insights into how Current Health Financing Allocations Shape UHC Service Coverage and Key Health Outcomes </vt:lpstr>
      <vt:lpstr>Background</vt:lpstr>
      <vt:lpstr>Relationship between CHE and UHC_SCI and Key Health Outcomes</vt:lpstr>
      <vt:lpstr>Effect of CHE components on Key Health Outcomes and Service Coverage Index</vt:lpstr>
      <vt:lpstr>Effect of CHE components on Key Health Outcomes and Service Coverage Index contd…</vt:lpstr>
      <vt:lpstr>Optimal Allocation of CHE Components</vt:lpstr>
      <vt:lpstr>Optimal Allocation of CHE Components contd…</vt:lpstr>
      <vt:lpstr>Effect of 67% Government Expenditure on Health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Charity Wamwea</dc:creator>
  <cp:lastModifiedBy>Charity Wamwea</cp:lastModifiedBy>
  <cp:revision>10</cp:revision>
  <dcterms:created xsi:type="dcterms:W3CDTF">2026-03-03T13:44:27Z</dcterms:created>
  <dcterms:modified xsi:type="dcterms:W3CDTF">2026-03-11T22:28:43Z</dcterms:modified>
</cp:coreProperties>
</file>
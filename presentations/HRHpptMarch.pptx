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46"/>
  </p:normalViewPr>
  <p:slideViewPr>
    <p:cSldViewPr snapToGrid="0">
      <p:cViewPr varScale="1">
        <p:scale>
          <a:sx n="115" d="100"/>
          <a:sy n="115" d="100"/>
        </p:scale>
        <p:origin x="4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B44FE-9E84-AF9F-4DEA-724060C36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B9550-E7F3-34D6-D60C-498BB8EFE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38F2F-BDBC-4457-806B-512EC3F9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9AE8B-A110-4DF7-445E-670FAD98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1F1C9-060F-EF2B-8F28-66B13FBD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475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19E8-AC84-90E3-3D6E-86FD0AD8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1471-662C-3D18-D472-18DD9EA51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FA647-A10E-261C-AE11-81293645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DF32-89FF-9A36-D7DC-41602166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EE693-767B-0E18-3E46-A76793B5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33352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6F26-5C46-B888-4342-E649DC98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B47A7-8302-0941-15D3-192991189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E042-7629-E3A6-B6F7-35261B04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5B8F4-226E-581E-D12A-49C808D13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078D3-24DE-D7F3-B386-2D159D0B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8704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B741-B922-FAB3-8DB1-6241FB34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817A-8B0F-B982-C3A0-5935D654D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B9BAF-B44D-F33B-0859-9F197B870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BB70C-C906-69E8-8892-2683B9DA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83E67-7AAF-16D6-937C-8270213D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B1D-7399-6ECD-35A9-0EBE2BDB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7344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0DB4-E3B8-317A-534C-16F77D1A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399A3-88B7-5593-5ADF-AC1BAE823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50CAD-12E3-5665-46FB-CF9D9B946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9F925-1858-D151-655A-1B1070BF0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96E2C2-AA83-45BE-F1B9-A438E7A22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22CD8E-03D7-465F-9478-07B29D0C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5BE16-D701-1CA5-B6BE-7D890CAB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4C0DF-4B95-AF0C-84D9-FE049FE3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2471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F795D-4041-396E-2047-B1C5EEE2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826F2-7723-479A-C488-3550A9E71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D9426-1259-D795-B797-8D341DD1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D9A15-07D9-4FAF-4635-628555B6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81006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F15382-000F-8887-F864-C607CC891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73A22F-E241-7524-4BFD-3F220590D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4BB92-65A3-1797-43E6-FAAD2E17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3993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47E5-182F-E514-0936-1EC95CDA0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FAAD4-C199-4E7E-2958-D4E7D1EDC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58BFC-261F-A359-A9F9-9F2A7FC08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0429F-0E81-A7A6-1F56-5F2036C2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74908-6A53-31E5-F349-D059A2ECA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AE7BA-B4D3-017D-DCFE-F234D8D5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7768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0F8A-E4CF-3717-730F-9CA9C4E0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4A69A-F15C-F602-6272-BB7A15119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D01D9-49AE-BAC0-221D-BADBF1DA8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9C12-DCAF-367A-B7D8-406BE1FF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385DE-8F47-6385-F7C5-DB78A623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2E094-8D50-6545-4332-2D7F8CB0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6070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DC3F-B2F8-0192-FA46-A990ECE0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56654-1041-3004-11E8-29A48A87E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EFF32-F511-ECE4-C446-0A5F91E7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B39A-32BA-2299-B0F5-55BAFD5F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3EE5E-E66D-CD12-FCAC-AF2766D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879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B97AED-10DC-AAE0-A3D1-1DEB16D56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B59F7-3126-E050-D47E-D8AD9D521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2B3C8-7DD4-5325-1E6E-DE641287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E2E92-2EC1-8264-E4B7-52FABACA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EB5E9-AC4A-0E8A-E1E4-404AC8EE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8650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D00B9-B91F-0DAC-84AA-DE20F0A2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A63CC-3DB7-9EAA-E7C8-356C845D5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07640-E341-3445-71A0-157995F0A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B2025-BBAC-7E43-80E0-B89FFFE44BF2}" type="datetimeFigureOut">
              <a:rPr lang="en-KE" smtClean="0"/>
              <a:t>14/03/2026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7DB8B-B9DB-0247-E66A-44C6765A5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D0341-9AC3-7DEF-62A1-63B94790E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D6496-AE54-8448-B09F-7F69283B7138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55381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00AE0-3039-F793-C49E-BEE6409BC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Health Workforce Density and Health System Performance in Africa</a:t>
            </a:r>
            <a:br>
              <a:rPr lang="en-KE" sz="48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KE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AA2BE-6394-B484-CB02-DA4D320A4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dirty="0"/>
              <a:t>Identifying Workforce Density Thresholds for Universal Health Coverage and Population Health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78919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76811-6F33-9A74-551B-812CCFA2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KE" sz="400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70472-B671-8F20-EB4C-96BAC72E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16" y="1885279"/>
            <a:ext cx="11111433" cy="4116276"/>
          </a:xfrm>
        </p:spPr>
        <p:txBody>
          <a:bodyPr anchor="ctr">
            <a:normAutofit fontScale="92500" lnSpcReduction="10000"/>
          </a:bodyPr>
          <a:lstStyle/>
          <a:p>
            <a:r>
              <a:rPr lang="en-KE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examine the relationship between health workforce density and key population health outcomes.</a:t>
            </a:r>
          </a:p>
          <a:p>
            <a:pPr marL="0" indent="0">
              <a:buNone/>
            </a:pPr>
            <a:endParaRPr lang="en-KE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800" dirty="0">
                <a:latin typeface="Aptos" panose="020B0004020202020204" pitchFamily="34" charset="0"/>
              </a:rPr>
              <a:t>To estimate the association between health workforce density and health outcomes (life expectancy and UHC service coverage).</a:t>
            </a:r>
          </a:p>
          <a:p>
            <a:pPr marL="457200" lvl="1" indent="0">
              <a:buNone/>
            </a:pPr>
            <a:endParaRPr lang="en-GB" sz="2800" dirty="0">
              <a:latin typeface="Aptos" panose="020B0004020202020204" pitchFamily="34" charset="0"/>
            </a:endParaRPr>
          </a:p>
          <a:p>
            <a:pPr lvl="1"/>
            <a:r>
              <a:rPr lang="en-GB" sz="2800" dirty="0">
                <a:latin typeface="Aptos" panose="020B0004020202020204" pitchFamily="34" charset="0"/>
              </a:rPr>
              <a:t>To test for nonlinear and threshold effects in the workforce–health outcome relationship.</a:t>
            </a:r>
          </a:p>
          <a:p>
            <a:pPr marL="457200" lvl="1" indent="0">
              <a:buNone/>
            </a:pPr>
            <a:endParaRPr lang="en-GB" sz="2800" dirty="0">
              <a:latin typeface="Aptos" panose="020B0004020202020204" pitchFamily="34" charset="0"/>
            </a:endParaRPr>
          </a:p>
          <a:p>
            <a:pPr lvl="1"/>
            <a:r>
              <a:rPr lang="en-GB" sz="2800" dirty="0">
                <a:latin typeface="Aptos" panose="020B0004020202020204" pitchFamily="34" charset="0"/>
              </a:rPr>
              <a:t>To identify workforce density levels associated with diminishing marginal returns to workforce expansion.</a:t>
            </a:r>
          </a:p>
          <a:p>
            <a:endParaRPr lang="en-KE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KE" sz="2000" dirty="0"/>
          </a:p>
        </p:txBody>
      </p:sp>
    </p:spTree>
    <p:extLst>
      <p:ext uri="{BB962C8B-B14F-4D97-AF65-F5344CB8AC3E}">
        <p14:creationId xmlns:p14="http://schemas.microsoft.com/office/powerpoint/2010/main" val="802133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51E7-A669-AC7B-CE82-03B6D2ED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/>
              <a:t>Approach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7FA02-0E4F-6323-1A2F-63F7465CD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405054"/>
            <a:ext cx="11130776" cy="545294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>
                <a:latin typeface="Aptos" panose="020B0004020202020204" pitchFamily="34" charset="0"/>
              </a:rPr>
              <a:t>A longitudinal panel data design using annual country-level observations for 47 countries in the WHO African Region over an unbalanced period spanning up to 18 years. </a:t>
            </a:r>
          </a:p>
          <a:p>
            <a:r>
              <a:rPr lang="en-GB" dirty="0">
                <a:latin typeface="Aptos" panose="020B0004020202020204" pitchFamily="34" charset="0"/>
              </a:rPr>
              <a:t>Two indicators were used to measure health system performance:</a:t>
            </a:r>
          </a:p>
          <a:p>
            <a:pPr lvl="1"/>
            <a:r>
              <a:rPr lang="en-GB" dirty="0">
                <a:latin typeface="Aptos" panose="020B0004020202020204" pitchFamily="34" charset="0"/>
              </a:rPr>
              <a:t>Life Expectancy at Birth (LE) – measured in years and used as a summary indicator of population health.</a:t>
            </a:r>
          </a:p>
          <a:p>
            <a:pPr lvl="1"/>
            <a:r>
              <a:rPr lang="en-GB" dirty="0">
                <a:latin typeface="Aptos" panose="020B0004020202020204" pitchFamily="34" charset="0"/>
              </a:rPr>
              <a:t>Universal Health Coverage Service Coverage Index (UHC_SCI) –measuring coverage of essential health services across several domains.</a:t>
            </a:r>
          </a:p>
          <a:p>
            <a:pPr marL="457200" lvl="1" indent="0">
              <a:buNone/>
            </a:pPr>
            <a:endParaRPr lang="en-GB" dirty="0">
              <a:latin typeface="Aptos" panose="020B0004020202020204" pitchFamily="34" charset="0"/>
            </a:endParaRPr>
          </a:p>
          <a:p>
            <a:pPr marL="228600" lvl="1">
              <a:spcBef>
                <a:spcPts val="1000"/>
              </a:spcBef>
            </a:pPr>
            <a:r>
              <a:rPr lang="en-GB" sz="2800" dirty="0">
                <a:latin typeface="Aptos" panose="020B0004020202020204" pitchFamily="34" charset="0"/>
              </a:rPr>
              <a:t>Explanatory variables</a:t>
            </a:r>
          </a:p>
          <a:p>
            <a:pPr lvl="1"/>
            <a:r>
              <a:rPr lang="en-GB" dirty="0">
                <a:latin typeface="Aptos" panose="020B0004020202020204" pitchFamily="34" charset="0"/>
              </a:rPr>
              <a:t>health workforce density-the number of physicians, pharmacists, dentists, and nursing/midwifery personnel per 10,000 population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Control variables: </a:t>
            </a:r>
          </a:p>
          <a:p>
            <a:pPr lvl="1"/>
            <a:r>
              <a:rPr lang="en-GB" dirty="0"/>
              <a:t>Population density, capturing demographic pressures on health systems.</a:t>
            </a:r>
          </a:p>
          <a:p>
            <a:pPr lvl="1"/>
            <a:r>
              <a:rPr lang="en-GB" dirty="0"/>
              <a:t>Health financing capacity: government health expenditure per capita (GGHED per capita) to GDP per capita.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19442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11470-7828-6671-E3F5-F03D2EF40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KE" sz="4000">
                <a:solidFill>
                  <a:srgbClr val="FFFFFF"/>
                </a:solidFill>
              </a:rPr>
              <a:t>Results :UHC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C674A-8626-8ABE-C2AA-EF8F4CA31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1" y="2318197"/>
            <a:ext cx="10636280" cy="3683358"/>
          </a:xfrm>
        </p:spPr>
        <p:txBody>
          <a:bodyPr anchor="ctr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Hausman test : </a:t>
            </a:r>
            <a:r>
              <a:rPr lang="en-GB" b="1" dirty="0">
                <a:latin typeface="Aptos" panose="020B0004020202020204" pitchFamily="34" charset="0"/>
              </a:rPr>
              <a:t>Fixed-effects model preferred</a:t>
            </a:r>
            <a:endParaRPr lang="en-GB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Workforce density positively associated with UHC</a:t>
            </a:r>
          </a:p>
          <a:p>
            <a:pPr marL="0" indent="0">
              <a:buNone/>
            </a:pPr>
            <a:endParaRPr lang="en-GB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An increase in one worker per 10,000 population leads </a:t>
            </a:r>
            <a:r>
              <a:rPr lang="en-GB" b="1" dirty="0">
                <a:latin typeface="Aptos" panose="020B0004020202020204" pitchFamily="34" charset="0"/>
              </a:rPr>
              <a:t>+0.11 </a:t>
            </a:r>
            <a:r>
              <a:rPr lang="en-GB" dirty="0">
                <a:latin typeface="Aptos" panose="020B0004020202020204" pitchFamily="34" charset="0"/>
              </a:rPr>
              <a:t>increase in UHC-SCI </a:t>
            </a:r>
            <a:r>
              <a:rPr lang="en-GB" i="1" dirty="0">
                <a:latin typeface="Aptos" panose="020B0004020202020204" pitchFamily="34" charset="0"/>
              </a:rPr>
              <a:t>(</a:t>
            </a:r>
            <a:r>
              <a:rPr lang="el-GR" i="1" dirty="0">
                <a:latin typeface="Aptos" panose="020B0004020202020204" pitchFamily="34" charset="0"/>
              </a:rPr>
              <a:t>β = 0.110, </a:t>
            </a:r>
            <a:r>
              <a:rPr lang="en-GB" i="1" dirty="0">
                <a:latin typeface="Aptos" panose="020B0004020202020204" pitchFamily="34" charset="0"/>
              </a:rPr>
              <a:t>p = 0.004)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Strong improvement in UHC after 2006</a:t>
            </a:r>
          </a:p>
          <a:p>
            <a:endParaRPr lang="en-KE" sz="2000" dirty="0"/>
          </a:p>
        </p:txBody>
      </p:sp>
    </p:spTree>
    <p:extLst>
      <p:ext uri="{BB962C8B-B14F-4D97-AF65-F5344CB8AC3E}">
        <p14:creationId xmlns:p14="http://schemas.microsoft.com/office/powerpoint/2010/main" val="222949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351C4-D53C-99FF-4DBF-8845EA960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Threshold (UHC)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9F2B6-8632-7B52-F025-550CAED65BB5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Optimal workforce threshold: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800" dirty="0"/>
            </a:br>
            <a:r>
              <a:rPr lang="en-US" sz="2800" b="1" dirty="0"/>
              <a:t>9 health workers per 10,000 population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Above 9 health workers UHC services begin to stabilize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3CB1CA-69FA-14E0-6B00-692F56920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2442" y="1414766"/>
            <a:ext cx="5201023" cy="36147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13E1-959C-A1B0-ED66-F7DC6062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Life Expectancy (LE)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E7CCD-7D1D-4F41-1ACF-9137217CA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Hausman test :  </a:t>
            </a:r>
            <a:r>
              <a:rPr lang="en-GB" b="1" dirty="0"/>
              <a:t>Random-effects model used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Workforce density was not significantly associated with life expectancy</a:t>
            </a:r>
            <a:r>
              <a:rPr lang="en-GB" i="1" dirty="0"/>
              <a:t>(</a:t>
            </a:r>
            <a:r>
              <a:rPr lang="el-GR" i="1" dirty="0"/>
              <a:t>β = 0.016, </a:t>
            </a:r>
            <a:r>
              <a:rPr lang="en-GB" i="1" dirty="0"/>
              <a:t>p = 0.41)</a:t>
            </a:r>
          </a:p>
          <a:p>
            <a:pPr>
              <a:buFont typeface="Arial" panose="020B0604020202020204" pitchFamily="34" charset="0"/>
              <a:buChar char="•"/>
            </a:pPr>
            <a:endParaRPr lang="en-GB" i="1" dirty="0"/>
          </a:p>
          <a:p>
            <a:r>
              <a:rPr lang="en-GB" dirty="0">
                <a:latin typeface="Aptos" panose="020B0004020202020204" pitchFamily="34" charset="0"/>
              </a:rPr>
              <a:t>Strong improvement in UHC was observed after </a:t>
            </a:r>
            <a:r>
              <a:rPr lang="en-GB" b="1" dirty="0">
                <a:latin typeface="Aptos" panose="020B0004020202020204" pitchFamily="34" charset="0"/>
              </a:rPr>
              <a:t>2014</a:t>
            </a:r>
            <a:endParaRPr lang="en-GB" dirty="0">
              <a:latin typeface="Aptos" panose="020B0004020202020204" pitchFamily="34" charset="0"/>
            </a:endParaRPr>
          </a:p>
          <a:p>
            <a:endParaRPr lang="en-GB" i="1" dirty="0"/>
          </a:p>
          <a:p>
            <a:endParaRPr lang="en-GB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40459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4BD1-B258-2DA8-346F-B90E2326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Threshold for 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0EAD57-1B55-1FEB-E30B-B22055E7D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509" y="1690688"/>
            <a:ext cx="637798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50BECB-A66D-0081-5042-237E281E7D23}"/>
              </a:ext>
            </a:extLst>
          </p:cNvPr>
          <p:cNvSpPr txBox="1"/>
          <p:nvPr/>
        </p:nvSpPr>
        <p:spPr>
          <a:xfrm>
            <a:off x="7538223" y="3016251"/>
            <a:ext cx="4636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9E92C2-84E2-9149-F2F6-10309AD94D67}"/>
              </a:ext>
            </a:extLst>
          </p:cNvPr>
          <p:cNvSpPr txBox="1"/>
          <p:nvPr/>
        </p:nvSpPr>
        <p:spPr>
          <a:xfrm>
            <a:off x="6806506" y="3149252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Estimated threshold was 38 health workers per 10,000 population</a:t>
            </a:r>
          </a:p>
        </p:txBody>
      </p:sp>
    </p:spTree>
    <p:extLst>
      <p:ext uri="{BB962C8B-B14F-4D97-AF65-F5344CB8AC3E}">
        <p14:creationId xmlns:p14="http://schemas.microsoft.com/office/powerpoint/2010/main" val="405872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C6D72-119F-130C-14ED-AC0414B1C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KE" sz="40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62773-32AD-D6C8-71AD-EA12FA62B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1543050"/>
            <a:ext cx="6555347" cy="4652477"/>
          </a:xfrm>
        </p:spPr>
        <p:txBody>
          <a:bodyPr anchor="ctr">
            <a:normAutofit lnSpcReduction="10000"/>
          </a:bodyPr>
          <a:lstStyle/>
          <a:p>
            <a:r>
              <a:rPr lang="en-GB" dirty="0"/>
              <a:t>9 workers per 10,000 for Minimum level for basic service delivery</a:t>
            </a:r>
          </a:p>
          <a:p>
            <a:endParaRPr lang="en-GB" dirty="0"/>
          </a:p>
          <a:p>
            <a:r>
              <a:rPr lang="en-GB" dirty="0"/>
              <a:t>38 workers per 10,000 for population health improvements</a:t>
            </a:r>
          </a:p>
          <a:p>
            <a:endParaRPr lang="en-GB" dirty="0"/>
          </a:p>
          <a:p>
            <a:r>
              <a:rPr lang="en-GB" dirty="0"/>
              <a:t>Workforce investments should prioritize countries below 9 workers per 10,000.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Improving life expectancy requires broader health system investments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KE" sz="2000" dirty="0"/>
          </a:p>
        </p:txBody>
      </p:sp>
    </p:spTree>
    <p:extLst>
      <p:ext uri="{BB962C8B-B14F-4D97-AF65-F5344CB8AC3E}">
        <p14:creationId xmlns:p14="http://schemas.microsoft.com/office/powerpoint/2010/main" val="171591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375</Words>
  <Application>Microsoft Macintosh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Times New Roman</vt:lpstr>
      <vt:lpstr>Office Theme</vt:lpstr>
      <vt:lpstr>Health Workforce Density and Health System Performance in Africa </vt:lpstr>
      <vt:lpstr>Objectives</vt:lpstr>
      <vt:lpstr>Approach</vt:lpstr>
      <vt:lpstr>Results :UHC</vt:lpstr>
      <vt:lpstr>Threshold (UHC)</vt:lpstr>
      <vt:lpstr>Life Expectancy (LE)</vt:lpstr>
      <vt:lpstr>Threshold for 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Workforce Density and Health System Performance in Africa </dc:title>
  <dc:creator>Caroline Mugo</dc:creator>
  <cp:lastModifiedBy>Caroline Mugo</cp:lastModifiedBy>
  <cp:revision>2</cp:revision>
  <dcterms:created xsi:type="dcterms:W3CDTF">2026-03-06T06:35:35Z</dcterms:created>
  <dcterms:modified xsi:type="dcterms:W3CDTF">2026-03-14T05:49:09Z</dcterms:modified>
</cp:coreProperties>
</file>
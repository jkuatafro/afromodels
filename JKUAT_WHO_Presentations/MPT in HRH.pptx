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27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F30C-BFDF-C28F-BEBE-6E84AA6CC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AB6F4-55CA-149F-691C-758252CEF4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96961-779D-1738-D9AB-F0A0CECF3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C4BD1-8F8C-4686-8CB4-64E1F72736D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2CBC1-8F46-C621-9B9D-BFC308D8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78A69-175B-55C7-D55A-E03CFADD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29388-F711-48E1-B439-CD26AB732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2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9B6F-C078-D569-58DC-C6E55211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758D3-EAF6-9A7D-50EF-BF889194E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4612C-9947-2C3A-3B5E-8FA1EC52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C4BD1-8F8C-4686-8CB4-64E1F72736D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318E3-6912-468E-92B9-DACA80FA8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F304C-4ECC-896F-36B0-DCB69E2B8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29388-F711-48E1-B439-CD26AB732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65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6F33B-D0C4-4D30-7296-D94B3E902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B3376-A561-4938-6080-A5EEEB9DB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AD29E-F024-8F86-631B-7CAC079F4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C4BD1-8F8C-4686-8CB4-64E1F72736D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D6565-7574-F494-FFBA-E867FE37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C354D-ADBB-76F4-FC79-044DD3862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29388-F711-48E1-B439-CD26AB732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4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D1D8-380C-E785-FB23-72BDB8A1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F8535-A0DD-3E27-DF82-0F8B2B2F50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5EBDB-D358-A721-7534-C3F1E8A79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8EB4D-E278-7D75-8E81-279099476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C4BD1-8F8C-4686-8CB4-64E1F72736D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7D4A8-B61C-7EAC-F3E6-299B1DA5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5CAF8-B8CD-9021-F511-6159F9727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29388-F711-48E1-B439-CD26AB732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B508-5F08-74A7-4300-FBACADB31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1030-80C5-A44F-E450-F19B4E10B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566A-4D7B-E3AB-BD5F-CC25684B7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FF709-EA29-69FF-9917-40FD0633C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4BC8E0-1F51-D6DA-DAA1-AB494EC380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87BF0D-BB30-213D-E85A-CFF4B359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C4BD1-8F8C-4686-8CB4-64E1F72736D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AFC016-CE88-ECBE-8AFC-26591EEF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13BDAC-0A14-AE34-3386-FEF108CF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29388-F711-48E1-B439-CD26AB732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87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F9792-4CE1-CB45-C164-B02094D55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372229-260A-FCC5-AC95-55D9BD47C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C4BD1-8F8C-4686-8CB4-64E1F72736D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3963DE-2B61-063B-4EA7-223A83B40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40A84-A760-2E75-B7A0-F4CF5479A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29388-F711-48E1-B439-CD26AB732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97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BD4098-63B5-E4DF-55B2-D74223082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C4BD1-8F8C-4686-8CB4-64E1F72736D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F1EEB8-D6CE-589D-52AE-7FDA45A03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32E79-A2D0-FB82-BF6D-BDD5F077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29388-F711-48E1-B439-CD26AB732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25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E1C09-A417-0857-22B9-CC065E17F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E6AEB-85C0-51B1-F651-2AFC4810C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D262B-AB3E-0C7F-53A9-48847EFC5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D149-CA73-6AFF-3287-FF3B22AD4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C4BD1-8F8C-4686-8CB4-64E1F72736D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DC751-1744-DAF0-F5E3-ABED4F49A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C1153-87B8-C94D-27E3-4F75B8A1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29388-F711-48E1-B439-CD26AB732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8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9B31-8030-041E-D5B3-7545E7002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42E2E4-7684-5F73-EE2B-ECC46F1476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5C550-B24F-0A97-0759-AA1C3E643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80CB0-5DA2-CBA9-52C6-7215D304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C4BD1-8F8C-4686-8CB4-64E1F72736D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A2C96-6256-80BA-C80E-43128A5C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D9A03-6793-1D7B-DFC2-10BAE894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29388-F711-48E1-B439-CD26AB732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5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E3021-803E-1F64-0DED-08E1E6EB0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F8E1B-511E-0FC7-E2D3-D221CCE47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B543D-5A43-0E3D-279D-8EA68E54A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C4BD1-8F8C-4686-8CB4-64E1F72736D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A7D72-F0F0-E2B1-369C-CAC0659D5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82357-4158-D65E-BE7F-D0B3E473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29388-F711-48E1-B439-CD26AB732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95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94AF4-84EF-9AEA-750C-DF930A48EF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190A26-9F57-1585-4C4E-4F6C65C77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3B153-B83D-65A3-D3B7-71A9CB455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C4BD1-8F8C-4686-8CB4-64E1F72736D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670A5-1B60-9FEE-8A67-DBA280624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0F29D-2BFB-4653-E246-D2A109309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29388-F711-48E1-B439-CD26AB732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2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8C2E74-9B62-3386-FDA3-0F7C064B5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83733-5E7F-4E15-813C-AFE44735D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9B451-A455-81B3-A746-856DDAC75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7C4BD1-8F8C-4686-8CB4-64E1F72736D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CA64F-696A-97CF-1429-19A73BA02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8182D-A63C-CC0F-3921-F56BA67E5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229388-F711-48E1-B439-CD26AB732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69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71CAA-0E8F-4DD0-E4A8-C2CA47285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4770" y="1466491"/>
            <a:ext cx="9144000" cy="364798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Application of Modern Portfolio Theory in HRH for skill set optimization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sz="4400" dirty="0">
                <a:solidFill>
                  <a:schemeClr val="accent6"/>
                </a:solidFill>
              </a:rPr>
              <a:t>JKUAT TEAM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C69702-CC11-46AE-F0CA-8E431394C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51" y="69012"/>
            <a:ext cx="1790700" cy="1666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55E8BD-D8F3-108C-EDD7-86BBF8855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749" y="0"/>
            <a:ext cx="2032240" cy="160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362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ightbulb idea concept">
            <a:extLst>
              <a:ext uri="{FF2B5EF4-FFF2-40B4-BE49-F238E27FC236}">
                <a16:creationId xmlns:a16="http://schemas.microsoft.com/office/drawing/2014/main" id="{18F37258-E0D8-64D6-06FB-A2EEF9B046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5730"/>
          <a:stretch>
            <a:fillRect/>
          </a:stretch>
        </p:blipFill>
        <p:spPr>
          <a:xfrm>
            <a:off x="0" y="-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00935F-9455-694C-9D5A-9F55128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1886" y="776378"/>
            <a:ext cx="6786113" cy="144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Core idea: To treat HRH workforce like a portfolio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C1C5C-837C-01B9-7DFF-FD7FE5BE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B245B-6D8E-F513-A97C-0BE90099302D}"/>
              </a:ext>
            </a:extLst>
          </p:cNvPr>
          <p:cNvSpPr txBox="1"/>
          <p:nvPr/>
        </p:nvSpPr>
        <p:spPr>
          <a:xfrm>
            <a:off x="4704272" y="2388303"/>
            <a:ext cx="805707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MPT HRH planning is useful because: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Its outcome based</a:t>
            </a:r>
            <a:br>
              <a:rPr lang="en-US" sz="2400" dirty="0"/>
            </a:br>
            <a:r>
              <a:rPr lang="en-US" sz="2400" dirty="0"/>
              <a:t>It’s cost aware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It’s uncertainty aware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It’s system aware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Does optimal allocation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Ideally, MPT allows for optimal workforce mix under uncertainty.</a:t>
            </a:r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946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CF39-E69B-9B53-7DB5-9032C5D3B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Equivalents of MPT and HRH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9DB74-CAD8-55EE-9E13-469C6ED10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810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 Asset- Health Worker Cadres (Nurses, Midwives, Dentists, Pharmacists and doctors)</a:t>
            </a:r>
          </a:p>
          <a:p>
            <a:r>
              <a:rPr lang="en-US" dirty="0"/>
              <a:t> Returns- Health Outcomes- DALYs</a:t>
            </a:r>
          </a:p>
          <a:p>
            <a:r>
              <a:rPr lang="en-US" dirty="0"/>
              <a:t> Risk- Attrition, Shortages</a:t>
            </a:r>
          </a:p>
          <a:p>
            <a:r>
              <a:rPr lang="en-US" dirty="0"/>
              <a:t> Portfolio- Workforce Composition</a:t>
            </a:r>
          </a:p>
          <a:p>
            <a:r>
              <a:rPr lang="en-US" dirty="0"/>
              <a:t> Covariance- shared system shocks. This is because cadres are not independent, e.g.  doctors and nurses are complementary</a:t>
            </a:r>
          </a:p>
          <a:p>
            <a:r>
              <a:rPr lang="en-US" dirty="0"/>
              <a:t> Diversification- Skill-mix distribution across cadres</a:t>
            </a:r>
          </a:p>
          <a:p>
            <a:r>
              <a:rPr lang="en-US" dirty="0"/>
              <a:t> Efficient frontier- Optimal workforce mix under budget constraints</a:t>
            </a:r>
          </a:p>
        </p:txBody>
      </p:sp>
    </p:spTree>
    <p:extLst>
      <p:ext uri="{BB962C8B-B14F-4D97-AF65-F5344CB8AC3E}">
        <p14:creationId xmlns:p14="http://schemas.microsoft.com/office/powerpoint/2010/main" val="75149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3F88E-364C-3555-B49F-6FEF2B551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651CD-2A98-4234-48C9-91E5F3412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483743" cy="724619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Output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2E51317C-20A6-7C92-4E3C-506F01056E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3397307"/>
              </p:ext>
            </p:extLst>
          </p:nvPr>
        </p:nvGraphicFramePr>
        <p:xfrm>
          <a:off x="1483746" y="0"/>
          <a:ext cx="10708254" cy="68579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4303">
                  <a:extLst>
                    <a:ext uri="{9D8B030D-6E8A-4147-A177-3AD203B41FA5}">
                      <a16:colId xmlns:a16="http://schemas.microsoft.com/office/drawing/2014/main" val="2696485868"/>
                    </a:ext>
                  </a:extLst>
                </a:gridCol>
                <a:gridCol w="1442396">
                  <a:extLst>
                    <a:ext uri="{9D8B030D-6E8A-4147-A177-3AD203B41FA5}">
                      <a16:colId xmlns:a16="http://schemas.microsoft.com/office/drawing/2014/main" val="3544413168"/>
                    </a:ext>
                  </a:extLst>
                </a:gridCol>
                <a:gridCol w="2406467">
                  <a:extLst>
                    <a:ext uri="{9D8B030D-6E8A-4147-A177-3AD203B41FA5}">
                      <a16:colId xmlns:a16="http://schemas.microsoft.com/office/drawing/2014/main" val="3636229452"/>
                    </a:ext>
                  </a:extLst>
                </a:gridCol>
                <a:gridCol w="2005387">
                  <a:extLst>
                    <a:ext uri="{9D8B030D-6E8A-4147-A177-3AD203B41FA5}">
                      <a16:colId xmlns:a16="http://schemas.microsoft.com/office/drawing/2014/main" val="2355366774"/>
                    </a:ext>
                  </a:extLst>
                </a:gridCol>
                <a:gridCol w="2139082">
                  <a:extLst>
                    <a:ext uri="{9D8B030D-6E8A-4147-A177-3AD203B41FA5}">
                      <a16:colId xmlns:a16="http://schemas.microsoft.com/office/drawing/2014/main" val="2683617063"/>
                    </a:ext>
                  </a:extLst>
                </a:gridCol>
                <a:gridCol w="1470619">
                  <a:extLst>
                    <a:ext uri="{9D8B030D-6E8A-4147-A177-3AD203B41FA5}">
                      <a16:colId xmlns:a16="http://schemas.microsoft.com/office/drawing/2014/main" val="1495366622"/>
                    </a:ext>
                  </a:extLst>
                </a:gridCol>
              </a:tblGrid>
              <a:tr h="7479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Country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Nurses      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Midwives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Dentists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Pharmacists     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Doctors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extLst>
                  <a:ext uri="{0D108BD9-81ED-4DB2-BD59-A6C34878D82A}">
                    <a16:rowId xmlns:a16="http://schemas.microsoft.com/office/drawing/2014/main" val="1076249116"/>
                  </a:ext>
                </a:extLst>
              </a:tr>
              <a:tr h="3476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Algeria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0.1475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0.1134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0.1614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0.1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0.4777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extLst>
                  <a:ext uri="{0D108BD9-81ED-4DB2-BD59-A6C34878D82A}">
                    <a16:rowId xmlns:a16="http://schemas.microsoft.com/office/drawing/2014/main" val="3303384005"/>
                  </a:ext>
                </a:extLst>
              </a:tr>
              <a:tr h="3476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Angola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0.7998 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0.0196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0.0099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0.0110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0.1598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extLst>
                  <a:ext uri="{0D108BD9-81ED-4DB2-BD59-A6C34878D82A}">
                    <a16:rowId xmlns:a16="http://schemas.microsoft.com/office/drawing/2014/main" val="3173424480"/>
                  </a:ext>
                </a:extLst>
              </a:tr>
              <a:tr h="8192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Benin</a:t>
                      </a: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0.5043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0.3114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0.0061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0.0693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0.1090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extLst>
                  <a:ext uri="{0D108BD9-81ED-4DB2-BD59-A6C34878D82A}">
                    <a16:rowId xmlns:a16="http://schemas.microsoft.com/office/drawing/2014/main" val="2764341936"/>
                  </a:ext>
                </a:extLst>
              </a:tr>
              <a:tr h="3476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Botswana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0.6529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0.2303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0.0137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0.0210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0.0821 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extLst>
                  <a:ext uri="{0D108BD9-81ED-4DB2-BD59-A6C34878D82A}">
                    <a16:rowId xmlns:a16="http://schemas.microsoft.com/office/drawing/2014/main" val="730706989"/>
                  </a:ext>
                </a:extLst>
              </a:tr>
              <a:tr h="8192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Cabo Verde</a:t>
                      </a: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0.7132</a:t>
                      </a: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0.0291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0.0129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0.0065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 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0.2382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 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extLst>
                  <a:ext uri="{0D108BD9-81ED-4DB2-BD59-A6C34878D82A}">
                    <a16:rowId xmlns:a16="http://schemas.microsoft.com/office/drawing/2014/main" val="2320652429"/>
                  </a:ext>
                </a:extLst>
              </a:tr>
              <a:tr h="8192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Cameroon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0.6145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0.0675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 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0.0102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0.0967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0.2111 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extLst>
                  <a:ext uri="{0D108BD9-81ED-4DB2-BD59-A6C34878D82A}">
                    <a16:rowId xmlns:a16="http://schemas.microsoft.com/office/drawing/2014/main" val="3726611853"/>
                  </a:ext>
                </a:extLst>
              </a:tr>
              <a:tr h="971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Central African Republic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0.5883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0.3661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 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0.0007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0.0011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 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0.0438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 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extLst>
                  <a:ext uri="{0D108BD9-81ED-4DB2-BD59-A6C34878D82A}">
                    <a16:rowId xmlns:a16="http://schemas.microsoft.com/office/drawing/2014/main" val="2169237236"/>
                  </a:ext>
                </a:extLst>
              </a:tr>
              <a:tr h="8192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Chad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0.5715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0.2394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0.0024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0.0292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0.1575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 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extLst>
                  <a:ext uri="{0D108BD9-81ED-4DB2-BD59-A6C34878D82A}">
                    <a16:rowId xmlns:a16="http://schemas.microsoft.com/office/drawing/2014/main" val="2628122027"/>
                  </a:ext>
                </a:extLst>
              </a:tr>
              <a:tr h="8192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Comoros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0.4195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0.4019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0.0109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0.0362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</a:rPr>
                        <a:t> </a:t>
                      </a:r>
                      <a:endParaRPr lang="en-US" sz="20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0.1314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</a:rPr>
                        <a:t> </a:t>
                      </a:r>
                      <a:endParaRPr lang="en-US" sz="20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02" marR="55202" marT="0" marB="0"/>
                </a:tc>
                <a:extLst>
                  <a:ext uri="{0D108BD9-81ED-4DB2-BD59-A6C34878D82A}">
                    <a16:rowId xmlns:a16="http://schemas.microsoft.com/office/drawing/2014/main" val="3800106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934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3FADE-EC1F-02B7-9AE9-A60964A65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E4F60-6783-364B-B81C-DC84112DB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optimization yields the </a:t>
            </a:r>
            <a:r>
              <a:rPr lang="en-US" b="1" dirty="0"/>
              <a:t>optimal allocation of the health workforce budget across cadres per country</a:t>
            </a:r>
            <a:r>
              <a:rPr lang="en-US" dirty="0"/>
              <a:t>.</a:t>
            </a:r>
          </a:p>
          <a:p>
            <a:r>
              <a:rPr lang="en-US" dirty="0"/>
              <a:t>The Fig 1 gives how should HRH funds be distributed across cadres in different countries.</a:t>
            </a:r>
          </a:p>
          <a:p>
            <a:pPr marL="0" indent="0">
              <a:buNone/>
            </a:pPr>
            <a:r>
              <a:rPr lang="en-US" dirty="0"/>
              <a:t>For example, Angola case: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80 % of the health workforce salary budget should go to nurses,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16 % to doctors, etc., to maximize DALYs per USD.</a:t>
            </a:r>
          </a:p>
        </p:txBody>
      </p:sp>
    </p:spTree>
    <p:extLst>
      <p:ext uri="{BB962C8B-B14F-4D97-AF65-F5344CB8AC3E}">
        <p14:creationId xmlns:p14="http://schemas.microsoft.com/office/powerpoint/2010/main" val="1235904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E6C39-8899-5276-70C4-F5BB864F7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Messaging from the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9FE0-3E52-14DF-1225-08BEDC462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913" y="1047884"/>
            <a:ext cx="10515600" cy="476223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Skill-mix matters more than workforce size alone. This is shown by large variation in optimal cadre shares across countries.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Optimizing the skill-mix can substantially improve health outcomes without increasing total workforce spending</a:t>
            </a:r>
          </a:p>
          <a:p>
            <a:r>
              <a:rPr lang="en-US" dirty="0"/>
              <a:t>Nurses and midwives are consistently high-value cadres. E.g. </a:t>
            </a:r>
            <a:r>
              <a:rPr lang="en-US" dirty="0" err="1"/>
              <a:t>Botsawana</a:t>
            </a:r>
            <a:r>
              <a:rPr lang="en-US" dirty="0"/>
              <a:t> nurses 0.658, midwives 0.2303</a:t>
            </a:r>
          </a:p>
          <a:p>
            <a:r>
              <a:rPr lang="en-US" dirty="0">
                <a:solidFill>
                  <a:srgbClr val="00B050"/>
                </a:solidFill>
              </a:rPr>
              <a:t>Strengthening nursing and midwifery workforces is among the most cost-effective strategies to accelerate UHC and SDG3 outcomes.</a:t>
            </a:r>
            <a:r>
              <a:rPr lang="en-US" dirty="0"/>
              <a:t> </a:t>
            </a:r>
          </a:p>
          <a:p>
            <a:r>
              <a:rPr lang="en-US" dirty="0"/>
              <a:t>Optimal mixes differ by country context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There is no universal workforce composition. Country-tailored HRH planning approach is appropriate</a:t>
            </a:r>
          </a:p>
          <a:p>
            <a:r>
              <a:rPr lang="en-US" dirty="0"/>
              <a:t>Efficiency gains are possible without increasing spending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Reallocating existing workforce expenditure across cadres could improve health outcomes without additional fiscal burden.</a:t>
            </a:r>
          </a:p>
        </p:txBody>
      </p:sp>
    </p:spTree>
    <p:extLst>
      <p:ext uri="{BB962C8B-B14F-4D97-AF65-F5344CB8AC3E}">
        <p14:creationId xmlns:p14="http://schemas.microsoft.com/office/powerpoint/2010/main" val="2180311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AC394-AF9C-A2B0-EE57-2B49A489C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 algn="ctr">
              <a:buNone/>
            </a:pPr>
            <a:r>
              <a:rPr lang="en-US" sz="4000" dirty="0">
                <a:solidFill>
                  <a:srgbClr val="C0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86719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2173</TotalTime>
  <Words>403</Words>
  <Application>Microsoft Office PowerPoint</Application>
  <PresentationFormat>Widescreen</PresentationFormat>
  <Paragraphs>117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Application of Modern Portfolio Theory in HRH for skill set optimization JKUAT TEAM</vt:lpstr>
      <vt:lpstr>Core idea: To treat HRH workforce like a portfolio</vt:lpstr>
      <vt:lpstr>Equivalents of MPT and HRH</vt:lpstr>
      <vt:lpstr>Output</vt:lpstr>
      <vt:lpstr>Interpretation </vt:lpstr>
      <vt:lpstr>Messaging from the optimization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Winnie Chacha</dc:creator>
  <cp:lastModifiedBy>Winnie Chacha</cp:lastModifiedBy>
  <cp:revision>16</cp:revision>
  <dcterms:created xsi:type="dcterms:W3CDTF">2026-02-22T18:07:27Z</dcterms:created>
  <dcterms:modified xsi:type="dcterms:W3CDTF">2026-03-04T03:20:51Z</dcterms:modified>
</cp:coreProperties>
</file>
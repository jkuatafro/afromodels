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64" r:id="rId4"/>
    <p:sldId id="265" r:id="rId5"/>
    <p:sldId id="266" r:id="rId6"/>
    <p:sldId id="267"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0" autoAdjust="0"/>
    <p:restoredTop sz="94660"/>
  </p:normalViewPr>
  <p:slideViewPr>
    <p:cSldViewPr snapToGrid="0">
      <p:cViewPr>
        <p:scale>
          <a:sx n="49" d="100"/>
          <a:sy n="49" d="100"/>
        </p:scale>
        <p:origin x="1771" y="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224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532974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177988-1040-4D94-A1A4-72818F46F5F5}"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8600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177988-1040-4D94-A1A4-72818F46F5F5}"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872036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177988-1040-4D94-A1A4-72818F46F5F5}"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848264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177988-1040-4D94-A1A4-72818F46F5F5}"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520603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1177988-1040-4D94-A1A4-72818F46F5F5}" type="datetimeFigureOut">
              <a:rPr lang="en-US" smtClean="0"/>
              <a:t>3/15/2026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3626768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1177988-1040-4D94-A1A4-72818F46F5F5}" type="datetimeFigureOut">
              <a:rPr lang="en-US" smtClean="0"/>
              <a:t>3/15/2026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7F26C80-AA2B-46C7-AD5A-BB8F5C90DEBB}" type="slidenum">
              <a:rPr lang="en-US" smtClean="0"/>
              <a:t>‹#›</a:t>
            </a:fld>
            <a:endParaRPr lang="en-US"/>
          </a:p>
        </p:txBody>
      </p:sp>
    </p:spTree>
    <p:extLst>
      <p:ext uri="{BB962C8B-B14F-4D97-AF65-F5344CB8AC3E}">
        <p14:creationId xmlns:p14="http://schemas.microsoft.com/office/powerpoint/2010/main" val="1762403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177988-1040-4D94-A1A4-72818F46F5F5}"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943211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077567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1614612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1177988-1040-4D94-A1A4-72818F46F5F5}" type="datetimeFigureOut">
              <a:rPr lang="en-US" smtClean="0"/>
              <a:t>3/15/2026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7F26C80-AA2B-46C7-AD5A-BB8F5C90DEB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06726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DAA6C-7CB4-DCF7-1F35-5032815FEA49}"/>
              </a:ext>
            </a:extLst>
          </p:cNvPr>
          <p:cNvSpPr>
            <a:spLocks noGrp="1"/>
          </p:cNvSpPr>
          <p:nvPr>
            <p:ph type="ctrTitle"/>
          </p:nvPr>
        </p:nvSpPr>
        <p:spPr>
          <a:xfrm>
            <a:off x="600075" y="2878844"/>
            <a:ext cx="10991850" cy="2387600"/>
          </a:xfrm>
        </p:spPr>
        <p:txBody>
          <a:bodyPr>
            <a:normAutofit fontScale="90000"/>
          </a:bodyPr>
          <a:lstStyle/>
          <a:p>
            <a:r>
              <a:rPr lang="en-US" sz="5600" b="1" dirty="0"/>
              <a:t>Investing in Health Systems: Insights into How Health Workforce Density Shapes UHC Density and Key Health Outcomes</a:t>
            </a:r>
            <a:br>
              <a:rPr lang="en-US" dirty="0"/>
            </a:br>
            <a:endParaRPr lang="en-US" dirty="0"/>
          </a:p>
        </p:txBody>
      </p:sp>
    </p:spTree>
    <p:extLst>
      <p:ext uri="{BB962C8B-B14F-4D97-AF65-F5344CB8AC3E}">
        <p14:creationId xmlns:p14="http://schemas.microsoft.com/office/powerpoint/2010/main" val="3074044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02D2-C9B1-BA7B-E8BE-D3AF45095775}"/>
              </a:ext>
            </a:extLst>
          </p:cNvPr>
          <p:cNvSpPr>
            <a:spLocks noGrp="1"/>
          </p:cNvSpPr>
          <p:nvPr>
            <p:ph type="title"/>
          </p:nvPr>
        </p:nvSpPr>
        <p:spPr/>
        <p:txBody>
          <a:bodyPr/>
          <a:lstStyle/>
          <a:p>
            <a:r>
              <a:rPr lang="en-US" b="1" dirty="0"/>
              <a:t>Background</a:t>
            </a:r>
          </a:p>
        </p:txBody>
      </p:sp>
      <p:sp>
        <p:nvSpPr>
          <p:cNvPr id="3" name="Content Placeholder 2">
            <a:extLst>
              <a:ext uri="{FF2B5EF4-FFF2-40B4-BE49-F238E27FC236}">
                <a16:creationId xmlns:a16="http://schemas.microsoft.com/office/drawing/2014/main" id="{661031F2-AE6D-D01F-1CB8-53DA3400063B}"/>
              </a:ext>
            </a:extLst>
          </p:cNvPr>
          <p:cNvSpPr>
            <a:spLocks noGrp="1"/>
          </p:cNvSpPr>
          <p:nvPr>
            <p:ph idx="1"/>
          </p:nvPr>
        </p:nvSpPr>
        <p:spPr/>
        <p:txBody>
          <a:bodyPr/>
          <a:lstStyle/>
          <a:p>
            <a:pPr algn="just">
              <a:buFont typeface="Wingdings" panose="05000000000000000000" pitchFamily="2" charset="2"/>
              <a:buChar char="§"/>
            </a:pPr>
            <a:r>
              <a:rPr lang="en-US" dirty="0"/>
              <a:t> Health workforce density refers to the number of health care professionals, such as doctors, nurses, midwives, pharmacists, dentists, etc., available per unit of population where in our case the number is measured per 10,000 population. </a:t>
            </a:r>
          </a:p>
          <a:p>
            <a:pPr algn="just">
              <a:buFont typeface="Wingdings" panose="05000000000000000000" pitchFamily="2" charset="2"/>
              <a:buChar char="§"/>
            </a:pPr>
            <a:r>
              <a:rPr lang="en-US" dirty="0"/>
              <a:t>Evidence from the World Health Organization (WHO) demonstrates that a minimum density of 44.5 doctors, nurses, and midwives per 10,000 population is essential to deliver essential health services and sustain progress toward UHC (World Health Organization, 2025). </a:t>
            </a:r>
          </a:p>
          <a:p>
            <a:pPr algn="just">
              <a:buFont typeface="Wingdings" panose="05000000000000000000" pitchFamily="2" charset="2"/>
              <a:buChar char="§"/>
            </a:pPr>
            <a:r>
              <a:rPr lang="en-US" dirty="0"/>
              <a:t>Countries that reach or surpass this threshold consistently record service coverage indices above 70%, reflecting improved access, quality, and equity in care (Ahmat, </a:t>
            </a:r>
            <a:r>
              <a:rPr lang="en-US" dirty="0" err="1"/>
              <a:t>Asamani</a:t>
            </a:r>
            <a:r>
              <a:rPr lang="en-US" dirty="0"/>
              <a:t>, &amp; </a:t>
            </a:r>
            <a:r>
              <a:rPr lang="en-US" dirty="0" err="1"/>
              <a:t>Illou</a:t>
            </a:r>
            <a:r>
              <a:rPr lang="en-US" dirty="0"/>
              <a:t>, 2022).  </a:t>
            </a:r>
          </a:p>
          <a:p>
            <a:pPr algn="just">
              <a:buFont typeface="Wingdings" panose="05000000000000000000" pitchFamily="2" charset="2"/>
              <a:buChar char="§"/>
            </a:pPr>
            <a:r>
              <a:rPr lang="en-US" dirty="0"/>
              <a:t>To understand whether equal distribution of health workers across cadres can suffice, the average observed proportion of health workers per 10,000 population for each cadre that met the 70% UHC, as per the historical dataset, was calculated and recorded in Table 1. </a:t>
            </a:r>
          </a:p>
          <a:p>
            <a:endParaRPr lang="en-US" dirty="0"/>
          </a:p>
        </p:txBody>
      </p:sp>
    </p:spTree>
    <p:extLst>
      <p:ext uri="{BB962C8B-B14F-4D97-AF65-F5344CB8AC3E}">
        <p14:creationId xmlns:p14="http://schemas.microsoft.com/office/powerpoint/2010/main" val="1831417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0FE0-A14C-6002-9857-DF11F8969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97279-39C5-3001-9F3C-0CFEC704A956}"/>
              </a:ext>
            </a:extLst>
          </p:cNvPr>
          <p:cNvSpPr>
            <a:spLocks noGrp="1"/>
          </p:cNvSpPr>
          <p:nvPr>
            <p:ph type="title"/>
          </p:nvPr>
        </p:nvSpPr>
        <p:spPr/>
        <p:txBody>
          <a:bodyPr/>
          <a:lstStyle/>
          <a:p>
            <a:r>
              <a:rPr lang="en-US" b="1" dirty="0"/>
              <a:t>Distribution of HWF Cadres for 70% UHC</a:t>
            </a:r>
          </a:p>
        </p:txBody>
      </p:sp>
      <p:sp>
        <p:nvSpPr>
          <p:cNvPr id="3" name="Content Placeholder 2">
            <a:extLst>
              <a:ext uri="{FF2B5EF4-FFF2-40B4-BE49-F238E27FC236}">
                <a16:creationId xmlns:a16="http://schemas.microsoft.com/office/drawing/2014/main" id="{1C1964D1-BEAB-5293-B76B-DD13FD276F4E}"/>
              </a:ext>
            </a:extLst>
          </p:cNvPr>
          <p:cNvSpPr>
            <a:spLocks noGrp="1"/>
          </p:cNvSpPr>
          <p:nvPr>
            <p:ph idx="1"/>
          </p:nvPr>
        </p:nvSpPr>
        <p:spPr/>
        <p:txBody>
          <a:bodyPr>
            <a:normAutofit/>
          </a:bodyPr>
          <a:lstStyle/>
          <a:p>
            <a:pPr algn="just">
              <a:buFont typeface="Wingdings" panose="05000000000000000000" pitchFamily="2" charset="2"/>
              <a:buChar char="§"/>
            </a:pPr>
            <a:r>
              <a:rPr lang="en-US" dirty="0"/>
              <a:t>It was observed (see Table 1) that, on average, a minimum of about 11.09 doctors, 2.19 dentists, 28.53 nurses and midwives, and 2.81 pharmacists are required per 10,000 population to achieve 70% UHC levels.</a:t>
            </a:r>
          </a:p>
          <a:p>
            <a:pPr algn="just">
              <a:buFont typeface="Wingdings" panose="05000000000000000000" pitchFamily="2" charset="2"/>
              <a:buChar char="§"/>
            </a:pPr>
            <a:endParaRPr lang="en-US" dirty="0"/>
          </a:p>
          <a:p>
            <a:pPr algn="just">
              <a:buFont typeface="Wingdings" panose="05000000000000000000" pitchFamily="2" charset="2"/>
              <a:buChar char="§"/>
            </a:pPr>
            <a:endParaRPr lang="en-US" dirty="0"/>
          </a:p>
          <a:p>
            <a:pPr algn="just">
              <a:buFont typeface="Wingdings" panose="05000000000000000000" pitchFamily="2" charset="2"/>
              <a:buChar char="§"/>
            </a:pPr>
            <a:endParaRPr lang="en-US" dirty="0"/>
          </a:p>
          <a:p>
            <a:pPr algn="just">
              <a:buFont typeface="Wingdings" panose="05000000000000000000" pitchFamily="2" charset="2"/>
              <a:buChar char="§"/>
            </a:pPr>
            <a:endParaRPr lang="en-US" dirty="0"/>
          </a:p>
          <a:p>
            <a:pPr algn="just">
              <a:buFont typeface="Wingdings" panose="05000000000000000000" pitchFamily="2" charset="2"/>
              <a:buChar char="§"/>
            </a:pPr>
            <a:endParaRPr lang="en-US" dirty="0"/>
          </a:p>
          <a:p>
            <a:pPr algn="just">
              <a:buFont typeface="Wingdings" panose="05000000000000000000" pitchFamily="2" charset="2"/>
              <a:buChar char="§"/>
            </a:pPr>
            <a:r>
              <a:rPr lang="en-US" dirty="0"/>
              <a:t> This implied that the journey to achieving 100% Universal Health Coverage (UHC)</a:t>
            </a:r>
            <a:r>
              <a:rPr lang="en-US" b="1" i="1" dirty="0"/>
              <a:t> doesn’t require an equitable but rather a well-distributed health workforce across cadres</a:t>
            </a:r>
            <a:r>
              <a:rPr lang="en-US" i="1" dirty="0"/>
              <a:t>.</a:t>
            </a:r>
            <a:r>
              <a:rPr lang="en-US" dirty="0"/>
              <a:t> </a:t>
            </a:r>
          </a:p>
        </p:txBody>
      </p:sp>
      <p:graphicFrame>
        <p:nvGraphicFramePr>
          <p:cNvPr id="4" name="Table 3">
            <a:extLst>
              <a:ext uri="{FF2B5EF4-FFF2-40B4-BE49-F238E27FC236}">
                <a16:creationId xmlns:a16="http://schemas.microsoft.com/office/drawing/2014/main" id="{E77295B0-1C72-6AB1-A9B1-E00B41468F7E}"/>
              </a:ext>
            </a:extLst>
          </p:cNvPr>
          <p:cNvGraphicFramePr>
            <a:graphicFrameLocks noGrp="1"/>
          </p:cNvGraphicFramePr>
          <p:nvPr>
            <p:extLst>
              <p:ext uri="{D42A27DB-BD31-4B8C-83A1-F6EECF244321}">
                <p14:modId xmlns:p14="http://schemas.microsoft.com/office/powerpoint/2010/main" val="2250665880"/>
              </p:ext>
            </p:extLst>
          </p:nvPr>
        </p:nvGraphicFramePr>
        <p:xfrm>
          <a:off x="1683434" y="2760590"/>
          <a:ext cx="8886091" cy="2193648"/>
        </p:xfrm>
        <a:graphic>
          <a:graphicData uri="http://schemas.openxmlformats.org/drawingml/2006/table">
            <a:tbl>
              <a:tblPr firstRow="1" firstCol="1" bandRow="1">
                <a:tableStyleId>{5C22544A-7EE6-4342-B048-85BDC9FD1C3A}</a:tableStyleId>
              </a:tblPr>
              <a:tblGrid>
                <a:gridCol w="3129490">
                  <a:extLst>
                    <a:ext uri="{9D8B030D-6E8A-4147-A177-3AD203B41FA5}">
                      <a16:colId xmlns:a16="http://schemas.microsoft.com/office/drawing/2014/main" val="13935279"/>
                    </a:ext>
                  </a:extLst>
                </a:gridCol>
                <a:gridCol w="871898">
                  <a:extLst>
                    <a:ext uri="{9D8B030D-6E8A-4147-A177-3AD203B41FA5}">
                      <a16:colId xmlns:a16="http://schemas.microsoft.com/office/drawing/2014/main" val="2549426455"/>
                    </a:ext>
                  </a:extLst>
                </a:gridCol>
                <a:gridCol w="921720">
                  <a:extLst>
                    <a:ext uri="{9D8B030D-6E8A-4147-A177-3AD203B41FA5}">
                      <a16:colId xmlns:a16="http://schemas.microsoft.com/office/drawing/2014/main" val="747727471"/>
                    </a:ext>
                  </a:extLst>
                </a:gridCol>
                <a:gridCol w="1984605">
                  <a:extLst>
                    <a:ext uri="{9D8B030D-6E8A-4147-A177-3AD203B41FA5}">
                      <a16:colId xmlns:a16="http://schemas.microsoft.com/office/drawing/2014/main" val="964458863"/>
                    </a:ext>
                  </a:extLst>
                </a:gridCol>
                <a:gridCol w="1359746">
                  <a:extLst>
                    <a:ext uri="{9D8B030D-6E8A-4147-A177-3AD203B41FA5}">
                      <a16:colId xmlns:a16="http://schemas.microsoft.com/office/drawing/2014/main" val="420031023"/>
                    </a:ext>
                  </a:extLst>
                </a:gridCol>
                <a:gridCol w="618632">
                  <a:extLst>
                    <a:ext uri="{9D8B030D-6E8A-4147-A177-3AD203B41FA5}">
                      <a16:colId xmlns:a16="http://schemas.microsoft.com/office/drawing/2014/main" val="124096140"/>
                    </a:ext>
                  </a:extLst>
                </a:gridCol>
              </a:tblGrid>
              <a:tr h="621604">
                <a:tc gridSpan="6">
                  <a:txBody>
                    <a:bodyPr/>
                    <a:lstStyle/>
                    <a:p>
                      <a:pPr marL="0" marR="0" algn="ctr">
                        <a:lnSpc>
                          <a:spcPct val="115000"/>
                        </a:lnSpc>
                        <a:spcAft>
                          <a:spcPts val="800"/>
                        </a:spcAft>
                        <a:buNone/>
                      </a:pPr>
                      <a:r>
                        <a:rPr lang="en-US" sz="1600" kern="0" dirty="0">
                          <a:effectLst/>
                        </a:rPr>
                        <a:t>Table 1: Descriptive Analysis of the Minimum Achievement of 70 % UHC per 10,000 population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33085868"/>
                  </a:ext>
                </a:extLst>
              </a:tr>
              <a:tr h="621604">
                <a:tc>
                  <a:txBody>
                    <a:bodyPr/>
                    <a:lstStyle/>
                    <a:p>
                      <a:pPr marL="0" marR="0">
                        <a:lnSpc>
                          <a:spcPct val="115000"/>
                        </a:lnSpc>
                        <a:spcAft>
                          <a:spcPts val="800"/>
                        </a:spcAft>
                        <a:buNone/>
                      </a:pPr>
                      <a:r>
                        <a:rPr lang="en-US" sz="1600" kern="0" dirty="0">
                          <a:effectLst/>
                        </a:rPr>
                        <a:t>Cadre</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dirty="0">
                          <a:effectLst/>
                        </a:rPr>
                        <a:t>Doctors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dirty="0">
                          <a:effectLst/>
                        </a:rPr>
                        <a:t>Dentists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a:effectLst/>
                        </a:rPr>
                        <a:t>Nursing_Midwifery</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a:effectLst/>
                        </a:rPr>
                        <a:t>Pharmacists</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a:effectLst/>
                        </a:rPr>
                        <a:t>Total</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781422905"/>
                  </a:ext>
                </a:extLst>
              </a:tr>
              <a:tr h="621604">
                <a:tc>
                  <a:txBody>
                    <a:bodyPr/>
                    <a:lstStyle/>
                    <a:p>
                      <a:pPr marL="0" marR="0">
                        <a:lnSpc>
                          <a:spcPct val="115000"/>
                        </a:lnSpc>
                        <a:spcAft>
                          <a:spcPts val="800"/>
                        </a:spcAft>
                        <a:buNone/>
                      </a:pPr>
                      <a:r>
                        <a:rPr lang="en-US" sz="1600" kern="0" dirty="0">
                          <a:effectLst/>
                        </a:rPr>
                        <a:t>Average per 10,000 population</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a:effectLst/>
                        </a:rPr>
                        <a:t>11.09</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dirty="0">
                          <a:effectLst/>
                        </a:rPr>
                        <a:t>2.19</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a:effectLst/>
                        </a:rPr>
                        <a:t>28.53</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a:effectLst/>
                        </a:rPr>
                        <a:t>2.81</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a:effectLst/>
                        </a:rPr>
                        <a:t>44.61</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34481274"/>
                  </a:ext>
                </a:extLst>
              </a:tr>
              <a:tr h="328836">
                <a:tc>
                  <a:txBody>
                    <a:bodyPr/>
                    <a:lstStyle/>
                    <a:p>
                      <a:pPr marL="0" marR="0">
                        <a:lnSpc>
                          <a:spcPct val="115000"/>
                        </a:lnSpc>
                        <a:spcAft>
                          <a:spcPts val="800"/>
                        </a:spcAft>
                        <a:buNone/>
                      </a:pPr>
                      <a:r>
                        <a:rPr lang="en-US" sz="1600" kern="0">
                          <a:effectLst/>
                        </a:rPr>
                        <a:t>Proportion per doctor</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a:effectLst/>
                        </a:rPr>
                        <a:t>1.000</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a:effectLst/>
                        </a:rPr>
                        <a:t>0.197</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a:effectLst/>
                        </a:rPr>
                        <a:t>2.573</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800"/>
                        </a:spcAft>
                        <a:buNone/>
                      </a:pPr>
                      <a:r>
                        <a:rPr lang="en-US" sz="1600" kern="0">
                          <a:effectLst/>
                        </a:rPr>
                        <a:t>0.254</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15000"/>
                        </a:lnSpc>
                        <a:buNone/>
                      </a:pPr>
                      <a:endParaRPr lang="en-US" sz="1600" kern="100" dirty="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189559831"/>
                  </a:ext>
                </a:extLst>
              </a:tr>
            </a:tbl>
          </a:graphicData>
        </a:graphic>
      </p:graphicFrame>
    </p:spTree>
    <p:extLst>
      <p:ext uri="{BB962C8B-B14F-4D97-AF65-F5344CB8AC3E}">
        <p14:creationId xmlns:p14="http://schemas.microsoft.com/office/powerpoint/2010/main" val="3172661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135B0-842E-1BD9-8B3A-9DC7BAA62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1C047-1180-CDEB-D35A-E97F90D035E5}"/>
              </a:ext>
            </a:extLst>
          </p:cNvPr>
          <p:cNvSpPr>
            <a:spLocks noGrp="1"/>
          </p:cNvSpPr>
          <p:nvPr>
            <p:ph type="title"/>
          </p:nvPr>
        </p:nvSpPr>
        <p:spPr>
          <a:xfrm>
            <a:off x="1273743" y="815993"/>
            <a:ext cx="10058400" cy="912932"/>
          </a:xfrm>
        </p:spPr>
        <p:txBody>
          <a:bodyPr>
            <a:noAutofit/>
          </a:bodyPr>
          <a:lstStyle/>
          <a:p>
            <a:r>
              <a:rPr lang="en-US" sz="3400" b="1" dirty="0"/>
              <a:t>Effect of Health Workforce Density on Key Health Outcomes</a:t>
            </a:r>
            <a:endParaRPr lang="en-US" sz="34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A14356D-2320-3622-D3F2-98E0FF8AE584}"/>
                  </a:ext>
                </a:extLst>
              </p:cNvPr>
              <p:cNvSpPr>
                <a:spLocks noGrp="1"/>
              </p:cNvSpPr>
              <p:nvPr>
                <p:ph idx="1"/>
              </p:nvPr>
            </p:nvSpPr>
            <p:spPr>
              <a:xfrm>
                <a:off x="1097280" y="1876926"/>
                <a:ext cx="10058400" cy="3992167"/>
              </a:xfrm>
            </p:spPr>
            <p:txBody>
              <a:bodyPr>
                <a:normAutofit/>
              </a:bodyPr>
              <a:lstStyle/>
              <a:p>
                <a:pPr>
                  <a:buFont typeface="Wingdings" panose="05000000000000000000" pitchFamily="2" charset="2"/>
                  <a:buChar char="§"/>
                </a:pPr>
                <a:r>
                  <a:rPr lang="en-US" sz="2100" dirty="0"/>
                  <a:t>A  generalized additive model was fitted to the data to help us determine the threshold above which we record diminishing effects despite an increase in the health workers from a specific cadre. The fitted model was given by:</a:t>
                </a:r>
              </a:p>
              <a:p>
                <a:pPr algn="r"/>
                <a:r>
                  <a:rPr lang="en-US" b="1" dirty="0"/>
                  <a:t>g(E[KHO])=</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𝟎</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𝒇</m:t>
                        </m:r>
                      </m:e>
                      <m:sub>
                        <m:r>
                          <a:rPr lang="en-US" b="1" i="1">
                            <a:latin typeface="Cambria Math" panose="02040503050406030204" pitchFamily="18" charset="0"/>
                          </a:rPr>
                          <m:t>𝟏</m:t>
                        </m:r>
                      </m:sub>
                    </m:sSub>
                  </m:oMath>
                </a14:m>
                <a:r>
                  <a:rPr lang="en-US" b="1" dirty="0"/>
                  <a:t>(</a:t>
                </a:r>
                <a:r>
                  <a:rPr lang="en-US" b="1" dirty="0" err="1"/>
                  <a:t>Workforce_Cadre</a:t>
                </a:r>
                <a:r>
                  <a:rPr lang="en-US" b="1" dirty="0"/>
                  <a:t>)+e   		         		   (1)</a:t>
                </a:r>
                <a:endParaRPr lang="en-US" dirty="0"/>
              </a:p>
              <a:p>
                <a:r>
                  <a:rPr lang="en-US" dirty="0"/>
                  <a:t>where KHO is the key health outcome: LE, MMR, IMR, UHC_SCI, g(.) is a link function,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𝑗</m:t>
                        </m:r>
                      </m:sub>
                    </m:sSub>
                    <m:r>
                      <a:rPr lang="en-US" i="1">
                        <a:latin typeface="Cambria Math" panose="02040503050406030204" pitchFamily="18" charset="0"/>
                      </a:rPr>
                      <m:t>(.)</m:t>
                    </m:r>
                  </m:oMath>
                </a14:m>
                <a:r>
                  <a:rPr lang="en-US" dirty="0"/>
                  <a:t> is a smooth function, </a:t>
                </a:r>
                <a:r>
                  <a:rPr lang="en-US" dirty="0" err="1"/>
                  <a:t>Workforce_Cadre</a:t>
                </a:r>
                <a:r>
                  <a:rPr lang="en-US" dirty="0"/>
                  <a:t>: Doctors, Nurses/Midwives, Dentists, Pharmacists, e is the error term. </a:t>
                </a:r>
              </a:p>
              <a:p>
                <a:pPr>
                  <a:buFont typeface="Wingdings" panose="05000000000000000000" pitchFamily="2" charset="2"/>
                  <a:buChar char="§"/>
                </a:pPr>
                <a:r>
                  <a:rPr lang="en-US" dirty="0"/>
                  <a:t> Table 2 gives a summary of the optimal allocation of doctors, nurses, midwives, dentists, and pharmacists per 10,000 population, where key health outcome variables (LE, IMR, MMR, UHC_SCI)  still record meaningful gains.</a:t>
                </a:r>
              </a:p>
              <a:p>
                <a:r>
                  <a:rPr lang="en-US" dirty="0"/>
                  <a:t>	</a:t>
                </a:r>
              </a:p>
            </p:txBody>
          </p:sp>
        </mc:Choice>
        <mc:Fallback>
          <p:sp>
            <p:nvSpPr>
              <p:cNvPr id="3" name="Content Placeholder 2">
                <a:extLst>
                  <a:ext uri="{FF2B5EF4-FFF2-40B4-BE49-F238E27FC236}">
                    <a16:creationId xmlns:a16="http://schemas.microsoft.com/office/drawing/2014/main" id="{8A14356D-2320-3622-D3F2-98E0FF8AE584}"/>
                  </a:ext>
                </a:extLst>
              </p:cNvPr>
              <p:cNvSpPr>
                <a:spLocks noGrp="1" noRot="1" noChangeAspect="1" noMove="1" noResize="1" noEditPoints="1" noAdjustHandles="1" noChangeArrowheads="1" noChangeShapeType="1" noTextEdit="1"/>
              </p:cNvSpPr>
              <p:nvPr>
                <p:ph idx="1"/>
              </p:nvPr>
            </p:nvSpPr>
            <p:spPr>
              <a:xfrm>
                <a:off x="1097280" y="1876926"/>
                <a:ext cx="10058400" cy="3992167"/>
              </a:xfrm>
              <a:blipFill>
                <a:blip r:embed="rId2"/>
                <a:stretch>
                  <a:fillRect l="-1515" t="-1679" r="-1515"/>
                </a:stretch>
              </a:blipFill>
            </p:spPr>
            <p:txBody>
              <a:bodyPr/>
              <a:lstStyle/>
              <a:p>
                <a:r>
                  <a:rPr lang="en-US">
                    <a:noFill/>
                  </a:rPr>
                  <a:t> </a:t>
                </a:r>
              </a:p>
            </p:txBody>
          </p:sp>
        </mc:Fallback>
      </mc:AlternateContent>
    </p:spTree>
    <p:extLst>
      <p:ext uri="{BB962C8B-B14F-4D97-AF65-F5344CB8AC3E}">
        <p14:creationId xmlns:p14="http://schemas.microsoft.com/office/powerpoint/2010/main" val="3830686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4A63-3D45-6D67-6ABB-DD0AA859B7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AA622D1-85B6-0E82-6995-ABD10D582BAB}"/>
              </a:ext>
            </a:extLst>
          </p:cNvPr>
          <p:cNvGraphicFramePr>
            <a:graphicFrameLocks noGrp="1"/>
          </p:cNvGraphicFramePr>
          <p:nvPr>
            <p:extLst>
              <p:ext uri="{D42A27DB-BD31-4B8C-83A1-F6EECF244321}">
                <p14:modId xmlns:p14="http://schemas.microsoft.com/office/powerpoint/2010/main" val="3340629295"/>
              </p:ext>
            </p:extLst>
          </p:nvPr>
        </p:nvGraphicFramePr>
        <p:xfrm>
          <a:off x="1213946" y="1764862"/>
          <a:ext cx="9900746" cy="4241797"/>
        </p:xfrm>
        <a:graphic>
          <a:graphicData uri="http://schemas.openxmlformats.org/drawingml/2006/table">
            <a:tbl>
              <a:tblPr firstRow="1" firstCol="1" bandRow="1">
                <a:tableStyleId>{5C22544A-7EE6-4342-B048-85BDC9FD1C3A}</a:tableStyleId>
              </a:tblPr>
              <a:tblGrid>
                <a:gridCol w="3787428">
                  <a:extLst>
                    <a:ext uri="{9D8B030D-6E8A-4147-A177-3AD203B41FA5}">
                      <a16:colId xmlns:a16="http://schemas.microsoft.com/office/drawing/2014/main" val="2018723475"/>
                    </a:ext>
                  </a:extLst>
                </a:gridCol>
                <a:gridCol w="1077632">
                  <a:extLst>
                    <a:ext uri="{9D8B030D-6E8A-4147-A177-3AD203B41FA5}">
                      <a16:colId xmlns:a16="http://schemas.microsoft.com/office/drawing/2014/main" val="2601371216"/>
                    </a:ext>
                  </a:extLst>
                </a:gridCol>
                <a:gridCol w="1885857">
                  <a:extLst>
                    <a:ext uri="{9D8B030D-6E8A-4147-A177-3AD203B41FA5}">
                      <a16:colId xmlns:a16="http://schemas.microsoft.com/office/drawing/2014/main" val="2327694663"/>
                    </a:ext>
                  </a:extLst>
                </a:gridCol>
                <a:gridCol w="1084368">
                  <a:extLst>
                    <a:ext uri="{9D8B030D-6E8A-4147-A177-3AD203B41FA5}">
                      <a16:colId xmlns:a16="http://schemas.microsoft.com/office/drawing/2014/main" val="1629649702"/>
                    </a:ext>
                  </a:extLst>
                </a:gridCol>
                <a:gridCol w="2065461">
                  <a:extLst>
                    <a:ext uri="{9D8B030D-6E8A-4147-A177-3AD203B41FA5}">
                      <a16:colId xmlns:a16="http://schemas.microsoft.com/office/drawing/2014/main" val="3793038204"/>
                    </a:ext>
                  </a:extLst>
                </a:gridCol>
              </a:tblGrid>
              <a:tr h="819119">
                <a:tc gridSpan="5">
                  <a:txBody>
                    <a:bodyPr/>
                    <a:lstStyle/>
                    <a:p>
                      <a:pPr marL="0" marR="0">
                        <a:lnSpc>
                          <a:spcPct val="115000"/>
                        </a:lnSpc>
                        <a:spcAft>
                          <a:spcPts val="800"/>
                        </a:spcAft>
                        <a:buNone/>
                      </a:pPr>
                      <a:r>
                        <a:rPr lang="en-US" sz="1600" kern="0" dirty="0">
                          <a:effectLst/>
                        </a:rPr>
                        <a:t>Table 2  Optimal Health Workforce Density Thresholds per 10,000 population Required for Key Health Outcomes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0833342"/>
                  </a:ext>
                </a:extLst>
              </a:tr>
              <a:tr h="819119">
                <a:tc>
                  <a:txBody>
                    <a:bodyPr/>
                    <a:lstStyle/>
                    <a:p>
                      <a:pPr marL="0" marR="0">
                        <a:lnSpc>
                          <a:spcPct val="115000"/>
                        </a:lnSpc>
                        <a:spcAft>
                          <a:spcPts val="800"/>
                        </a:spcAft>
                        <a:buNone/>
                      </a:pPr>
                      <a:r>
                        <a:rPr lang="en-US" sz="2000" kern="0">
                          <a:effectLst/>
                        </a:rPr>
                        <a:t>Key Health Variable </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b="1" kern="0">
                          <a:effectLst/>
                        </a:rPr>
                        <a:t>Doctors</a:t>
                      </a:r>
                      <a:endParaRPr lang="en-US"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b="1" kern="0">
                          <a:effectLst/>
                        </a:rPr>
                        <a:t>Nurses &amp; Midwives</a:t>
                      </a:r>
                      <a:endParaRPr lang="en-US"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b="1" kern="0">
                          <a:effectLst/>
                        </a:rPr>
                        <a:t>Dentists</a:t>
                      </a:r>
                      <a:endParaRPr lang="en-US" sz="20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b="1" kern="0" dirty="0">
                          <a:effectLst/>
                        </a:rPr>
                        <a:t>Pharmacists</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10553331"/>
                  </a:ext>
                </a:extLst>
              </a:tr>
              <a:tr h="400248">
                <a:tc>
                  <a:txBody>
                    <a:bodyPr/>
                    <a:lstStyle/>
                    <a:p>
                      <a:pPr marL="0" marR="0">
                        <a:lnSpc>
                          <a:spcPct val="115000"/>
                        </a:lnSpc>
                        <a:spcAft>
                          <a:spcPts val="800"/>
                        </a:spcAft>
                        <a:buNone/>
                      </a:pPr>
                      <a:r>
                        <a:rPr lang="en-US" sz="2000" kern="0">
                          <a:effectLst/>
                        </a:rPr>
                        <a:t>Life Expectancy (LE)</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30.52</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29.25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2.57</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5.15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61620236"/>
                  </a:ext>
                </a:extLst>
              </a:tr>
              <a:tr h="400248">
                <a:tc>
                  <a:txBody>
                    <a:bodyPr/>
                    <a:lstStyle/>
                    <a:p>
                      <a:pPr marL="0" marR="0">
                        <a:lnSpc>
                          <a:spcPct val="115000"/>
                        </a:lnSpc>
                        <a:spcAft>
                          <a:spcPts val="800"/>
                        </a:spcAft>
                        <a:buNone/>
                      </a:pPr>
                      <a:r>
                        <a:rPr lang="en-US" sz="2000" kern="0">
                          <a:effectLst/>
                        </a:rPr>
                        <a:t>Maternal Mortality Ratio (MMR)</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11.96</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60.91</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2.17</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10.08</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28912790"/>
                  </a:ext>
                </a:extLst>
              </a:tr>
              <a:tr h="400248">
                <a:tc>
                  <a:txBody>
                    <a:bodyPr/>
                    <a:lstStyle/>
                    <a:p>
                      <a:pPr marL="0" marR="0">
                        <a:lnSpc>
                          <a:spcPct val="115000"/>
                        </a:lnSpc>
                        <a:spcAft>
                          <a:spcPts val="800"/>
                        </a:spcAft>
                        <a:buNone/>
                      </a:pPr>
                      <a:r>
                        <a:rPr lang="en-US" sz="2000" kern="0">
                          <a:effectLst/>
                        </a:rPr>
                        <a:t>Infant Mortality Rate (IMR)</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31.61</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46.35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2.85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7.96</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30863969"/>
                  </a:ext>
                </a:extLst>
              </a:tr>
              <a:tr h="819119">
                <a:tc>
                  <a:txBody>
                    <a:bodyPr/>
                    <a:lstStyle/>
                    <a:p>
                      <a:pPr marL="0" marR="0">
                        <a:lnSpc>
                          <a:spcPct val="115000"/>
                        </a:lnSpc>
                        <a:spcAft>
                          <a:spcPts val="800"/>
                        </a:spcAft>
                        <a:buNone/>
                      </a:pPr>
                      <a:r>
                        <a:rPr lang="en-US" sz="2000" kern="0">
                          <a:effectLst/>
                        </a:rPr>
                        <a:t>Universal Health Coverage (UHC_SCI)</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12.69</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47.44</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3.16</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7.88</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04368754"/>
                  </a:ext>
                </a:extLst>
              </a:tr>
              <a:tr h="583696">
                <a:tc>
                  <a:txBody>
                    <a:bodyPr/>
                    <a:lstStyle/>
                    <a:p>
                      <a:pPr marL="0" marR="0">
                        <a:lnSpc>
                          <a:spcPct val="115000"/>
                        </a:lnSpc>
                        <a:spcAft>
                          <a:spcPts val="800"/>
                        </a:spcAft>
                        <a:buNone/>
                      </a:pPr>
                      <a:r>
                        <a:rPr lang="en-US" sz="2000" kern="0" dirty="0">
                          <a:effectLst/>
                        </a:rPr>
                        <a:t>Averages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dirty="0">
                          <a:effectLst/>
                        </a:rPr>
                        <a:t>21.70</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dirty="0">
                          <a:effectLst/>
                        </a:rPr>
                        <a:t>45.99</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a:effectLst/>
                        </a:rPr>
                        <a:t>2.69</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2000" kern="0" dirty="0">
                          <a:effectLst/>
                        </a:rPr>
                        <a:t>7.77</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29384375"/>
                  </a:ext>
                </a:extLst>
              </a:tr>
            </a:tbl>
          </a:graphicData>
        </a:graphic>
      </p:graphicFrame>
      <p:sp>
        <p:nvSpPr>
          <p:cNvPr id="7" name="Title 1">
            <a:extLst>
              <a:ext uri="{FF2B5EF4-FFF2-40B4-BE49-F238E27FC236}">
                <a16:creationId xmlns:a16="http://schemas.microsoft.com/office/drawing/2014/main" id="{AC429605-A33F-FAA3-65E6-CEF0A2943773}"/>
              </a:ext>
            </a:extLst>
          </p:cNvPr>
          <p:cNvSpPr>
            <a:spLocks noGrp="1"/>
          </p:cNvSpPr>
          <p:nvPr>
            <p:ph type="title"/>
          </p:nvPr>
        </p:nvSpPr>
        <p:spPr>
          <a:xfrm>
            <a:off x="1135119" y="547980"/>
            <a:ext cx="10058400" cy="912932"/>
          </a:xfrm>
        </p:spPr>
        <p:txBody>
          <a:bodyPr>
            <a:noAutofit/>
          </a:bodyPr>
          <a:lstStyle/>
          <a:p>
            <a:r>
              <a:rPr lang="en-US" sz="2500" b="1" dirty="0"/>
              <a:t>Optimal Health Workforce Density Allocations (Before Diminishing Returns)</a:t>
            </a:r>
            <a:endParaRPr lang="en-US" sz="2500" dirty="0"/>
          </a:p>
        </p:txBody>
      </p:sp>
    </p:spTree>
    <p:extLst>
      <p:ext uri="{BB962C8B-B14F-4D97-AF65-F5344CB8AC3E}">
        <p14:creationId xmlns:p14="http://schemas.microsoft.com/office/powerpoint/2010/main" val="1144955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7873B-E081-1895-046F-AB01E550A7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FF088-D153-FFC0-39D7-58FF9007FA47}"/>
              </a:ext>
            </a:extLst>
          </p:cNvPr>
          <p:cNvSpPr>
            <a:spLocks noGrp="1"/>
          </p:cNvSpPr>
          <p:nvPr>
            <p:ph type="title"/>
          </p:nvPr>
        </p:nvSpPr>
        <p:spPr>
          <a:xfrm>
            <a:off x="1036319" y="815993"/>
            <a:ext cx="10119361" cy="912932"/>
          </a:xfrm>
        </p:spPr>
        <p:txBody>
          <a:bodyPr>
            <a:noAutofit/>
          </a:bodyPr>
          <a:lstStyle/>
          <a:p>
            <a:r>
              <a:rPr lang="en-US" sz="3000" b="1" dirty="0"/>
              <a:t>Optimal Health Workforce Density Allocations (Before Diminishing Returns)</a:t>
            </a:r>
            <a:endParaRPr lang="en-US" sz="3000" dirty="0"/>
          </a:p>
        </p:txBody>
      </p:sp>
      <p:sp>
        <p:nvSpPr>
          <p:cNvPr id="3" name="Content Placeholder 2">
            <a:extLst>
              <a:ext uri="{FF2B5EF4-FFF2-40B4-BE49-F238E27FC236}">
                <a16:creationId xmlns:a16="http://schemas.microsoft.com/office/drawing/2014/main" id="{5C77104E-507E-6A29-98E9-CBF0B5AD25B6}"/>
              </a:ext>
            </a:extLst>
          </p:cNvPr>
          <p:cNvSpPr>
            <a:spLocks noGrp="1"/>
          </p:cNvSpPr>
          <p:nvPr>
            <p:ph idx="1"/>
          </p:nvPr>
        </p:nvSpPr>
        <p:spPr>
          <a:xfrm>
            <a:off x="1097280" y="1870815"/>
            <a:ext cx="10058400" cy="4545751"/>
          </a:xfrm>
        </p:spPr>
        <p:txBody>
          <a:bodyPr>
            <a:normAutofit fontScale="85000" lnSpcReduction="20000"/>
          </a:bodyPr>
          <a:lstStyle/>
          <a:p>
            <a:pPr algn="just">
              <a:buFont typeface="Wingdings" panose="05000000000000000000" pitchFamily="2" charset="2"/>
              <a:buChar char="§"/>
            </a:pPr>
            <a:r>
              <a:rPr lang="en-US" sz="2700" dirty="0"/>
              <a:t> Table 2 results demonstrate that key health outcomes such as life expectancy, maternal mortality, infant mortality, and service coverage improve sharply as workforce densities rise, but gains diminish above these thresholds. </a:t>
            </a:r>
          </a:p>
          <a:p>
            <a:pPr algn="just">
              <a:buFont typeface="Wingdings" panose="05000000000000000000" pitchFamily="2" charset="2"/>
              <a:buChar char="§"/>
            </a:pPr>
            <a:r>
              <a:rPr lang="en-US" sz="2700" dirty="0"/>
              <a:t>It was discovered that for life expectancy to significantly increase, we need 31 doctors, 30 nurses and midwives, 3 dentists and 6 pharmacists per 10,000 population. </a:t>
            </a:r>
          </a:p>
          <a:p>
            <a:pPr algn="just">
              <a:buFont typeface="Wingdings" panose="05000000000000000000" pitchFamily="2" charset="2"/>
              <a:buChar char="§"/>
            </a:pPr>
            <a:r>
              <a:rPr lang="en-US" sz="2700" dirty="0"/>
              <a:t>Similarly, for service coverage to increase, we need 13 doctors, 48 nurses and midwives, 4 dentists and 8 pharmacists per 10,000 population. </a:t>
            </a:r>
          </a:p>
          <a:p>
            <a:pPr algn="just">
              <a:buFont typeface="Wingdings" panose="05000000000000000000" pitchFamily="2" charset="2"/>
              <a:buChar char="§"/>
            </a:pPr>
            <a:r>
              <a:rPr lang="en-US" sz="2700" dirty="0"/>
              <a:t>On the other hand, for maternal deaths to rapidly reduce, we need 12 doctors, 61 nurses, 3 dentists and 11 pharmacists. </a:t>
            </a:r>
          </a:p>
          <a:p>
            <a:pPr algn="just">
              <a:buFont typeface="Wingdings" panose="05000000000000000000" pitchFamily="2" charset="2"/>
              <a:buChar char="§"/>
            </a:pPr>
            <a:r>
              <a:rPr lang="en-US" sz="2700" dirty="0"/>
              <a:t>Similarly, for infant deaths to be reduced, we need 32 doctors, 47 nurses, 3 dentists, and 8 pharmacists.</a:t>
            </a:r>
          </a:p>
          <a:p>
            <a:pPr algn="just">
              <a:buFont typeface="Wingdings" panose="05000000000000000000" pitchFamily="2" charset="2"/>
              <a:buChar char="§"/>
            </a:pPr>
            <a:r>
              <a:rPr lang="en-US" sz="2700" dirty="0"/>
              <a:t>Therefore, on average across all health outcomes, we need around (</a:t>
            </a:r>
            <a:r>
              <a:rPr lang="en-US" sz="2700" b="1" dirty="0">
                <a:solidFill>
                  <a:srgbClr val="C00000"/>
                </a:solidFill>
              </a:rPr>
              <a:t>22-32)</a:t>
            </a:r>
            <a:r>
              <a:rPr lang="en-US" sz="2700" dirty="0">
                <a:solidFill>
                  <a:srgbClr val="C00000"/>
                </a:solidFill>
              </a:rPr>
              <a:t> </a:t>
            </a:r>
            <a:r>
              <a:rPr lang="en-US" sz="2700" dirty="0"/>
              <a:t>doctors, (</a:t>
            </a:r>
            <a:r>
              <a:rPr lang="en-US" sz="2700" b="1" dirty="0">
                <a:solidFill>
                  <a:srgbClr val="C00000"/>
                </a:solidFill>
              </a:rPr>
              <a:t>46-61)</a:t>
            </a:r>
            <a:r>
              <a:rPr lang="en-US" sz="2700" dirty="0"/>
              <a:t> nurses, (</a:t>
            </a:r>
            <a:r>
              <a:rPr lang="en-US" sz="2700" b="1" dirty="0">
                <a:solidFill>
                  <a:srgbClr val="C00000"/>
                </a:solidFill>
              </a:rPr>
              <a:t>3-4)</a:t>
            </a:r>
            <a:r>
              <a:rPr lang="en-US" sz="2700" dirty="0"/>
              <a:t> dentists, </a:t>
            </a:r>
            <a:r>
              <a:rPr lang="en-US" sz="2700"/>
              <a:t>and</a:t>
            </a:r>
            <a:r>
              <a:rPr lang="en-US" sz="2700" b="1">
                <a:solidFill>
                  <a:srgbClr val="0070C0"/>
                </a:solidFill>
              </a:rPr>
              <a:t> (</a:t>
            </a:r>
            <a:r>
              <a:rPr lang="en-US" sz="2700" b="1">
                <a:solidFill>
                  <a:srgbClr val="C00000"/>
                </a:solidFill>
              </a:rPr>
              <a:t>8-11)</a:t>
            </a:r>
            <a:r>
              <a:rPr lang="en-US" sz="2700" b="1">
                <a:solidFill>
                  <a:srgbClr val="0070C0"/>
                </a:solidFill>
              </a:rPr>
              <a:t> </a:t>
            </a:r>
            <a:r>
              <a:rPr lang="en-US" sz="2700" dirty="0"/>
              <a:t>pharmacists per 10,000 population.</a:t>
            </a:r>
          </a:p>
        </p:txBody>
      </p:sp>
    </p:spTree>
    <p:extLst>
      <p:ext uri="{BB962C8B-B14F-4D97-AF65-F5344CB8AC3E}">
        <p14:creationId xmlns:p14="http://schemas.microsoft.com/office/powerpoint/2010/main" val="171102099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7219</TotalTime>
  <Words>752</Words>
  <Application>Microsoft Office PowerPoint</Application>
  <PresentationFormat>Widescreen</PresentationFormat>
  <Paragraphs>77</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Calibri</vt:lpstr>
      <vt:lpstr>Calibri Light</vt:lpstr>
      <vt:lpstr>Cambria Math</vt:lpstr>
      <vt:lpstr>Wingdings</vt:lpstr>
      <vt:lpstr>Retrospect</vt:lpstr>
      <vt:lpstr>Investing in Health Systems: Insights into How Health Workforce Density Shapes UHC Density and Key Health Outcomes </vt:lpstr>
      <vt:lpstr>Background</vt:lpstr>
      <vt:lpstr>Distribution of HWF Cadres for 70% UHC</vt:lpstr>
      <vt:lpstr>Effect of Health Workforce Density on Key Health Outcomes</vt:lpstr>
      <vt:lpstr>Optimal Health Workforce Density Allocations (Before Diminishing Returns)</vt:lpstr>
      <vt:lpstr>Optimal Health Workforce Density Allocations (Before Diminishing Returns)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Charity Wamwea</dc:creator>
  <cp:lastModifiedBy>Charity Wamwea</cp:lastModifiedBy>
  <cp:revision>5</cp:revision>
  <dcterms:created xsi:type="dcterms:W3CDTF">2026-03-03T13:44:27Z</dcterms:created>
  <dcterms:modified xsi:type="dcterms:W3CDTF">2026-03-15T21:15:33Z</dcterms:modified>
</cp:coreProperties>
</file>
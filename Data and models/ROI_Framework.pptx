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44C4DB-ABF0-516E-ACAA-70603CC39E23}" v="61" dt="2025-07-10T12:18:41.140"/>
    <p1510:client id="{A2E0075D-6349-4E42-A419-FDE431D3D7D1}" v="488" dt="2025-07-11T03:35:22.8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37956-2730-D50C-BA4A-1B4F605B2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1C432A-81ED-20F2-74DB-52547A780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C4880-2A22-A988-ADBB-CAE667E28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BA2D-794E-4D88-978A-71EA75F5EDF8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E1A1-8626-363F-FC54-5C4C9C81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38656-DAA6-C72C-3BF8-6B71C0A3A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6838D-80B6-4400-B012-866C5D584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959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8129-5FAC-F2F2-0D95-BC3CE0D3C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F5A66-251C-C8BC-3EB8-95DE5051D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2F869-BFF0-90B7-723D-14BB56B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BA2D-794E-4D88-978A-71EA75F5EDF8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22A7D-B6FD-9644-9ACD-91A26D1E7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584DA-BF3D-6020-5740-7BB3CC03A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6838D-80B6-4400-B012-866C5D584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654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3DCA-4568-4F92-90A4-47902C93A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FEA22-5973-057B-AE88-44DE7D931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C487A-DE45-FED3-F173-2F9220491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BA2D-794E-4D88-978A-71EA75F5EDF8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C72B6-6768-869E-F78A-A235FF83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053B3-CFF5-26FB-2D29-58E9B579A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6838D-80B6-4400-B012-866C5D584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743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CDF4-889A-67E8-DCF4-C0C438D2B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186BC-888B-6850-E9B7-B810495DEA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D2981-531F-E3BB-752B-19D66B61F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8A951F-2C57-1501-7CC0-2802F7EFB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BA2D-794E-4D88-978A-71EA75F5EDF8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645FB-826E-4DB2-6189-67C912965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A644B-A6C7-48A0-4136-8C04DEE06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6838D-80B6-4400-B012-866C5D584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377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6E654-9CDC-CDAB-164B-CCD9F3CD6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332A8-460C-E889-4DBF-7E4326E6F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B6CE05-BE71-342F-7BBF-ADEDF5D37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B13B7C-89FA-D47C-3CEC-730F6B5DE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4A3991-168E-5321-4FE8-C98D220F7F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AD9C1C-DD13-D6F0-E885-B3C47C2C0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BA2D-794E-4D88-978A-71EA75F5EDF8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0DFA19-B0CB-EDD5-464B-DDDE9452B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1BA705-4F59-C7AF-9603-6394B692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6838D-80B6-4400-B012-866C5D584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172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AB7D-9DD0-3F27-FBFC-E315208EA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B03012-8106-7419-1184-5E17D518F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BA2D-794E-4D88-978A-71EA75F5EDF8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B3136B-8B9C-D2A5-707E-557E64F82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3E185-E02C-8857-C1EB-BA44732D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6838D-80B6-4400-B012-866C5D584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715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8149C3-8737-3F27-6211-72641490B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BA2D-794E-4D88-978A-71EA75F5EDF8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2691BB-58AB-F501-C59C-C61342CD0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9DF21-9DDB-8631-35FC-DF58FA1C6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6838D-80B6-4400-B012-866C5D584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668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9F65A-B747-B41C-FFDF-40A52E8B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1535D-9DCF-4556-3439-A285B7A71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7F8A4-D546-9B6F-1364-6A1DB5792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7E0C49-3F04-7214-D4F5-3FE3CFB6A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BA2D-794E-4D88-978A-71EA75F5EDF8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0E96C-7A78-CC51-4AEE-F85C908D7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45542-C7E2-7DA9-E267-5152B1586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6838D-80B6-4400-B012-866C5D584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87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42C4B-8369-335C-E9AF-0A6BF20BB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7C1D3-B8E3-50FF-E663-247DA9EE3B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22A51-1785-173A-C006-B6968F518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79367-CD52-296F-7DE9-3F946DEF4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BA2D-794E-4D88-978A-71EA75F5EDF8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181AF-0531-7BC7-CF48-60F7D921A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620DD-A4A3-1B47-0D09-174B2C67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6838D-80B6-4400-B012-866C5D584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783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87763-C181-090F-4737-3AF5CF0BD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28257-4C71-C80C-23DE-068869FDB9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34CE9-864E-CB6D-7344-76D862A0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BA2D-794E-4D88-978A-71EA75F5EDF8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B05C7-378E-0B3C-7C2E-38BB2B380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F3DE2-C88A-C37F-9584-4A351F559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6838D-80B6-4400-B012-866C5D584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00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7D4E39-74AD-1E0D-89EA-5160768FA1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BCD89-9891-E98A-3ACF-34A225954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240DF-A70A-045F-56C1-5F1684FAD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BA2D-794E-4D88-978A-71EA75F5EDF8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0EE4C-B233-CACB-1E33-5E547BFAE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8A3ED-A36A-3DA4-AAB7-54C4EC9E3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6838D-80B6-4400-B012-866C5D584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08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83230-791A-6A91-2799-3EE1E7767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D8BAD-F7B0-97FD-71BC-9ABD8106C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DD7F6-7D3D-D369-F525-7C0CAD1A4D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7ABA2D-794E-4D88-978A-71EA75F5EDF8}" type="datetimeFigureOut">
              <a:rPr lang="en-GB" smtClean="0"/>
              <a:t>11/07/2025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8E554-C834-C4D7-5E41-82B30D319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4338E-87F1-9F6D-D583-A461A1452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86838D-80B6-4400-B012-866C5D5844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289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37174-7C83-1A74-DA35-9A8B96C6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22286FB7-0B76-F971-24A6-7150AE254FF5}"/>
              </a:ext>
            </a:extLst>
          </p:cNvPr>
          <p:cNvGrpSpPr/>
          <p:nvPr/>
        </p:nvGrpSpPr>
        <p:grpSpPr>
          <a:xfrm>
            <a:off x="1310209" y="1024103"/>
            <a:ext cx="9846802" cy="5000783"/>
            <a:chOff x="1310209" y="1024103"/>
            <a:chExt cx="9846802" cy="5000783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3CF8E61E-280C-396B-CBDF-E9AA1AFAB4E1}"/>
                </a:ext>
              </a:extLst>
            </p:cNvPr>
            <p:cNvGrpSpPr/>
            <p:nvPr/>
          </p:nvGrpSpPr>
          <p:grpSpPr>
            <a:xfrm>
              <a:off x="3201769" y="2557227"/>
              <a:ext cx="5101101" cy="464943"/>
              <a:chOff x="3201769" y="2595972"/>
              <a:chExt cx="5101101" cy="464943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B66B7652-291F-C2E9-62C5-C285325C6036}"/>
                  </a:ext>
                </a:extLst>
              </p:cNvPr>
              <p:cNvSpPr/>
              <p:nvPr/>
            </p:nvSpPr>
            <p:spPr>
              <a:xfrm>
                <a:off x="3201769" y="2595972"/>
                <a:ext cx="5052769" cy="91226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" name="Arrow: Down 57">
                <a:extLst>
                  <a:ext uri="{FF2B5EF4-FFF2-40B4-BE49-F238E27FC236}">
                    <a16:creationId xmlns:a16="http://schemas.microsoft.com/office/drawing/2014/main" id="{51145D0D-F12E-3935-FF42-9E5F07FC42EB}"/>
                  </a:ext>
                </a:extLst>
              </p:cNvPr>
              <p:cNvSpPr/>
              <p:nvPr/>
            </p:nvSpPr>
            <p:spPr>
              <a:xfrm>
                <a:off x="8124637" y="2595972"/>
                <a:ext cx="178233" cy="464943"/>
              </a:xfrm>
              <a:prstGeom prst="down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D83E3F7E-1F25-E671-9F1C-78DD98ED0A41}"/>
                </a:ext>
              </a:extLst>
            </p:cNvPr>
            <p:cNvSpPr/>
            <p:nvPr/>
          </p:nvSpPr>
          <p:spPr>
            <a:xfrm>
              <a:off x="3301180" y="3192651"/>
              <a:ext cx="2190136" cy="44170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FF57031B-C3FE-F0EE-92D3-BE4E4E386B64}"/>
                </a:ext>
              </a:extLst>
            </p:cNvPr>
            <p:cNvSpPr/>
            <p:nvPr/>
          </p:nvSpPr>
          <p:spPr>
            <a:xfrm>
              <a:off x="7007569" y="3192651"/>
              <a:ext cx="503697" cy="44170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E3BE7C8A-BDC6-20DD-B5D3-ADC74119FF2A}"/>
                </a:ext>
              </a:extLst>
            </p:cNvPr>
            <p:cNvSpPr/>
            <p:nvPr/>
          </p:nvSpPr>
          <p:spPr>
            <a:xfrm>
              <a:off x="3350418" y="4604666"/>
              <a:ext cx="2078372" cy="1323845"/>
            </a:xfrm>
            <a:prstGeom prst="hexagon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60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Health Workforce performance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26B3A25-0E78-4181-F5BE-57DE1ACF2A9E}"/>
                </a:ext>
              </a:extLst>
            </p:cNvPr>
            <p:cNvSpPr txBox="1"/>
            <p:nvPr/>
          </p:nvSpPr>
          <p:spPr>
            <a:xfrm rot="16200000">
              <a:off x="3886089" y="3646987"/>
              <a:ext cx="1022078" cy="794802"/>
            </a:xfrm>
            <a:prstGeom prst="stripedRightArrow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 X</a:t>
              </a:r>
              <a:endParaRPr lang="en-GH" sz="2000" b="1">
                <a:solidFill>
                  <a:schemeClr val="bg1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05D55E3-E962-E8CC-590B-DE734DC68E66}"/>
                </a:ext>
              </a:extLst>
            </p:cNvPr>
            <p:cNvSpPr txBox="1"/>
            <p:nvPr/>
          </p:nvSpPr>
          <p:spPr>
            <a:xfrm rot="5400000">
              <a:off x="2298239" y="1438050"/>
              <a:ext cx="1378142" cy="550247"/>
            </a:xfrm>
            <a:prstGeom prst="stripedRightArrow">
              <a:avLst/>
            </a:prstGeom>
            <a:solidFill>
              <a:srgbClr val="00B0F0"/>
            </a:solidFill>
          </p:spPr>
          <p:txBody>
            <a:bodyPr vert="horz" wrap="square" rtlCol="0">
              <a:spAutoFit/>
            </a:bodyPr>
            <a:lstStyle/>
            <a:p>
              <a:r>
                <a:rPr lang="en-US" sz="1200" b="1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Retention</a:t>
              </a:r>
              <a:endParaRPr lang="en-GH" sz="1200" b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CF99CCE-3CD0-2C82-1763-5D751DE664BF}"/>
                </a:ext>
              </a:extLst>
            </p:cNvPr>
            <p:cNvSpPr txBox="1"/>
            <p:nvPr/>
          </p:nvSpPr>
          <p:spPr>
            <a:xfrm rot="5400000">
              <a:off x="1658920" y="1480031"/>
              <a:ext cx="1370393" cy="458539"/>
            </a:xfrm>
            <a:prstGeom prst="stripedRightArrow">
              <a:avLst/>
            </a:prstGeom>
            <a:solidFill>
              <a:srgbClr val="00B0F0"/>
            </a:solidFill>
          </p:spPr>
          <p:txBody>
            <a:bodyPr vert="horz" wrap="square" rtlCol="0">
              <a:spAutoFit/>
            </a:bodyPr>
            <a:lstStyle/>
            <a:p>
              <a:r>
                <a:rPr lang="en-US" sz="900" b="1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2- Employment</a:t>
              </a:r>
              <a:endParaRPr lang="en-GH" sz="900" b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1625E68-FFE9-237E-1636-AC0B343B0869}"/>
                </a:ext>
              </a:extLst>
            </p:cNvPr>
            <p:cNvSpPr txBox="1"/>
            <p:nvPr/>
          </p:nvSpPr>
          <p:spPr>
            <a:xfrm rot="5400000">
              <a:off x="1015726" y="1434176"/>
              <a:ext cx="1370392" cy="550247"/>
            </a:xfrm>
            <a:prstGeom prst="stripedRightArrow">
              <a:avLst/>
            </a:prstGeom>
            <a:solidFill>
              <a:srgbClr val="00B0F0"/>
            </a:solidFill>
          </p:spPr>
          <p:txBody>
            <a:bodyPr vert="horz" wrap="square" rtlCol="0">
              <a:spAutoFit/>
            </a:bodyPr>
            <a:lstStyle/>
            <a:p>
              <a:r>
                <a:rPr lang="en-US" sz="1200" b="1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1- Education</a:t>
              </a:r>
              <a:endParaRPr lang="en-GH" sz="1200" b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29" name="Arrow: Striped Right 28">
              <a:extLst>
                <a:ext uri="{FF2B5EF4-FFF2-40B4-BE49-F238E27FC236}">
                  <a16:creationId xmlns:a16="http://schemas.microsoft.com/office/drawing/2014/main" id="{ABF6B47F-3968-A430-D65E-8AD19A8D46FF}"/>
                </a:ext>
              </a:extLst>
            </p:cNvPr>
            <p:cNvSpPr/>
            <p:nvPr/>
          </p:nvSpPr>
          <p:spPr>
            <a:xfrm>
              <a:off x="5511979" y="2722591"/>
              <a:ext cx="1487836" cy="1381822"/>
            </a:xfrm>
            <a:prstGeom prst="stripedRightArrow">
              <a:avLst>
                <a:gd name="adj1" fmla="val 50000"/>
                <a:gd name="adj2" fmla="val 0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Service </a:t>
              </a:r>
            </a:p>
            <a:p>
              <a:pPr algn="ctr"/>
              <a:r>
                <a:rPr lang="en-GB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coverage</a:t>
              </a:r>
            </a:p>
          </p:txBody>
        </p:sp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1FBA038C-C271-67EA-75AE-C4E06209CB1C}"/>
                </a:ext>
              </a:extLst>
            </p:cNvPr>
            <p:cNvSpPr/>
            <p:nvPr/>
          </p:nvSpPr>
          <p:spPr>
            <a:xfrm>
              <a:off x="8973267" y="3192651"/>
              <a:ext cx="503697" cy="44170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32" name="Arrow: Striped Right 31">
              <a:extLst>
                <a:ext uri="{FF2B5EF4-FFF2-40B4-BE49-F238E27FC236}">
                  <a16:creationId xmlns:a16="http://schemas.microsoft.com/office/drawing/2014/main" id="{46DA312B-254A-E80A-B893-98D3B3192935}"/>
                </a:ext>
              </a:extLst>
            </p:cNvPr>
            <p:cNvSpPr/>
            <p:nvPr/>
          </p:nvSpPr>
          <p:spPr>
            <a:xfrm>
              <a:off x="7531929" y="2722591"/>
              <a:ext cx="1487836" cy="1381822"/>
            </a:xfrm>
            <a:prstGeom prst="stripedRightArrow">
              <a:avLst>
                <a:gd name="adj1" fmla="val 50000"/>
                <a:gd name="adj2" fmla="val 0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Health</a:t>
              </a:r>
            </a:p>
            <a:p>
              <a:pPr algn="ctr"/>
              <a:r>
                <a:rPr lang="en-GB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outcomes</a:t>
              </a:r>
            </a:p>
          </p:txBody>
        </p:sp>
        <p:sp>
          <p:nvSpPr>
            <p:cNvPr id="33" name="Arrow: Striped Right 32">
              <a:extLst>
                <a:ext uri="{FF2B5EF4-FFF2-40B4-BE49-F238E27FC236}">
                  <a16:creationId xmlns:a16="http://schemas.microsoft.com/office/drawing/2014/main" id="{0A6BE928-C0FE-8769-36D6-8B917B6ACC28}"/>
                </a:ext>
              </a:extLst>
            </p:cNvPr>
            <p:cNvSpPr/>
            <p:nvPr/>
          </p:nvSpPr>
          <p:spPr>
            <a:xfrm>
              <a:off x="9492466" y="2722591"/>
              <a:ext cx="1664545" cy="1381822"/>
            </a:xfrm>
            <a:prstGeom prst="stripedRightArrow">
              <a:avLst>
                <a:gd name="adj1" fmla="val 50000"/>
                <a:gd name="adj2" fmla="val 0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Economic production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4C5BFDA2-4FD4-AD48-2331-DA87F778A38E}"/>
                </a:ext>
              </a:extLst>
            </p:cNvPr>
            <p:cNvSpPr/>
            <p:nvPr/>
          </p:nvSpPr>
          <p:spPr>
            <a:xfrm>
              <a:off x="1310209" y="2409994"/>
              <a:ext cx="1991012" cy="2076772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Health Workforce availability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B33B277-3278-62D7-361A-0015528024C3}"/>
                </a:ext>
              </a:extLst>
            </p:cNvPr>
            <p:cNvSpPr txBox="1"/>
            <p:nvPr/>
          </p:nvSpPr>
          <p:spPr>
            <a:xfrm>
              <a:off x="7531930" y="3945613"/>
              <a:ext cx="17484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en-GB" sz="1600" b="1"/>
                <a:t>DALYs</a:t>
              </a: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en-GB" sz="1600" b="1"/>
                <a:t>HALE</a:t>
              </a: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en-GB" sz="1600" b="1"/>
                <a:t>Health security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AFE03E7-A019-54CA-5FA6-238BBC51F9A9}"/>
                </a:ext>
              </a:extLst>
            </p:cNvPr>
            <p:cNvSpPr txBox="1"/>
            <p:nvPr/>
          </p:nvSpPr>
          <p:spPr>
            <a:xfrm>
              <a:off x="1761425" y="4502262"/>
              <a:ext cx="1378142" cy="917079"/>
            </a:xfrm>
            <a:prstGeom prst="stripedRightArrow">
              <a:avLst/>
            </a:prstGeom>
            <a:solidFill>
              <a:srgbClr val="00B0F0"/>
            </a:solidFill>
          </p:spPr>
          <p:txBody>
            <a:bodyPr vert="horz" wrap="square" rtlCol="0">
              <a:spAutoFit/>
            </a:bodyPr>
            <a:lstStyle/>
            <a:p>
              <a:r>
                <a:rPr lang="en-US" sz="1200" b="1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In-service training</a:t>
              </a:r>
              <a:endParaRPr lang="en-GH" sz="1200" b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B237BA4-1014-457C-B77A-FF158160E147}"/>
                </a:ext>
              </a:extLst>
            </p:cNvPr>
            <p:cNvSpPr txBox="1"/>
            <p:nvPr/>
          </p:nvSpPr>
          <p:spPr>
            <a:xfrm>
              <a:off x="1761425" y="5474639"/>
              <a:ext cx="1308814" cy="550247"/>
            </a:xfrm>
            <a:prstGeom prst="stripedRightArrow">
              <a:avLst/>
            </a:prstGeom>
            <a:solidFill>
              <a:srgbClr val="00B0F0"/>
            </a:solidFill>
          </p:spPr>
          <p:txBody>
            <a:bodyPr vert="horz" wrap="square" rtlCol="0">
              <a:spAutoFit/>
            </a:bodyPr>
            <a:lstStyle/>
            <a:p>
              <a:r>
                <a:rPr lang="en-US" sz="1200" b="1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Incentives</a:t>
              </a:r>
              <a:endParaRPr lang="en-GH" sz="1200" b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431185E-77A3-FF15-F955-ED9F61C63F29}"/>
              </a:ext>
            </a:extLst>
          </p:cNvPr>
          <p:cNvCxnSpPr/>
          <p:nvPr/>
        </p:nvCxnSpPr>
        <p:spPr>
          <a:xfrm>
            <a:off x="1211023" y="6150771"/>
            <a:ext cx="4347962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13862EC-A5D3-1CA6-76AB-51910EB6B47F}"/>
              </a:ext>
            </a:extLst>
          </p:cNvPr>
          <p:cNvCxnSpPr>
            <a:cxnSpLocks/>
          </p:cNvCxnSpPr>
          <p:nvPr/>
        </p:nvCxnSpPr>
        <p:spPr>
          <a:xfrm>
            <a:off x="5570953" y="6150771"/>
            <a:ext cx="1563092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6D984D5-0BB6-A8E9-A331-260397B5B42A}"/>
              </a:ext>
            </a:extLst>
          </p:cNvPr>
          <p:cNvCxnSpPr>
            <a:cxnSpLocks/>
          </p:cNvCxnSpPr>
          <p:nvPr/>
        </p:nvCxnSpPr>
        <p:spPr>
          <a:xfrm>
            <a:off x="7134045" y="6150771"/>
            <a:ext cx="1885720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319B7F0-74F4-CDDB-5F7D-F3809CC981AF}"/>
              </a:ext>
            </a:extLst>
          </p:cNvPr>
          <p:cNvSpPr txBox="1"/>
          <p:nvPr/>
        </p:nvSpPr>
        <p:spPr>
          <a:xfrm>
            <a:off x="2811747" y="6276657"/>
            <a:ext cx="854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/>
              <a:t>Inputs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EC7ACA1-6FD4-604B-DA5B-7620914077A1}"/>
              </a:ext>
            </a:extLst>
          </p:cNvPr>
          <p:cNvSpPr txBox="1"/>
          <p:nvPr/>
        </p:nvSpPr>
        <p:spPr>
          <a:xfrm>
            <a:off x="5801600" y="6276657"/>
            <a:ext cx="1040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/>
              <a:t>Outputs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D512520-A4B2-688E-EA71-2D48708D336D}"/>
              </a:ext>
            </a:extLst>
          </p:cNvPr>
          <p:cNvSpPr txBox="1"/>
          <p:nvPr/>
        </p:nvSpPr>
        <p:spPr>
          <a:xfrm>
            <a:off x="7576140" y="6281883"/>
            <a:ext cx="1281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/>
              <a:t>Outcomes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6D5B4F-D51E-2A99-8023-6DE9D97FB291}"/>
              </a:ext>
            </a:extLst>
          </p:cNvPr>
          <p:cNvSpPr txBox="1"/>
          <p:nvPr/>
        </p:nvSpPr>
        <p:spPr>
          <a:xfrm>
            <a:off x="1437990" y="664464"/>
            <a:ext cx="177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/>
              <a:t>Investment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3D2E1-3835-ACF4-C1AD-075F51F9848A}"/>
              </a:ext>
            </a:extLst>
          </p:cNvPr>
          <p:cNvSpPr txBox="1"/>
          <p:nvPr/>
        </p:nvSpPr>
        <p:spPr>
          <a:xfrm rot="16200000">
            <a:off x="628271" y="5134102"/>
            <a:ext cx="1775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/>
              <a:t>Investment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994813D-2646-DA5C-6A91-CF61DF41027D}"/>
              </a:ext>
            </a:extLst>
          </p:cNvPr>
          <p:cNvGrpSpPr/>
          <p:nvPr/>
        </p:nvGrpSpPr>
        <p:grpSpPr>
          <a:xfrm>
            <a:off x="2325975" y="271223"/>
            <a:ext cx="7998763" cy="2750947"/>
            <a:chOff x="2325975" y="271223"/>
            <a:chExt cx="7998763" cy="275094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46A572C-8E02-7053-7D8D-65FF1F5FE2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24738" y="309966"/>
              <a:ext cx="0" cy="2712204"/>
            </a:xfrm>
            <a:prstGeom prst="line">
              <a:avLst/>
            </a:prstGeom>
            <a:ln w="38100"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42CCED5-2EC9-AF6D-F67D-E57638A988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25975" y="286719"/>
              <a:ext cx="7998763" cy="0"/>
            </a:xfrm>
            <a:prstGeom prst="line">
              <a:avLst/>
            </a:prstGeom>
            <a:ln w="38100"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442A89D-1C3A-1829-6764-350CEAE59C77}"/>
                </a:ext>
              </a:extLst>
            </p:cNvPr>
            <p:cNvCxnSpPr>
              <a:cxnSpLocks/>
              <a:endCxn id="2" idx="0"/>
            </p:cNvCxnSpPr>
            <p:nvPr/>
          </p:nvCxnSpPr>
          <p:spPr>
            <a:xfrm>
              <a:off x="2325975" y="271223"/>
              <a:ext cx="1" cy="393241"/>
            </a:xfrm>
            <a:prstGeom prst="straightConnector1">
              <a:avLst/>
            </a:prstGeom>
            <a:ln w="38100">
              <a:prstDash val="sysDot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BC97F18-AF70-E278-5717-DCE9A3FB9B91}"/>
              </a:ext>
            </a:extLst>
          </p:cNvPr>
          <p:cNvCxnSpPr>
            <a:cxnSpLocks/>
          </p:cNvCxnSpPr>
          <p:nvPr/>
        </p:nvCxnSpPr>
        <p:spPr>
          <a:xfrm>
            <a:off x="9019765" y="6150771"/>
            <a:ext cx="2137246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985BE80-46C9-80BF-ABC8-D8A41071545C}"/>
              </a:ext>
            </a:extLst>
          </p:cNvPr>
          <p:cNvSpPr txBox="1"/>
          <p:nvPr/>
        </p:nvSpPr>
        <p:spPr>
          <a:xfrm>
            <a:off x="9562690" y="6281883"/>
            <a:ext cx="1045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/>
              <a:t>Impacts</a:t>
            </a:r>
          </a:p>
        </p:txBody>
      </p:sp>
    </p:spTree>
    <p:extLst>
      <p:ext uri="{BB962C8B-B14F-4D97-AF65-F5344CB8AC3E}">
        <p14:creationId xmlns:p14="http://schemas.microsoft.com/office/powerpoint/2010/main" val="2940241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81" grpId="0"/>
      <p:bldP spid="82" grpId="0"/>
      <p:bldP spid="3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974F6182-7633-3E0B-19E2-61AAA25BC235}"/>
              </a:ext>
            </a:extLst>
          </p:cNvPr>
          <p:cNvGrpSpPr/>
          <p:nvPr/>
        </p:nvGrpSpPr>
        <p:grpSpPr>
          <a:xfrm>
            <a:off x="1310209" y="840689"/>
            <a:ext cx="9846802" cy="4575967"/>
            <a:chOff x="1310209" y="840689"/>
            <a:chExt cx="9846802" cy="4575967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3849A3D1-DCAC-D883-A99D-388504B4AD7A}"/>
                </a:ext>
              </a:extLst>
            </p:cNvPr>
            <p:cNvGrpSpPr/>
            <p:nvPr/>
          </p:nvGrpSpPr>
          <p:grpSpPr>
            <a:xfrm>
              <a:off x="3201769" y="2557227"/>
              <a:ext cx="5217477" cy="464943"/>
              <a:chOff x="3201769" y="2595972"/>
              <a:chExt cx="5217477" cy="464943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1A6FE923-809C-E3DC-7992-76F21F220881}"/>
                  </a:ext>
                </a:extLst>
              </p:cNvPr>
              <p:cNvSpPr/>
              <p:nvPr/>
            </p:nvSpPr>
            <p:spPr>
              <a:xfrm>
                <a:off x="3201769" y="2595972"/>
                <a:ext cx="5152522" cy="89339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8" name="Arrow: Down 57">
                <a:extLst>
                  <a:ext uri="{FF2B5EF4-FFF2-40B4-BE49-F238E27FC236}">
                    <a16:creationId xmlns:a16="http://schemas.microsoft.com/office/drawing/2014/main" id="{3E0401C1-62AB-7FCE-FAAB-2754118B20F3}"/>
                  </a:ext>
                </a:extLst>
              </p:cNvPr>
              <p:cNvSpPr/>
              <p:nvPr/>
            </p:nvSpPr>
            <p:spPr>
              <a:xfrm>
                <a:off x="8241013" y="2595972"/>
                <a:ext cx="178233" cy="464943"/>
              </a:xfrm>
              <a:prstGeom prst="down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E8C8CB77-A224-3069-EC37-AA0BD171A771}"/>
                </a:ext>
              </a:extLst>
            </p:cNvPr>
            <p:cNvSpPr/>
            <p:nvPr/>
          </p:nvSpPr>
          <p:spPr>
            <a:xfrm>
              <a:off x="3301180" y="3192651"/>
              <a:ext cx="2190136" cy="44170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78286F76-14E3-B1B0-BE35-E1E78AA99C9C}"/>
                </a:ext>
              </a:extLst>
            </p:cNvPr>
            <p:cNvSpPr/>
            <p:nvPr/>
          </p:nvSpPr>
          <p:spPr>
            <a:xfrm>
              <a:off x="7007569" y="3192651"/>
              <a:ext cx="503697" cy="44170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33937AD3-4C73-02BA-A654-FE9619E63487}"/>
                </a:ext>
              </a:extLst>
            </p:cNvPr>
            <p:cNvSpPr/>
            <p:nvPr/>
          </p:nvSpPr>
          <p:spPr>
            <a:xfrm>
              <a:off x="3405624" y="4316277"/>
              <a:ext cx="1973928" cy="1100379"/>
            </a:xfrm>
            <a:prstGeom prst="hexagon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600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Health Workforce performance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E3CC3ED-AD96-6DB5-C3C7-6ABB52CD4AA6}"/>
                </a:ext>
              </a:extLst>
            </p:cNvPr>
            <p:cNvSpPr txBox="1"/>
            <p:nvPr/>
          </p:nvSpPr>
          <p:spPr>
            <a:xfrm rot="16200000">
              <a:off x="4056167" y="3526147"/>
              <a:ext cx="681921" cy="794802"/>
            </a:xfrm>
            <a:prstGeom prst="stripedRightArrow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solidFill>
                    <a:schemeClr val="bg1"/>
                  </a:solidFill>
                  <a:latin typeface="Abadi" panose="020B0604020104020204" pitchFamily="34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X</a:t>
              </a:r>
              <a:endParaRPr lang="en-GH" sz="2000" b="1">
                <a:solidFill>
                  <a:schemeClr val="bg1"/>
                </a:solidFill>
                <a:latin typeface="Abadi" panose="020B0604020104020204" pitchFamily="34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2B78087-A154-3FE5-0E8A-92E8C5205FAC}"/>
                </a:ext>
              </a:extLst>
            </p:cNvPr>
            <p:cNvSpPr txBox="1"/>
            <p:nvPr/>
          </p:nvSpPr>
          <p:spPr>
            <a:xfrm rot="5400000">
              <a:off x="2206533" y="1346344"/>
              <a:ext cx="1561555" cy="550247"/>
            </a:xfrm>
            <a:prstGeom prst="stripedRightArrow">
              <a:avLst/>
            </a:prstGeom>
            <a:solidFill>
              <a:srgbClr val="00B0F0"/>
            </a:solidFill>
          </p:spPr>
          <p:txBody>
            <a:bodyPr vert="horz" wrap="square" rtlCol="0">
              <a:spAutoFit/>
            </a:bodyPr>
            <a:lstStyle/>
            <a:p>
              <a:r>
                <a:rPr lang="en-US" sz="1200" b="1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Retention</a:t>
              </a:r>
              <a:endParaRPr lang="en-GH" sz="1200" b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84FC954-5BA2-BD8A-A644-056E76178D9E}"/>
                </a:ext>
              </a:extLst>
            </p:cNvPr>
            <p:cNvSpPr txBox="1"/>
            <p:nvPr/>
          </p:nvSpPr>
          <p:spPr>
            <a:xfrm rot="5400000">
              <a:off x="1564171" y="1345511"/>
              <a:ext cx="1559892" cy="550247"/>
            </a:xfrm>
            <a:prstGeom prst="stripedRightArrow">
              <a:avLst/>
            </a:prstGeom>
            <a:solidFill>
              <a:srgbClr val="00B0F0"/>
            </a:solidFill>
          </p:spPr>
          <p:txBody>
            <a:bodyPr vert="horz" wrap="square" rtlCol="0">
              <a:spAutoFit/>
            </a:bodyPr>
            <a:lstStyle/>
            <a:p>
              <a:r>
                <a:rPr lang="en-US" sz="1200" b="1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Employment</a:t>
              </a:r>
              <a:endParaRPr lang="en-GH" sz="1200" b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88D0C4E-5B5F-091C-B0C0-2E7782FE85DF}"/>
                </a:ext>
              </a:extLst>
            </p:cNvPr>
            <p:cNvSpPr txBox="1"/>
            <p:nvPr/>
          </p:nvSpPr>
          <p:spPr>
            <a:xfrm rot="5400000">
              <a:off x="952247" y="1370697"/>
              <a:ext cx="1497350" cy="550247"/>
            </a:xfrm>
            <a:prstGeom prst="stripedRightArrow">
              <a:avLst/>
            </a:prstGeom>
            <a:solidFill>
              <a:srgbClr val="00B0F0"/>
            </a:solidFill>
          </p:spPr>
          <p:txBody>
            <a:bodyPr vert="horz" wrap="square" rtlCol="0">
              <a:spAutoFit/>
            </a:bodyPr>
            <a:lstStyle/>
            <a:p>
              <a:r>
                <a:rPr lang="en-US" sz="1200" b="1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Education</a:t>
              </a:r>
              <a:endParaRPr lang="en-GH" sz="1200" b="1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29" name="Arrow: Striped Right 28">
              <a:extLst>
                <a:ext uri="{FF2B5EF4-FFF2-40B4-BE49-F238E27FC236}">
                  <a16:creationId xmlns:a16="http://schemas.microsoft.com/office/drawing/2014/main" id="{C0E343E3-3EE2-878C-F928-363C794292C2}"/>
                </a:ext>
              </a:extLst>
            </p:cNvPr>
            <p:cNvSpPr/>
            <p:nvPr/>
          </p:nvSpPr>
          <p:spPr>
            <a:xfrm>
              <a:off x="5511979" y="2722591"/>
              <a:ext cx="1487836" cy="1381822"/>
            </a:xfrm>
            <a:prstGeom prst="stripedRightArrow">
              <a:avLst>
                <a:gd name="adj1" fmla="val 50000"/>
                <a:gd name="adj2" fmla="val 0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Service </a:t>
              </a:r>
            </a:p>
            <a:p>
              <a:pPr algn="ctr"/>
              <a:r>
                <a:rPr lang="en-GB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coverage</a:t>
              </a:r>
            </a:p>
          </p:txBody>
        </p:sp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EC467AD5-CC3B-D196-BAA1-741AFF9CBCCE}"/>
                </a:ext>
              </a:extLst>
            </p:cNvPr>
            <p:cNvSpPr/>
            <p:nvPr/>
          </p:nvSpPr>
          <p:spPr>
            <a:xfrm>
              <a:off x="8973267" y="3192651"/>
              <a:ext cx="503697" cy="441702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sp>
          <p:nvSpPr>
            <p:cNvPr id="32" name="Arrow: Striped Right 31">
              <a:extLst>
                <a:ext uri="{FF2B5EF4-FFF2-40B4-BE49-F238E27FC236}">
                  <a16:creationId xmlns:a16="http://schemas.microsoft.com/office/drawing/2014/main" id="{CC3C86F4-5407-66F7-4289-B81247DF05E0}"/>
                </a:ext>
              </a:extLst>
            </p:cNvPr>
            <p:cNvSpPr/>
            <p:nvPr/>
          </p:nvSpPr>
          <p:spPr>
            <a:xfrm>
              <a:off x="7531929" y="2722591"/>
              <a:ext cx="1487836" cy="1381822"/>
            </a:xfrm>
            <a:prstGeom prst="stripedRightArrow">
              <a:avLst>
                <a:gd name="adj1" fmla="val 50000"/>
                <a:gd name="adj2" fmla="val 0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Health</a:t>
              </a:r>
            </a:p>
            <a:p>
              <a:pPr algn="ctr"/>
              <a:r>
                <a:rPr lang="en-GB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outcomes</a:t>
              </a:r>
            </a:p>
          </p:txBody>
        </p:sp>
        <p:sp>
          <p:nvSpPr>
            <p:cNvPr id="33" name="Arrow: Striped Right 32">
              <a:extLst>
                <a:ext uri="{FF2B5EF4-FFF2-40B4-BE49-F238E27FC236}">
                  <a16:creationId xmlns:a16="http://schemas.microsoft.com/office/drawing/2014/main" id="{C8B78831-DD94-916F-B0E1-06D3A4C781AD}"/>
                </a:ext>
              </a:extLst>
            </p:cNvPr>
            <p:cNvSpPr/>
            <p:nvPr/>
          </p:nvSpPr>
          <p:spPr>
            <a:xfrm>
              <a:off x="9492466" y="2722591"/>
              <a:ext cx="1664545" cy="1381822"/>
            </a:xfrm>
            <a:prstGeom prst="stripedRightArrow">
              <a:avLst>
                <a:gd name="adj1" fmla="val 50000"/>
                <a:gd name="adj2" fmla="val 0"/>
              </a:avLst>
            </a:prstGeom>
            <a:solidFill>
              <a:schemeClr val="accent3">
                <a:lumMod val="40000"/>
                <a:lumOff val="60000"/>
              </a:schemeClr>
            </a:solidFill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>
                  <a:solidFill>
                    <a:schemeClr val="bg1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Economic production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0F6E3ADF-BA94-D7CA-8C0D-42DBE3A7D05B}"/>
                </a:ext>
              </a:extLst>
            </p:cNvPr>
            <p:cNvSpPr/>
            <p:nvPr/>
          </p:nvSpPr>
          <p:spPr>
            <a:xfrm>
              <a:off x="1310209" y="2409994"/>
              <a:ext cx="1991012" cy="2076772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Health Workforce availability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8AADA7D-D770-8FBE-ACBB-B9C3422991AF}"/>
                </a:ext>
              </a:extLst>
            </p:cNvPr>
            <p:cNvSpPr txBox="1"/>
            <p:nvPr/>
          </p:nvSpPr>
          <p:spPr>
            <a:xfrm>
              <a:off x="7615880" y="3945613"/>
              <a:ext cx="160923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en-GB"/>
                <a:t>DALYs</a:t>
              </a: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en-GB"/>
                <a:t>HALE</a:t>
              </a:r>
            </a:p>
            <a:p>
              <a:pPr marL="85725" indent="-85725">
                <a:buFont typeface="Arial" panose="020B0604020202020204" pitchFamily="34" charset="0"/>
                <a:buChar char="•"/>
              </a:pPr>
              <a:r>
                <a:rPr lang="en-GB"/>
                <a:t>Morbidity</a:t>
              </a:r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63CF5DB4-4AB3-411D-CB93-3D55E0ACCED5}"/>
              </a:ext>
            </a:extLst>
          </p:cNvPr>
          <p:cNvSpPr/>
          <p:nvPr/>
        </p:nvSpPr>
        <p:spPr>
          <a:xfrm>
            <a:off x="1203618" y="766916"/>
            <a:ext cx="2153361" cy="5018895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  <a:p>
            <a:pPr algn="ctr"/>
            <a:endParaRPr lang="en-GB"/>
          </a:p>
          <a:p>
            <a:pPr algn="ctr"/>
            <a:endParaRPr lang="en-GB"/>
          </a:p>
          <a:p>
            <a:pPr algn="ctr"/>
            <a:endParaRPr lang="en-GB"/>
          </a:p>
          <a:p>
            <a:pPr algn="ctr"/>
            <a:endParaRPr lang="en-GB"/>
          </a:p>
          <a:p>
            <a:pPr algn="ctr"/>
            <a:endParaRPr lang="en-GB"/>
          </a:p>
          <a:p>
            <a:pPr algn="ctr"/>
            <a:endParaRPr lang="en-GB"/>
          </a:p>
          <a:p>
            <a:pPr algn="ctr"/>
            <a:endParaRPr lang="en-GB"/>
          </a:p>
          <a:p>
            <a:pPr algn="ctr"/>
            <a:endParaRPr lang="en-GB"/>
          </a:p>
          <a:p>
            <a:pPr algn="ctr"/>
            <a:endParaRPr lang="en-GB"/>
          </a:p>
          <a:p>
            <a:pPr algn="ctr"/>
            <a:endParaRPr lang="en-GB"/>
          </a:p>
          <a:p>
            <a:pPr algn="ctr"/>
            <a:endParaRPr lang="en-GB"/>
          </a:p>
          <a:p>
            <a:pPr algn="ctr"/>
            <a:endParaRPr lang="en-GB"/>
          </a:p>
          <a:p>
            <a:pPr algn="ctr"/>
            <a:endParaRPr lang="en-GB"/>
          </a:p>
          <a:p>
            <a:pPr algn="ctr"/>
            <a:endParaRPr lang="en-GB"/>
          </a:p>
          <a:p>
            <a:pPr algn="ctr"/>
            <a:endParaRPr lang="en-GB"/>
          </a:p>
          <a:p>
            <a:pPr algn="ctr"/>
            <a:r>
              <a:rPr lang="en-GB" b="1"/>
              <a:t>Investment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3FC7096-49DF-548E-A1BE-88B7333A2D8C}"/>
              </a:ext>
            </a:extLst>
          </p:cNvPr>
          <p:cNvSpPr/>
          <p:nvPr/>
        </p:nvSpPr>
        <p:spPr>
          <a:xfrm>
            <a:off x="3405625" y="766916"/>
            <a:ext cx="2022572" cy="5018897"/>
          </a:xfrm>
          <a:prstGeom prst="rect">
            <a:avLst/>
          </a:prstGeom>
          <a:solidFill>
            <a:srgbClr val="FF0000">
              <a:alpha val="16000"/>
            </a:srgb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r>
              <a:rPr lang="en-GB" b="1"/>
              <a:t>Investment</a:t>
            </a:r>
            <a:endParaRPr lang="en-GB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1728871-3769-584F-18CF-D509F497CF6C}"/>
              </a:ext>
            </a:extLst>
          </p:cNvPr>
          <p:cNvCxnSpPr/>
          <p:nvPr/>
        </p:nvCxnSpPr>
        <p:spPr>
          <a:xfrm>
            <a:off x="1211023" y="5960853"/>
            <a:ext cx="4347962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7C0CC08-264D-E638-4A04-DF3F4066E8F1}"/>
              </a:ext>
            </a:extLst>
          </p:cNvPr>
          <p:cNvCxnSpPr>
            <a:cxnSpLocks/>
          </p:cNvCxnSpPr>
          <p:nvPr/>
        </p:nvCxnSpPr>
        <p:spPr>
          <a:xfrm>
            <a:off x="5570953" y="5960853"/>
            <a:ext cx="1563092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30C0AE2-6015-166A-5B41-BB81B4C8452A}"/>
              </a:ext>
            </a:extLst>
          </p:cNvPr>
          <p:cNvCxnSpPr>
            <a:cxnSpLocks/>
          </p:cNvCxnSpPr>
          <p:nvPr/>
        </p:nvCxnSpPr>
        <p:spPr>
          <a:xfrm>
            <a:off x="7134045" y="5960853"/>
            <a:ext cx="3983157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AA5D2170-DBC9-006F-49F5-1C7A0D0AA3A0}"/>
              </a:ext>
            </a:extLst>
          </p:cNvPr>
          <p:cNvSpPr/>
          <p:nvPr/>
        </p:nvSpPr>
        <p:spPr>
          <a:xfrm>
            <a:off x="5482699" y="766916"/>
            <a:ext cx="1698094" cy="5018897"/>
          </a:xfrm>
          <a:prstGeom prst="rect">
            <a:avLst/>
          </a:prstGeom>
          <a:solidFill>
            <a:schemeClr val="bg2">
              <a:lumMod val="75000"/>
              <a:alpha val="16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 b="1"/>
          </a:p>
          <a:p>
            <a:pPr algn="ctr"/>
            <a:endParaRPr lang="en-GB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FACC8CF-C9DD-71DE-A795-F249C482E945}"/>
              </a:ext>
            </a:extLst>
          </p:cNvPr>
          <p:cNvSpPr txBox="1"/>
          <p:nvPr/>
        </p:nvSpPr>
        <p:spPr>
          <a:xfrm>
            <a:off x="2811747" y="6086739"/>
            <a:ext cx="854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/>
              <a:t>Inputs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3F72680-946B-D96E-8864-272E6DAE6B23}"/>
              </a:ext>
            </a:extLst>
          </p:cNvPr>
          <p:cNvSpPr txBox="1"/>
          <p:nvPr/>
        </p:nvSpPr>
        <p:spPr>
          <a:xfrm>
            <a:off x="5801600" y="6086739"/>
            <a:ext cx="1040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/>
              <a:t>Outputs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BBA85D1-B804-A351-33A9-380EF1CB3A53}"/>
              </a:ext>
            </a:extLst>
          </p:cNvPr>
          <p:cNvSpPr txBox="1"/>
          <p:nvPr/>
        </p:nvSpPr>
        <p:spPr>
          <a:xfrm>
            <a:off x="8079833" y="6091965"/>
            <a:ext cx="2385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/>
              <a:t>Outcomes &amp; impacts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E0C771A-4B03-C197-6765-FCB9D32A2051}"/>
              </a:ext>
            </a:extLst>
          </p:cNvPr>
          <p:cNvSpPr/>
          <p:nvPr/>
        </p:nvSpPr>
        <p:spPr>
          <a:xfrm>
            <a:off x="7255733" y="766917"/>
            <a:ext cx="3938763" cy="5018896"/>
          </a:xfrm>
          <a:prstGeom prst="rect">
            <a:avLst/>
          </a:prstGeom>
          <a:solidFill>
            <a:srgbClr val="00B050">
              <a:alpha val="16000"/>
            </a:srgb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/>
          </a:p>
          <a:p>
            <a:pPr algn="ctr"/>
            <a:endParaRPr lang="en-GB" sz="1600" b="1"/>
          </a:p>
          <a:p>
            <a:pPr algn="ctr"/>
            <a:endParaRPr lang="en-GB" sz="1600" b="1"/>
          </a:p>
          <a:p>
            <a:pPr algn="ctr"/>
            <a:endParaRPr lang="en-GB" sz="1600" b="1"/>
          </a:p>
          <a:p>
            <a:pPr algn="ctr"/>
            <a:endParaRPr lang="en-GB" sz="1600" b="1"/>
          </a:p>
          <a:p>
            <a:pPr algn="ctr"/>
            <a:endParaRPr lang="en-GB" sz="1600" b="1"/>
          </a:p>
          <a:p>
            <a:pPr algn="ctr"/>
            <a:endParaRPr lang="en-GB" sz="1600" b="1"/>
          </a:p>
          <a:p>
            <a:pPr algn="ctr"/>
            <a:endParaRPr lang="en-GB" sz="1600" b="1"/>
          </a:p>
          <a:p>
            <a:pPr algn="ctr"/>
            <a:endParaRPr lang="en-GB" sz="1600" b="1"/>
          </a:p>
          <a:p>
            <a:pPr algn="ctr"/>
            <a:endParaRPr lang="en-GB" sz="1600" b="1"/>
          </a:p>
          <a:p>
            <a:pPr algn="ctr"/>
            <a:endParaRPr lang="en-GB" sz="1600" b="1"/>
          </a:p>
          <a:p>
            <a:pPr algn="ctr"/>
            <a:endParaRPr lang="en-GB" sz="1600" b="1"/>
          </a:p>
          <a:p>
            <a:pPr algn="ctr"/>
            <a:endParaRPr lang="en-GB" sz="1600" b="1"/>
          </a:p>
          <a:p>
            <a:pPr algn="ctr"/>
            <a:endParaRPr lang="en-GB" sz="1600" b="1"/>
          </a:p>
          <a:p>
            <a:pPr algn="ctr"/>
            <a:endParaRPr lang="en-GB" sz="1600" b="1"/>
          </a:p>
          <a:p>
            <a:pPr algn="ctr"/>
            <a:endParaRPr lang="en-GB" sz="1600" b="1"/>
          </a:p>
          <a:p>
            <a:pPr algn="ctr"/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185885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77" grpId="0" animBg="1"/>
      <p:bldP spid="80" grpId="0"/>
      <p:bldP spid="81" grpId="0"/>
      <p:bldP spid="82" grpId="0"/>
      <p:bldP spid="8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Widescreen</PresentationFormat>
  <Paragraphs>103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Abadi</vt:lpstr>
      <vt:lpstr>ADLaM Display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BEDIAKON, Kouadjo San Boris</dc:creator>
  <cp:lastModifiedBy>MUNG'ATU, Joseph</cp:lastModifiedBy>
  <cp:revision>2</cp:revision>
  <dcterms:created xsi:type="dcterms:W3CDTF">2025-07-10T08:59:11Z</dcterms:created>
  <dcterms:modified xsi:type="dcterms:W3CDTF">2025-07-11T12:42:37Z</dcterms:modified>
</cp:coreProperties>
</file>
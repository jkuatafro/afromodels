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94" r:id="rId3"/>
    <p:sldId id="500" r:id="rId4"/>
    <p:sldId id="513" r:id="rId5"/>
    <p:sldId id="501" r:id="rId6"/>
    <p:sldId id="505" r:id="rId7"/>
    <p:sldId id="502" r:id="rId8"/>
    <p:sldId id="503" r:id="rId9"/>
    <p:sldId id="446" r:id="rId10"/>
    <p:sldId id="44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1" autoAdjust="0"/>
    <p:restoredTop sz="83476" autoAdjust="0"/>
  </p:normalViewPr>
  <p:slideViewPr>
    <p:cSldViewPr snapToGrid="0">
      <p:cViewPr varScale="1">
        <p:scale>
          <a:sx n="53" d="100"/>
          <a:sy n="53" d="100"/>
        </p:scale>
        <p:origin x="1144" y="2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8" d="100"/>
          <a:sy n="48" d="100"/>
        </p:scale>
        <p:origin x="2752" y="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72F7E9-F5CE-4B6D-93D0-CB58120570F9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A30DC-B284-417C-945E-49A2E8B1D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676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FA30DC-B284-417C-945E-49A2E8B1DB4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23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FA30DC-B284-417C-945E-49A2E8B1DB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0320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CC8AD-7AAA-6DE0-D566-78C7D290F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6368D8-866B-E6E6-3DF8-BCB8BBDF69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429AB7-0E6A-D86A-F313-E482157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B92DB-1A25-69AC-06B8-2B2ADA128A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FA30DC-B284-417C-945E-49A2E8B1DB4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8032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00086-373A-0888-752E-F973299E8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A8B518-271C-A3D8-3188-95E0FF1B68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5E48C1-29BC-2B00-706A-16652010B0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2E569F-1596-50AA-E470-2E45E96B6B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FA30DC-B284-417C-945E-49A2E8B1DB4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5690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3D34A-0B51-5764-D0C7-7DC329BD1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65B6D0-0F13-9D4A-D2AA-C57509E7F3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1EEB63-5C81-96EC-75CA-868D538E72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6D676-8FBD-25E4-2687-C04F960FB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FA30DC-B284-417C-945E-49A2E8B1DB4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0005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FD486-38B4-CAE5-F574-A3A472745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E58701-EA03-2EF8-49C8-A4A8A470FD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FC3BC0-39EF-0CB8-3947-B403F376FB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8A88D2-554C-0589-EBEA-F4EB17192E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FA30DC-B284-417C-945E-49A2E8B1DB4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8275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A3B63-F695-C65F-6FBD-A6A85F6A0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0DD6CB-11B1-B898-CDE0-79CAFD359A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B9C490-2A92-4D0D-8E27-E2B01DA9A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DF5ED-68ED-7FE7-E1E2-124204F89F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FA30DC-B284-417C-945E-49A2E8B1DB4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7977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FA30DC-B284-417C-945E-49A2E8B1DB4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315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2ED74-35B3-49FF-A759-D0D0D2A934C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4F79A-CE3A-4F86-A73A-5192C3C9B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60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2ED74-35B3-49FF-A759-D0D0D2A934C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4F79A-CE3A-4F86-A73A-5192C3C9B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59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2ED74-35B3-49FF-A759-D0D0D2A934C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4F79A-CE3A-4F86-A73A-5192C3C9B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129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2ED74-35B3-49FF-A759-D0D0D2A934C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4F79A-CE3A-4F86-A73A-5192C3C9B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200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2ED74-35B3-49FF-A759-D0D0D2A934C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4F79A-CE3A-4F86-A73A-5192C3C9B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79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2ED74-35B3-49FF-A759-D0D0D2A934C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4F79A-CE3A-4F86-A73A-5192C3C9B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281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2ED74-35B3-49FF-A759-D0D0D2A934C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4F79A-CE3A-4F86-A73A-5192C3C9B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93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2ED74-35B3-49FF-A759-D0D0D2A934C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4F79A-CE3A-4F86-A73A-5192C3C9B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659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2ED74-35B3-49FF-A759-D0D0D2A934C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4F79A-CE3A-4F86-A73A-5192C3C9B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302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2ED74-35B3-49FF-A759-D0D0D2A934C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4F79A-CE3A-4F86-A73A-5192C3C9B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386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2ED74-35B3-49FF-A759-D0D0D2A934C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4F79A-CE3A-4F86-A73A-5192C3C9B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648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2ED74-35B3-49FF-A759-D0D0D2A934C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4F79A-CE3A-4F86-A73A-5192C3C9B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950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401006" cy="6858000"/>
            <a:chOff x="34145" y="-16329"/>
            <a:chExt cx="12283440" cy="6858000"/>
          </a:xfrm>
        </p:grpSpPr>
        <p:pic>
          <p:nvPicPr>
            <p:cNvPr id="15361" name="Picture 4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-209" b="17174"/>
            <a:stretch/>
          </p:blipFill>
          <p:spPr bwMode="auto">
            <a:xfrm>
              <a:off x="34145" y="-16329"/>
              <a:ext cx="1228344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62" name="TextBox 6"/>
            <p:cNvSpPr txBox="1">
              <a:spLocks noChangeArrowheads="1"/>
            </p:cNvSpPr>
            <p:nvPr/>
          </p:nvSpPr>
          <p:spPr bwMode="auto">
            <a:xfrm>
              <a:off x="887041" y="1456371"/>
              <a:ext cx="10966691" cy="29854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KE" b="1" dirty="0"/>
                <a:t>WHO AFRO NETWORK OF PARTNER INSTITUTIONS </a:t>
              </a:r>
              <a:endParaRPr lang="en-US" sz="2800" b="1" dirty="0"/>
            </a:p>
            <a:p>
              <a:pPr algn="ctr"/>
              <a:endParaRPr lang="en-US" sz="2800" b="1" dirty="0"/>
            </a:p>
            <a:p>
              <a:pPr algn="ctr"/>
              <a:endParaRPr lang="en-US" sz="2800" b="1" dirty="0"/>
            </a:p>
            <a:p>
              <a:pPr algn="ctr"/>
              <a:endParaRPr lang="en-US" sz="2800" b="1" dirty="0"/>
            </a:p>
            <a:p>
              <a:pPr algn="ctr"/>
              <a:r>
                <a:rPr lang="en-KE" sz="2800" b="1" dirty="0"/>
                <a:t> </a:t>
              </a:r>
              <a:r>
                <a:rPr lang="en-KE" b="1" dirty="0"/>
                <a:t>Enhancing SRHR Workforce Development in Africa</a:t>
              </a:r>
              <a:endParaRPr lang="en-KE" dirty="0"/>
            </a:p>
            <a:p>
              <a:pPr algn="ctr"/>
              <a:r>
                <a:rPr lang="en-KE" b="1" dirty="0" err="1"/>
                <a:t>JKUAT’s</a:t>
              </a:r>
              <a:r>
                <a:rPr lang="en-KE" b="1" dirty="0"/>
                <a:t> Contribution to WHO AFRO Pillar 2 Initiative</a:t>
              </a:r>
              <a:endParaRPr lang="en-KE" dirty="0"/>
            </a:p>
            <a:p>
              <a:pPr algn="ctr"/>
              <a:endParaRPr lang="en-US" sz="2800" b="1" dirty="0">
                <a:latin typeface="+mn-lt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1846518" y="3933577"/>
              <a:ext cx="8451669" cy="25237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Jomo Kenyatta University of Agriculture and Technology (JKUAT)</a:t>
              </a:r>
            </a:p>
            <a:p>
              <a:pPr algn="ctr"/>
              <a:endParaRPr 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2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27</a:t>
              </a:r>
              <a:r>
                <a:rPr lang="en-US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th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January 2026</a:t>
              </a:r>
              <a:r>
                <a:rPr lang="en-KE" dirty="0">
                  <a:latin typeface="Arial" panose="020B0604020202020204" pitchFamily="34" charset="0"/>
                  <a:cs typeface="Arial" panose="020B0604020202020204" pitchFamily="34" charset="0"/>
                </a:rPr>
                <a:t>,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Nairobi - </a:t>
              </a:r>
              <a:r>
                <a:rPr lang="en-KE" dirty="0">
                  <a:latin typeface="Arial" panose="020B0604020202020204" pitchFamily="34" charset="0"/>
                  <a:cs typeface="Arial" panose="020B0604020202020204" pitchFamily="34" charset="0"/>
                </a:rPr>
                <a:t> Kenya</a:t>
              </a:r>
            </a:p>
            <a:p>
              <a:pPr algn="ctr"/>
              <a:endParaRPr lang="en-US" sz="2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51797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108"/>
    </mc:Choice>
    <mc:Fallback xmlns="">
      <p:transition spd="slow" advTm="2410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64759"/>
            <a:chOff x="0" y="0"/>
            <a:chExt cx="12192000" cy="6864759"/>
          </a:xfrm>
        </p:grpSpPr>
        <p:pic>
          <p:nvPicPr>
            <p:cNvPr id="15361" name="Picture 4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-209" b="17174"/>
            <a:stretch/>
          </p:blipFill>
          <p:spPr bwMode="auto"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62" name="TextBox 6"/>
            <p:cNvSpPr txBox="1">
              <a:spLocks noChangeArrowheads="1"/>
            </p:cNvSpPr>
            <p:nvPr/>
          </p:nvSpPr>
          <p:spPr bwMode="auto">
            <a:xfrm>
              <a:off x="2560320" y="1854926"/>
              <a:ext cx="8273685" cy="50098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lvl="0">
                <a:lnSpc>
                  <a:spcPct val="150000"/>
                </a:lnSpc>
              </a:pPr>
              <a:r>
                <a:rPr lang="en-KE" b="1" dirty="0"/>
                <a:t>Jomo Kenyatta University of Agriculture and Technology (JKUAT)</a:t>
              </a:r>
              <a:endParaRPr lang="en-KE" dirty="0"/>
            </a:p>
            <a:p>
              <a:pPr marL="800100" lvl="1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KE" dirty="0"/>
                <a:t>Established in 1981; a leading public university in Kenya.</a:t>
              </a:r>
            </a:p>
            <a:p>
              <a:pPr marL="800100" lvl="1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KE" dirty="0"/>
                <a:t>Over 35,000 students across 6 colleges and 23 schools.</a:t>
              </a:r>
            </a:p>
            <a:p>
              <a:pPr marL="800100" lvl="1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KE" dirty="0"/>
                <a:t>Core focus: STEM, research, innovation, and community engagement.</a:t>
              </a:r>
            </a:p>
            <a:p>
              <a:pPr marL="342900" lvl="0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endParaRPr lang="en-KE" dirty="0"/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3637187" y="337058"/>
              <a:ext cx="567980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KE" sz="3600" b="1" dirty="0"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  <a:endParaRPr lang="en-KE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35477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210"/>
    </mc:Choice>
    <mc:Fallback xmlns="">
      <p:transition spd="slow" advTm="1121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F2225-18AF-FCC3-DBF0-3BC2B0D39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D44A7E4-750B-3312-063C-7AFA242FD457}"/>
              </a:ext>
            </a:extLst>
          </p:cNvPr>
          <p:cNvGrpSpPr/>
          <p:nvPr/>
        </p:nvGrpSpPr>
        <p:grpSpPr>
          <a:xfrm>
            <a:off x="0" y="0"/>
            <a:ext cx="12801600" cy="7826074"/>
            <a:chOff x="0" y="0"/>
            <a:chExt cx="12801600" cy="7826074"/>
          </a:xfrm>
        </p:grpSpPr>
        <p:pic>
          <p:nvPicPr>
            <p:cNvPr id="15361" name="Picture 4">
              <a:extLst>
                <a:ext uri="{FF2B5EF4-FFF2-40B4-BE49-F238E27FC236}">
                  <a16:creationId xmlns:a16="http://schemas.microsoft.com/office/drawing/2014/main" id="{959C1B19-48C6-401A-D0A9-9FC1032A177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-209" b="17174"/>
            <a:stretch/>
          </p:blipFill>
          <p:spPr bwMode="auto"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62" name="TextBox 6">
              <a:extLst>
                <a:ext uri="{FF2B5EF4-FFF2-40B4-BE49-F238E27FC236}">
                  <a16:creationId xmlns:a16="http://schemas.microsoft.com/office/drawing/2014/main" id="{1CB03936-4394-DA81-6DE0-A5DEAA4785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8938" y="1320447"/>
              <a:ext cx="11682662" cy="65056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KE" b="1" dirty="0"/>
                <a:t>A Multidisciplinary Expert Group</a:t>
              </a:r>
              <a:endParaRPr lang="en-KE" dirty="0"/>
            </a:p>
            <a:p>
              <a:pPr marL="457200" lvl="0" indent="-457200">
                <a:lnSpc>
                  <a:spcPct val="150000"/>
                </a:lnSpc>
                <a:buFont typeface="+mj-lt"/>
                <a:buAutoNum type="arabicPeriod"/>
              </a:pPr>
              <a:r>
                <a:rPr lang="en-KE" sz="2000" b="1" dirty="0"/>
                <a:t>Prof. Anthony </a:t>
              </a:r>
              <a:r>
                <a:rPr lang="en-KE" sz="2000" b="1" dirty="0" err="1"/>
                <a:t>Waititu</a:t>
              </a:r>
              <a:r>
                <a:rPr lang="en-KE" sz="2000" dirty="0"/>
                <a:t> – Dean, School of Mathematical &amp; Physical Sciences (Strategic Lead)</a:t>
              </a:r>
            </a:p>
            <a:p>
              <a:pPr marL="457200" lvl="0" indent="-457200">
                <a:lnSpc>
                  <a:spcPct val="150000"/>
                </a:lnSpc>
                <a:buFont typeface="+mj-lt"/>
                <a:buAutoNum type="arabicPeriod"/>
              </a:pPr>
              <a:r>
                <a:rPr lang="en-KE" sz="2000" b="1" dirty="0"/>
                <a:t>Dr. Charity </a:t>
              </a:r>
              <a:r>
                <a:rPr lang="en-KE" sz="2000" b="1" dirty="0" err="1"/>
                <a:t>Wamwea</a:t>
              </a:r>
              <a:r>
                <a:rPr lang="en-KE" sz="2000" dirty="0"/>
                <a:t> – Chair, STACS (Departmental Leadership)</a:t>
              </a:r>
            </a:p>
            <a:p>
              <a:pPr marL="457200" lvl="0" indent="-457200">
                <a:lnSpc>
                  <a:spcPct val="150000"/>
                </a:lnSpc>
                <a:buFont typeface="+mj-lt"/>
                <a:buAutoNum type="arabicPeriod"/>
              </a:pPr>
              <a:r>
                <a:rPr lang="en-US" sz="2000" b="1" dirty="0"/>
                <a:t>Dr</a:t>
              </a:r>
              <a:r>
                <a:rPr lang="en-KE" sz="2000" b="1" dirty="0"/>
                <a:t>. Joseph K. Mung’atu</a:t>
              </a:r>
              <a:r>
                <a:rPr lang="en-KE" sz="2000" dirty="0"/>
                <a:t> – PI/Technical Lead (Statistical Modelling)</a:t>
              </a:r>
            </a:p>
            <a:p>
              <a:pPr marL="457200" lvl="0" indent="-457200">
                <a:lnSpc>
                  <a:spcPct val="150000"/>
                </a:lnSpc>
                <a:buFont typeface="+mj-lt"/>
                <a:buAutoNum type="arabicPeriod"/>
              </a:pPr>
              <a:r>
                <a:rPr lang="en-KE" sz="2000" b="1" dirty="0"/>
                <a:t>Dr. Jane A. Akinyi</a:t>
              </a:r>
              <a:r>
                <a:rPr lang="en-KE" sz="2000" dirty="0"/>
                <a:t> – Co-I (Health Statistics &amp; Research)</a:t>
              </a:r>
            </a:p>
            <a:p>
              <a:pPr marL="457200" lvl="0" indent="-457200">
                <a:lnSpc>
                  <a:spcPct val="150000"/>
                </a:lnSpc>
                <a:buFont typeface="+mj-lt"/>
                <a:buAutoNum type="arabicPeriod"/>
              </a:pPr>
              <a:r>
                <a:rPr lang="en-KE" sz="2000" b="1" dirty="0"/>
                <a:t>Dr. Winnie Chacha</a:t>
              </a:r>
              <a:r>
                <a:rPr lang="en-KE" sz="2000" dirty="0"/>
                <a:t> – Co-I (Financial Modelling &amp; Statistics)</a:t>
              </a:r>
            </a:p>
            <a:p>
              <a:pPr marL="457200" lvl="0" indent="-457200">
                <a:lnSpc>
                  <a:spcPct val="150000"/>
                </a:lnSpc>
                <a:buFont typeface="+mj-lt"/>
                <a:buAutoNum type="arabicPeriod"/>
              </a:pPr>
              <a:r>
                <a:rPr lang="en-KE" sz="2000" b="1" dirty="0"/>
                <a:t>Dr. Ann </a:t>
              </a:r>
              <a:r>
                <a:rPr lang="en-KE" sz="2000" b="1" dirty="0" err="1"/>
                <a:t>Omamo</a:t>
              </a:r>
              <a:r>
                <a:rPr lang="en-KE" sz="2000" dirty="0"/>
                <a:t> – Co-I (Human Resource Management)</a:t>
              </a:r>
            </a:p>
            <a:p>
              <a:pPr marL="457200" lvl="0" indent="-457200">
                <a:lnSpc>
                  <a:spcPct val="150000"/>
                </a:lnSpc>
                <a:buFont typeface="+mj-lt"/>
                <a:buAutoNum type="arabicPeriod"/>
              </a:pPr>
              <a:r>
                <a:rPr lang="en-KE" sz="2000" b="1" dirty="0"/>
                <a:t>Mr. Henry Kissinger Ochieng</a:t>
              </a:r>
              <a:r>
                <a:rPr lang="en-KE" sz="2000" dirty="0"/>
                <a:t> – Co-I (Statistics)</a:t>
              </a:r>
            </a:p>
            <a:p>
              <a:pPr marL="457200" lvl="0" indent="-457200">
                <a:lnSpc>
                  <a:spcPct val="150000"/>
                </a:lnSpc>
                <a:buFont typeface="+mj-lt"/>
                <a:buAutoNum type="arabicPeriod"/>
              </a:pPr>
              <a:r>
                <a:rPr lang="en-KE" sz="2000" b="1" dirty="0"/>
                <a:t>Ms. Caro W. Mugo</a:t>
              </a:r>
              <a:r>
                <a:rPr lang="en-KE" sz="2000" dirty="0"/>
                <a:t> – Co-I (Statistics)</a:t>
              </a:r>
            </a:p>
            <a:p>
              <a:pPr marL="457200" lvl="0" indent="-457200">
                <a:lnSpc>
                  <a:spcPct val="150000"/>
                </a:lnSpc>
                <a:buFont typeface="+mj-lt"/>
                <a:buAutoNum type="arabicPeriod"/>
              </a:pPr>
              <a:r>
                <a:rPr lang="en-KE" sz="2000" b="1" dirty="0"/>
                <a:t>Dr. </a:t>
              </a:r>
              <a:r>
                <a:rPr lang="en-KE" sz="2000" b="1" dirty="0" err="1"/>
                <a:t>Matabel</a:t>
              </a:r>
              <a:r>
                <a:rPr lang="en-KE" sz="2000" b="1" dirty="0"/>
                <a:t> Odin</a:t>
              </a:r>
              <a:r>
                <a:rPr lang="en-KE" sz="2000" dirty="0"/>
                <a:t> – Co-I (Financial Mathematics)</a:t>
              </a:r>
            </a:p>
            <a:p>
              <a:pPr lvl="0">
                <a:lnSpc>
                  <a:spcPct val="110000"/>
                </a:lnSpc>
              </a:pPr>
              <a:endParaRPr lang="en-US" dirty="0"/>
            </a:p>
            <a:p>
              <a:r>
                <a:rPr lang="en-KE" i="1" dirty="0"/>
                <a:t>Supported by institutional grants office and admin staff.</a:t>
              </a:r>
              <a:endParaRPr lang="en-KE" dirty="0"/>
            </a:p>
            <a:p>
              <a:br>
                <a:rPr lang="en-KE" dirty="0"/>
              </a:br>
              <a:endParaRPr lang="en-KE" dirty="0"/>
            </a:p>
            <a:p>
              <a:pPr lvl="0">
                <a:lnSpc>
                  <a:spcPct val="110000"/>
                </a:lnSpc>
              </a:pPr>
              <a:endParaRPr lang="en-KE" dirty="0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30C3009-A2F5-9F53-2A62-3D1559797AA6}"/>
                </a:ext>
              </a:extLst>
            </p:cNvPr>
            <p:cNvSpPr txBox="1"/>
            <p:nvPr/>
          </p:nvSpPr>
          <p:spPr>
            <a:xfrm>
              <a:off x="3637187" y="337058"/>
              <a:ext cx="567980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KE" sz="3600" b="1" dirty="0">
                  <a:latin typeface="Arial" panose="020B0604020202020204" pitchFamily="34" charset="0"/>
                  <a:cs typeface="Arial" panose="020B0604020202020204" pitchFamily="34" charset="0"/>
                </a:rPr>
                <a:t>The JKUAT Project Team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89740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210"/>
    </mc:Choice>
    <mc:Fallback xmlns="">
      <p:transition spd="slow" advTm="1121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153F4-EF3B-51AF-677D-4692DECB8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1DF0284-C334-9A61-5910-C3E3B441311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5361" name="Picture 4">
              <a:extLst>
                <a:ext uri="{FF2B5EF4-FFF2-40B4-BE49-F238E27FC236}">
                  <a16:creationId xmlns:a16="http://schemas.microsoft.com/office/drawing/2014/main" id="{6DE0BB36-5066-5AF2-38B4-74A51895138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-209" b="17174"/>
            <a:stretch/>
          </p:blipFill>
          <p:spPr bwMode="auto"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62" name="TextBox 6">
              <a:extLst>
                <a:ext uri="{FF2B5EF4-FFF2-40B4-BE49-F238E27FC236}">
                  <a16:creationId xmlns:a16="http://schemas.microsoft.com/office/drawing/2014/main" id="{61553813-48F4-7C99-EA07-8C0068F300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9483" y="1595021"/>
              <a:ext cx="10078266" cy="12795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lvl="0">
                <a:lnSpc>
                  <a:spcPct val="110000"/>
                </a:lnSpc>
              </a:pPr>
              <a:endParaRPr lang="en-US" dirty="0"/>
            </a:p>
            <a:p>
              <a:pPr lvl="0">
                <a:lnSpc>
                  <a:spcPct val="110000"/>
                </a:lnSpc>
              </a:pPr>
              <a:endParaRPr lang="en-US" dirty="0"/>
            </a:p>
            <a:p>
              <a:pPr lvl="0">
                <a:lnSpc>
                  <a:spcPct val="110000"/>
                </a:lnSpc>
              </a:pPr>
              <a:endParaRPr lang="en-KE" dirty="0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5C36CAD-0EB1-9EF0-2EFB-14FED8A5ED56}"/>
                </a:ext>
              </a:extLst>
            </p:cNvPr>
            <p:cNvSpPr txBox="1"/>
            <p:nvPr/>
          </p:nvSpPr>
          <p:spPr>
            <a:xfrm>
              <a:off x="3637187" y="337058"/>
              <a:ext cx="567980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KE" sz="3600" b="1" dirty="0">
                  <a:latin typeface="Arial" panose="020B0604020202020204" pitchFamily="34" charset="0"/>
                  <a:cs typeface="Arial" panose="020B0604020202020204" pitchFamily="34" charset="0"/>
                </a:rPr>
                <a:t>The JKUAT Project Team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18BEFF1-A024-8990-4461-6CBD3ED8B0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57" t="17757" r="14213"/>
          <a:stretch>
            <a:fillRect/>
          </a:stretch>
        </p:blipFill>
        <p:spPr bwMode="auto">
          <a:xfrm>
            <a:off x="1840833" y="885149"/>
            <a:ext cx="9051684" cy="61103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77449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210"/>
    </mc:Choice>
    <mc:Fallback xmlns="">
      <p:transition spd="slow" advTm="1121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AEC78-22A3-49E2-5B6C-782D5068B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A4D8FCC-0573-67E2-809D-ED6E15B9B5E5}"/>
              </a:ext>
            </a:extLst>
          </p:cNvPr>
          <p:cNvGrpSpPr/>
          <p:nvPr/>
        </p:nvGrpSpPr>
        <p:grpSpPr>
          <a:xfrm>
            <a:off x="0" y="0"/>
            <a:ext cx="12192000" cy="7074794"/>
            <a:chOff x="0" y="0"/>
            <a:chExt cx="12192000" cy="7074794"/>
          </a:xfrm>
        </p:grpSpPr>
        <p:pic>
          <p:nvPicPr>
            <p:cNvPr id="15361" name="Picture 4">
              <a:extLst>
                <a:ext uri="{FF2B5EF4-FFF2-40B4-BE49-F238E27FC236}">
                  <a16:creationId xmlns:a16="http://schemas.microsoft.com/office/drawing/2014/main" id="{34D87618-AA5B-E4FA-DE17-087ABDEDCC9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-209" b="17174"/>
            <a:stretch/>
          </p:blipFill>
          <p:spPr bwMode="auto"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62" name="TextBox 6">
              <a:extLst>
                <a:ext uri="{FF2B5EF4-FFF2-40B4-BE49-F238E27FC236}">
                  <a16:creationId xmlns:a16="http://schemas.microsoft.com/office/drawing/2014/main" id="{406E87DA-03FE-5190-D489-3BA24ECA57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0972" y="2110102"/>
              <a:ext cx="9593034" cy="49646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n-KE" sz="1800" b="1" dirty="0"/>
                <a:t>Aligned with WHO AFRO Network Of Partner Institutions </a:t>
              </a:r>
              <a:endParaRPr lang="en-KE" sz="1800" dirty="0"/>
            </a:p>
            <a:p>
              <a:pPr>
                <a:lnSpc>
                  <a:spcPct val="120000"/>
                </a:lnSpc>
              </a:pPr>
              <a:r>
                <a:rPr lang="en-KE" sz="1800" b="1" dirty="0"/>
                <a:t>Pillar 2 &amp; Regional HRH Strategy</a:t>
              </a:r>
              <a:r>
                <a:rPr lang="en-US" sz="1800" b="1" dirty="0"/>
                <a:t> “</a:t>
              </a:r>
              <a:r>
                <a:rPr lang="en-GB" sz="1800" i="1" dirty="0"/>
                <a:t>Support research and knowledge translation on workforce needs, planning, productivity including developing tools for workplace deployment, retention, continuing professional development</a:t>
              </a:r>
              <a:r>
                <a:rPr lang="en-GB" sz="1800" dirty="0"/>
                <a:t>”</a:t>
              </a:r>
              <a:endParaRPr lang="en-KE" sz="1800" dirty="0"/>
            </a:p>
            <a:p>
              <a:pPr lvl="0">
                <a:lnSpc>
                  <a:spcPct val="120000"/>
                </a:lnSpc>
              </a:pPr>
              <a:endParaRPr lang="en-US" sz="1800" b="1" dirty="0"/>
            </a:p>
            <a:p>
              <a:pPr lvl="0">
                <a:lnSpc>
                  <a:spcPct val="150000"/>
                </a:lnSpc>
              </a:pPr>
              <a:r>
                <a:rPr lang="en-KE" sz="1800" b="1" dirty="0"/>
                <a:t>Conduct operational research</a:t>
              </a:r>
              <a:r>
                <a:rPr lang="en-KE" sz="1800" dirty="0"/>
                <a:t> to inform:</a:t>
              </a:r>
            </a:p>
            <a:p>
              <a:pPr lvl="1">
                <a:lnSpc>
                  <a:spcPct val="150000"/>
                </a:lnSpc>
              </a:pPr>
              <a:r>
                <a:rPr lang="en-KE" sz="1800" dirty="0"/>
                <a:t>Workforce </a:t>
              </a:r>
              <a:r>
                <a:rPr lang="en-US" sz="1800" dirty="0"/>
                <a:t>production, </a:t>
              </a:r>
              <a:r>
                <a:rPr lang="en-KE" sz="1800" dirty="0"/>
                <a:t>retention, deployment, and productivity.</a:t>
              </a:r>
            </a:p>
            <a:p>
              <a:pPr lvl="1">
                <a:lnSpc>
                  <a:spcPct val="150000"/>
                </a:lnSpc>
              </a:pPr>
              <a:r>
                <a:rPr lang="en-KE" sz="1800" dirty="0"/>
                <a:t>Investment models (ROI, human capital gains).</a:t>
              </a:r>
            </a:p>
            <a:p>
              <a:pPr lvl="0">
                <a:lnSpc>
                  <a:spcPct val="150000"/>
                </a:lnSpc>
              </a:pPr>
              <a:r>
                <a:rPr lang="en-KE" sz="1800" b="1" dirty="0"/>
                <a:t>Generate actionable evidence</a:t>
              </a:r>
              <a:r>
                <a:rPr lang="en-KE" sz="1800" dirty="0"/>
                <a:t> to support:</a:t>
              </a:r>
            </a:p>
            <a:p>
              <a:pPr lvl="1">
                <a:lnSpc>
                  <a:spcPct val="150000"/>
                </a:lnSpc>
              </a:pPr>
              <a:r>
                <a:rPr lang="en-KE" sz="1800" dirty="0"/>
                <a:t>HRH policy reform</a:t>
              </a:r>
            </a:p>
            <a:p>
              <a:pPr lvl="1">
                <a:lnSpc>
                  <a:spcPct val="150000"/>
                </a:lnSpc>
              </a:pPr>
              <a:r>
                <a:rPr lang="en-KE" sz="1800" dirty="0"/>
                <a:t>SRHR competency integration</a:t>
              </a:r>
            </a:p>
            <a:p>
              <a:pPr lvl="1">
                <a:lnSpc>
                  <a:spcPct val="150000"/>
                </a:lnSpc>
              </a:pPr>
              <a:r>
                <a:rPr lang="en-KE" sz="1800" dirty="0"/>
                <a:t>Data-driven decision-making for </a:t>
              </a:r>
              <a:r>
                <a:rPr lang="en-US" sz="1800" dirty="0"/>
                <a:t>the </a:t>
              </a:r>
              <a:r>
                <a:rPr lang="en-KE" sz="1800" dirty="0"/>
                <a:t>UHC and SDGs.</a:t>
              </a:r>
            </a:p>
            <a:p>
              <a:pPr lvl="0">
                <a:lnSpc>
                  <a:spcPct val="120000"/>
                </a:lnSpc>
              </a:pPr>
              <a:endParaRPr lang="en-KE" sz="1800" dirty="0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025A636-59F8-33F2-1586-807FC1877577}"/>
                </a:ext>
              </a:extLst>
            </p:cNvPr>
            <p:cNvSpPr txBox="1"/>
            <p:nvPr/>
          </p:nvSpPr>
          <p:spPr>
            <a:xfrm>
              <a:off x="2438401" y="337058"/>
              <a:ext cx="72063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KE" sz="3600" b="1" dirty="0">
                  <a:latin typeface="Arial" panose="020B0604020202020204" pitchFamily="34" charset="0"/>
                  <a:cs typeface="Arial" panose="020B0604020202020204" pitchFamily="34" charset="0"/>
                </a:rPr>
                <a:t>Mandate of the JKUAT Team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6775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210"/>
    </mc:Choice>
    <mc:Fallback xmlns="">
      <p:transition spd="slow" advTm="1121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455CF-0DC9-97A3-9F02-460E96CC3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055707C-E63C-A5F4-DD60-441B135E1967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5361" name="Picture 4">
              <a:extLst>
                <a:ext uri="{FF2B5EF4-FFF2-40B4-BE49-F238E27FC236}">
                  <a16:creationId xmlns:a16="http://schemas.microsoft.com/office/drawing/2014/main" id="{45AD3204-306F-690A-B591-AAC86F4C53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-209" b="17174"/>
            <a:stretch/>
          </p:blipFill>
          <p:spPr bwMode="auto"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62" name="TextBox 6">
              <a:extLst>
                <a:ext uri="{FF2B5EF4-FFF2-40B4-BE49-F238E27FC236}">
                  <a16:creationId xmlns:a16="http://schemas.microsoft.com/office/drawing/2014/main" id="{6B0E3940-BF85-4C62-8106-B2B1E965CB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0972" y="2110102"/>
              <a:ext cx="9593034" cy="4455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KE" b="1" dirty="0"/>
                <a:t>Activities Underway (Jan 2026)</a:t>
              </a:r>
              <a:endParaRPr lang="en-KE" dirty="0"/>
            </a:p>
            <a:p>
              <a:pPr lvl="0">
                <a:lnSpc>
                  <a:spcPct val="150000"/>
                </a:lnSpc>
              </a:pPr>
              <a:r>
                <a:rPr lang="en-KE" b="1" dirty="0"/>
                <a:t>Inception Meeting Held</a:t>
              </a:r>
              <a:r>
                <a:rPr lang="en-KE" dirty="0"/>
                <a:t> (20–21 Jan 2026):</a:t>
              </a:r>
            </a:p>
            <a:p>
              <a:pPr marL="800100" lvl="1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KE" dirty="0"/>
                <a:t>Team alignment on project objectives and deliverables.</a:t>
              </a:r>
            </a:p>
            <a:p>
              <a:pPr marL="800100" lvl="1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KE" dirty="0"/>
                <a:t>Detailed planning for Evidence Synthesis phase.</a:t>
              </a:r>
            </a:p>
            <a:p>
              <a:pPr lvl="0">
                <a:lnSpc>
                  <a:spcPct val="150000"/>
                </a:lnSpc>
              </a:pPr>
              <a:r>
                <a:rPr lang="en-KE" b="1" dirty="0"/>
                <a:t>Evidence Synthesis Phase Initiated:</a:t>
              </a:r>
              <a:endParaRPr lang="en-KE" dirty="0"/>
            </a:p>
            <a:p>
              <a:pPr marL="800100" lvl="1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KE" dirty="0"/>
                <a:t>Desktop review of SRHR workforce data/literature.</a:t>
              </a:r>
            </a:p>
            <a:p>
              <a:pPr marL="800100" lvl="1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KE" dirty="0"/>
                <a:t>Mapping workforce stock, training pathways, and gaps.</a:t>
              </a:r>
              <a:endParaRPr lang="en-US" dirty="0"/>
            </a:p>
            <a:p>
              <a:pPr marL="800100" lvl="1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KE" dirty="0"/>
                <a:t>Engaging Machakos County CHMT for local data and context.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9483796-3575-17F1-7811-37F5E711B2E0}"/>
                </a:ext>
              </a:extLst>
            </p:cNvPr>
            <p:cNvSpPr txBox="1"/>
            <p:nvPr/>
          </p:nvSpPr>
          <p:spPr>
            <a:xfrm>
              <a:off x="2927613" y="421279"/>
              <a:ext cx="720634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Arial" panose="020B0604020202020204" pitchFamily="34" charset="0"/>
                  <a:cs typeface="Arial" panose="020B0604020202020204" pitchFamily="34" charset="0"/>
                </a:rPr>
                <a:t>Progress</a:t>
              </a:r>
              <a:r>
                <a:rPr lang="en-KE" sz="3600" b="1" dirty="0">
                  <a:latin typeface="Arial" panose="020B0604020202020204" pitchFamily="34" charset="0"/>
                  <a:cs typeface="Arial" panose="020B0604020202020204" pitchFamily="34" charset="0"/>
                </a:rPr>
                <a:t>: Inception &amp; Evidence Synthesis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83456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210"/>
    </mc:Choice>
    <mc:Fallback xmlns="">
      <p:transition spd="slow" advTm="1121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3E458-83E8-9756-714E-229223364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D64B91B-22A7-3573-6F5C-DCC4CB00B44D}"/>
              </a:ext>
            </a:extLst>
          </p:cNvPr>
          <p:cNvGrpSpPr/>
          <p:nvPr/>
        </p:nvGrpSpPr>
        <p:grpSpPr>
          <a:xfrm>
            <a:off x="0" y="-117566"/>
            <a:ext cx="12192000" cy="6858000"/>
            <a:chOff x="0" y="-117566"/>
            <a:chExt cx="12192000" cy="6858000"/>
          </a:xfrm>
        </p:grpSpPr>
        <p:pic>
          <p:nvPicPr>
            <p:cNvPr id="15361" name="Picture 4">
              <a:extLst>
                <a:ext uri="{FF2B5EF4-FFF2-40B4-BE49-F238E27FC236}">
                  <a16:creationId xmlns:a16="http://schemas.microsoft.com/office/drawing/2014/main" id="{F97BE14E-0680-6E6E-C226-96050761686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-209" b="17174"/>
            <a:stretch/>
          </p:blipFill>
          <p:spPr bwMode="auto">
            <a:xfrm>
              <a:off x="0" y="-117566"/>
              <a:ext cx="1219200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62" name="TextBox 6">
              <a:extLst>
                <a:ext uri="{FF2B5EF4-FFF2-40B4-BE49-F238E27FC236}">
                  <a16:creationId xmlns:a16="http://schemas.microsoft.com/office/drawing/2014/main" id="{FE88E9C5-98E4-22C3-1936-2614C439AA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5054" y="1658537"/>
              <a:ext cx="10093505" cy="50098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lvl="0">
                <a:lnSpc>
                  <a:spcPct val="150000"/>
                </a:lnSpc>
              </a:pPr>
              <a:r>
                <a:rPr lang="en-KE" b="1" dirty="0"/>
                <a:t>January 2026:</a:t>
              </a:r>
              <a:r>
                <a:rPr lang="en-KE" dirty="0"/>
                <a:t> </a:t>
              </a:r>
              <a:r>
                <a:rPr lang="en-KE" dirty="0">
                  <a:solidFill>
                    <a:srgbClr val="FF0000"/>
                  </a:solidFill>
                </a:rPr>
                <a:t>Project inception</a:t>
              </a:r>
              <a:r>
                <a:rPr lang="en-KE" dirty="0"/>
                <a:t>, </a:t>
              </a:r>
              <a:r>
                <a:rPr lang="en-KE" dirty="0">
                  <a:solidFill>
                    <a:srgbClr val="FF0000"/>
                  </a:solidFill>
                </a:rPr>
                <a:t>team mobilization</a:t>
              </a:r>
              <a:r>
                <a:rPr lang="en-KE" dirty="0"/>
                <a:t>, and </a:t>
              </a:r>
              <a:r>
                <a:rPr lang="en-KE" dirty="0">
                  <a:solidFill>
                    <a:srgbClr val="FF0000"/>
                  </a:solidFill>
                </a:rPr>
                <a:t>evidence synthesis launch.</a:t>
              </a:r>
            </a:p>
            <a:p>
              <a:pPr lvl="0">
                <a:lnSpc>
                  <a:spcPct val="150000"/>
                </a:lnSpc>
              </a:pPr>
              <a:r>
                <a:rPr lang="en-KE" b="1" dirty="0"/>
                <a:t>February 2026:</a:t>
              </a:r>
              <a:r>
                <a:rPr lang="en-KE" dirty="0"/>
                <a:t> Complete gap analysis; begin ROI and productivity modelling.</a:t>
              </a:r>
            </a:p>
            <a:p>
              <a:pPr lvl="0">
                <a:lnSpc>
                  <a:spcPct val="150000"/>
                </a:lnSpc>
              </a:pPr>
              <a:r>
                <a:rPr lang="en-KE" b="1" dirty="0"/>
                <a:t>March 2026:</a:t>
              </a:r>
              <a:r>
                <a:rPr lang="en-KE" dirty="0"/>
                <a:t> Validate models with stakeholders; draft policy briefs and tools.</a:t>
              </a:r>
            </a:p>
            <a:p>
              <a:pPr lvl="0">
                <a:lnSpc>
                  <a:spcPct val="150000"/>
                </a:lnSpc>
              </a:pPr>
              <a:r>
                <a:rPr lang="en-KE" b="1" dirty="0"/>
                <a:t>April 2026:</a:t>
              </a:r>
              <a:r>
                <a:rPr lang="en-KE" dirty="0"/>
                <a:t> Finalize reports, disseminate findings, and submit deliverables to WHO AFRO.</a:t>
              </a:r>
            </a:p>
            <a:p>
              <a:pPr lvl="0">
                <a:lnSpc>
                  <a:spcPct val="150000"/>
                </a:lnSpc>
              </a:pPr>
              <a:endParaRPr lang="en-KE" dirty="0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1748285-A2F7-22AF-BC0A-F7DA1FC27953}"/>
                </a:ext>
              </a:extLst>
            </p:cNvPr>
            <p:cNvSpPr txBox="1"/>
            <p:nvPr/>
          </p:nvSpPr>
          <p:spPr>
            <a:xfrm>
              <a:off x="2438401" y="337058"/>
              <a:ext cx="720634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KE" sz="3600" b="1" dirty="0">
                  <a:latin typeface="Arial" panose="020B0604020202020204" pitchFamily="34" charset="0"/>
                  <a:cs typeface="Arial" panose="020B0604020202020204" pitchFamily="34" charset="0"/>
                </a:rPr>
                <a:t>Revised Project Timeline (Jan–Apr 2026)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39463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210"/>
    </mc:Choice>
    <mc:Fallback xmlns="">
      <p:transition spd="slow" advTm="1121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4C447-5178-28CB-487B-2D03DF58F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3381D82-C7CE-53F2-4C01-4BDA1926BDCD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5361" name="Picture 4">
              <a:extLst>
                <a:ext uri="{FF2B5EF4-FFF2-40B4-BE49-F238E27FC236}">
                  <a16:creationId xmlns:a16="http://schemas.microsoft.com/office/drawing/2014/main" id="{F0224F38-05C2-9164-76B0-8CCC05BAD57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-209" b="17174"/>
            <a:stretch/>
          </p:blipFill>
          <p:spPr bwMode="auto"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62" name="TextBox 6">
              <a:extLst>
                <a:ext uri="{FF2B5EF4-FFF2-40B4-BE49-F238E27FC236}">
                  <a16:creationId xmlns:a16="http://schemas.microsoft.com/office/drawing/2014/main" id="{F3769229-E2CA-6C01-767D-A656164C8C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0972" y="1796593"/>
              <a:ext cx="9593034" cy="1420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lvl="0">
                <a:lnSpc>
                  <a:spcPct val="110000"/>
                </a:lnSpc>
              </a:pPr>
              <a:endParaRPr lang="en-US" sz="2000" dirty="0"/>
            </a:p>
            <a:p>
              <a:pPr lvl="0">
                <a:lnSpc>
                  <a:spcPct val="110000"/>
                </a:lnSpc>
              </a:pPr>
              <a:endParaRPr lang="en-KE" sz="2000" dirty="0"/>
            </a:p>
            <a:p>
              <a:pPr lvl="0">
                <a:lnSpc>
                  <a:spcPct val="110000"/>
                </a:lnSpc>
              </a:pPr>
              <a:endParaRPr lang="en-KE" sz="2000" dirty="0"/>
            </a:p>
            <a:p>
              <a:pPr lvl="0">
                <a:lnSpc>
                  <a:spcPct val="110000"/>
                </a:lnSpc>
              </a:pPr>
              <a:endParaRPr lang="en-KE" sz="2000" dirty="0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CD8AF86-4E54-3FDF-6E7C-D7356C61306A}"/>
                </a:ext>
              </a:extLst>
            </p:cNvPr>
            <p:cNvSpPr txBox="1"/>
            <p:nvPr/>
          </p:nvSpPr>
          <p:spPr>
            <a:xfrm>
              <a:off x="2438401" y="337058"/>
              <a:ext cx="72063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Arial" panose="020B0604020202020204" pitchFamily="34" charset="0"/>
                  <a:cs typeface="Arial" panose="020B0604020202020204" pitchFamily="34" charset="0"/>
                </a:rPr>
                <a:t>Working sessions – photos</a:t>
              </a:r>
              <a:endParaRPr lang="en-KE" sz="3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9DE0405-6BA3-F346-450B-492C82E002A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2500" y="1103856"/>
            <a:ext cx="5380551" cy="2742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9083DB-B689-A517-ED2C-9E43E19956C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4578" y="1039212"/>
            <a:ext cx="4308425" cy="2742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107734-E709-6B98-0CD9-8AD68D53E4C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6379" y="3895587"/>
            <a:ext cx="5509245" cy="2839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A0C22B-0087-5273-6145-33CAA38850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2500" y="3895587"/>
            <a:ext cx="4230626" cy="295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582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210"/>
    </mc:Choice>
    <mc:Fallback xmlns="">
      <p:transition spd="slow" advTm="1121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0" y="0"/>
            <a:ext cx="12192000" cy="6858000"/>
            <a:chOff x="-57150" y="1"/>
            <a:chExt cx="12192000" cy="6858000"/>
          </a:xfrm>
        </p:grpSpPr>
        <p:pic>
          <p:nvPicPr>
            <p:cNvPr id="15361" name="Picture 4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-209" b="17174"/>
            <a:stretch/>
          </p:blipFill>
          <p:spPr bwMode="auto">
            <a:xfrm>
              <a:off x="-57150" y="1"/>
              <a:ext cx="1219200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9185" y="1232807"/>
              <a:ext cx="9551795" cy="519901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07656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1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209" b="17174"/>
          <a:stretch/>
        </p:blipFill>
        <p:spPr bwMode="auto">
          <a:xfrm>
            <a:off x="0" y="25361"/>
            <a:ext cx="12192000" cy="683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548110" y="2576820"/>
            <a:ext cx="49087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4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21707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8622</TotalTime>
  <Words>458</Words>
  <Application>Microsoft Office PowerPoint</Application>
  <PresentationFormat>Widescreen</PresentationFormat>
  <Paragraphs>69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Cavince</dc:creator>
  <cp:lastModifiedBy>MUNG'ATU, Joseph</cp:lastModifiedBy>
  <cp:revision>523</cp:revision>
  <dcterms:created xsi:type="dcterms:W3CDTF">2019-05-09T06:13:07Z</dcterms:created>
  <dcterms:modified xsi:type="dcterms:W3CDTF">2026-01-27T14:01:02Z</dcterms:modified>
</cp:coreProperties>
</file>
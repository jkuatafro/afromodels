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DD9B-60B3-4CB7-8555-3BCB7B419AC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284C-A9B9-4751-AFCE-C2FF72CB1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00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DD9B-60B3-4CB7-8555-3BCB7B419AC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284C-A9B9-4751-AFCE-C2FF72CB1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0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DD9B-60B3-4CB7-8555-3BCB7B419AC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284C-A9B9-4751-AFCE-C2FF72CB1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304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DD9B-60B3-4CB7-8555-3BCB7B419AC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284C-A9B9-4751-AFCE-C2FF72CB1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392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DD9B-60B3-4CB7-8555-3BCB7B419AC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284C-A9B9-4751-AFCE-C2FF72CB1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1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DD9B-60B3-4CB7-8555-3BCB7B419AC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284C-A9B9-4751-AFCE-C2FF72CB1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9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DD9B-60B3-4CB7-8555-3BCB7B419AC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284C-A9B9-4751-AFCE-C2FF72CB1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71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DD9B-60B3-4CB7-8555-3BCB7B419AC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284C-A9B9-4751-AFCE-C2FF72CB1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133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DD9B-60B3-4CB7-8555-3BCB7B419AC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284C-A9B9-4751-AFCE-C2FF72CB1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44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DD9B-60B3-4CB7-8555-3BCB7B419AC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284C-A9B9-4751-AFCE-C2FF72CB1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32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DD9B-60B3-4CB7-8555-3BCB7B419AC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284C-A9B9-4751-AFCE-C2FF72CB115D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5280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DD9B-60B3-4CB7-8555-3BCB7B419AC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284C-A9B9-4751-AFCE-C2FF72CB1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580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DD9B-60B3-4CB7-8555-3BCB7B419AC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284C-A9B9-4751-AFCE-C2FF72CB115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1199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DD9B-60B3-4CB7-8555-3BCB7B419AC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284C-A9B9-4751-AFCE-C2FF72CB1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211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DD9B-60B3-4CB7-8555-3BCB7B419AC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284C-A9B9-4751-AFCE-C2FF72CB1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469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CDD9B-60B3-4CB7-8555-3BCB7B419AC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284C-A9B9-4751-AFCE-C2FF72CB1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233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CDD9B-60B3-4CB7-8555-3BCB7B419AC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C54284C-A9B9-4751-AFCE-C2FF72CB1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98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Mixed Effects Models within an Artificial Neural Network (ANN) framework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JKUAT TEAM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755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 smtClean="0"/>
              <a:t>Objectives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b="1" dirty="0"/>
              <a:t> </a:t>
            </a:r>
            <a:endParaRPr lang="en-US" dirty="0"/>
          </a:p>
          <a:p>
            <a:pPr lvl="0"/>
            <a:r>
              <a:rPr lang="en-US" dirty="0"/>
              <a:t>To develop a Mixed Effects </a:t>
            </a:r>
            <a:r>
              <a:rPr lang="en-US" dirty="0" smtClean="0"/>
              <a:t>Model </a:t>
            </a:r>
            <a:r>
              <a:rPr lang="en-US" dirty="0"/>
              <a:t>within an Artificial Neural Network (ANN) Model</a:t>
            </a:r>
            <a:r>
              <a:rPr lang="en-US" dirty="0" smtClean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To apply the developed model to quantify the relationship between UHC and GDP.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111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The Model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Y =  m(</a:t>
            </a:r>
            <a:r>
              <a:rPr lang="en-US" dirty="0" err="1" smtClean="0"/>
              <a:t>x,Q</a:t>
            </a:r>
            <a:r>
              <a:rPr lang="en-US" dirty="0" smtClean="0"/>
              <a:t>) + 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m(</a:t>
            </a:r>
            <a:r>
              <a:rPr lang="en-US" dirty="0" err="1" smtClean="0"/>
              <a:t>x,Q</a:t>
            </a:r>
            <a:r>
              <a:rPr lang="en-US" dirty="0" smtClean="0"/>
              <a:t>) … mean Function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</a:t>
            </a:r>
            <a:r>
              <a:rPr lang="en-US" dirty="0" smtClean="0"/>
              <a:t> ---- Error term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346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 smtClean="0"/>
              <a:t>Procedure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Step </a:t>
            </a:r>
            <a:r>
              <a:rPr lang="en-US" b="1" dirty="0"/>
              <a:t>1.  Initial Fixed Effects Model</a:t>
            </a:r>
            <a:endParaRPr lang="en-US" dirty="0"/>
          </a:p>
          <a:p>
            <a:r>
              <a:rPr lang="en-US" dirty="0"/>
              <a:t> Train an artificial neural network to get initial predictions, ignoring the grouping structure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960418" y="3288145"/>
            <a:ext cx="9160164" cy="316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421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Procedure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2.</a:t>
            </a:r>
            <a:r>
              <a:rPr lang="en-US" dirty="0"/>
              <a:t> </a:t>
            </a:r>
            <a:r>
              <a:rPr lang="en-US" b="1" dirty="0"/>
              <a:t>Estimate Residuals</a:t>
            </a:r>
            <a:r>
              <a:rPr lang="en-US" dirty="0"/>
              <a:t> </a:t>
            </a:r>
          </a:p>
          <a:p>
            <a:r>
              <a:rPr lang="en-US" dirty="0"/>
              <a:t>Calculate the residuals from the initial ANN model.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b="1" dirty="0"/>
              <a:t>Step 3. Model Random Effects</a:t>
            </a:r>
            <a:endParaRPr lang="en-US" dirty="0"/>
          </a:p>
          <a:p>
            <a:r>
              <a:rPr lang="en-US" dirty="0"/>
              <a:t>Fit a standard (parametric) mixed-effects model to the residuals using a random-effects structure. This estimates the variance attributable to each group </a:t>
            </a:r>
            <a:r>
              <a:rPr lang="en-US" b="1" dirty="0"/>
              <a:t>(Country).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023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Procedure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4. Adjust Target Variable </a:t>
            </a:r>
            <a:endParaRPr lang="en-US" dirty="0"/>
          </a:p>
          <a:p>
            <a:r>
              <a:rPr lang="en-US" dirty="0"/>
              <a:t>Update the original target variable by removing the estimated random effects.</a:t>
            </a:r>
          </a:p>
          <a:p>
            <a:pPr marL="0" indent="0">
              <a:buNone/>
            </a:pPr>
            <a:r>
              <a:rPr lang="en-US" b="1" dirty="0"/>
              <a:t>Step 5: Re-train ANN</a:t>
            </a:r>
            <a:endParaRPr lang="en-US" dirty="0"/>
          </a:p>
          <a:p>
            <a:r>
              <a:rPr lang="en-US" dirty="0"/>
              <a:t> Re-train the neural network using the adjusted target variable.</a:t>
            </a:r>
          </a:p>
          <a:p>
            <a:pPr marL="0" indent="0">
              <a:buNone/>
            </a:pPr>
            <a:r>
              <a:rPr lang="en-US" b="1" dirty="0"/>
              <a:t>Step 6. Iterate </a:t>
            </a:r>
            <a:endParaRPr lang="en-US" dirty="0"/>
          </a:p>
          <a:p>
            <a:r>
              <a:rPr lang="en-US" dirty="0"/>
              <a:t>Repeat steps 2 to 5 until the model converges on stable estimates for both the fixed (ANN) and random effects.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057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907760" y="1825625"/>
            <a:ext cx="7635875" cy="4556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842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Interpretation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The </a:t>
            </a:r>
            <a:r>
              <a:rPr lang="en-US" dirty="0"/>
              <a:t>suggested model is able to quantify the expected positive relationship between GDP.PPP </a:t>
            </a:r>
            <a:r>
              <a:rPr lang="en-US"/>
              <a:t>and </a:t>
            </a:r>
            <a:r>
              <a:rPr lang="en-US" smtClean="0"/>
              <a:t>UHC_SCI.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While higher GDP enables better care, UHC is not solely dependent on wealth. A full model will be developed based on the available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05347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112</TotalTime>
  <Words>178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Mixed Effects Models within an Artificial Neural Network (ANN) framework </vt:lpstr>
      <vt:lpstr>Objectives </vt:lpstr>
      <vt:lpstr>The Model</vt:lpstr>
      <vt:lpstr>Procedure </vt:lpstr>
      <vt:lpstr>Procedure</vt:lpstr>
      <vt:lpstr>Procedure</vt:lpstr>
      <vt:lpstr>OUTPUT</vt:lpstr>
      <vt:lpstr>Interpretation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Mixed Effects Models within an Artificial Neural Network (ANN) framework </dc:title>
  <dc:creator>Microsoft account</dc:creator>
  <cp:lastModifiedBy>Microsoft account</cp:lastModifiedBy>
  <cp:revision>6</cp:revision>
  <dcterms:created xsi:type="dcterms:W3CDTF">2026-03-03T13:25:57Z</dcterms:created>
  <dcterms:modified xsi:type="dcterms:W3CDTF">2026-03-06T08:59:26Z</dcterms:modified>
</cp:coreProperties>
</file>
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24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7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60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3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6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0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0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6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1177988-1040-4D94-A1A4-72818F46F5F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7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AA6C-7CB4-DCF7-1F35-5032815FEA4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42908" y="3429000"/>
            <a:ext cx="8634234" cy="23876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INVESTING IN HEALTH SYSTEMS: </a:t>
            </a:r>
            <a:br>
              <a:rPr lang="en-US" sz="6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into How Health Financing Shapes Workforce Density, UHC Service Coverage, and Key Health Outcomes. 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WHO African Regional Perspective</a:t>
            </a:r>
            <a:br>
              <a:rPr lang="en-US" sz="5000" b="1" dirty="0"/>
            </a:b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307404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02D2-C9B1-BA7B-E8BE-D3AF450957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5071" y="560386"/>
            <a:ext cx="7030065" cy="857251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31F2-AE6D-D01F-1CB8-53DA3400063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5070" y="1417637"/>
            <a:ext cx="10678755" cy="4806182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Health financing refers to how resources are raised, pooled, and spent to fund health services.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WHO standards emphasize on raising sufficient funds, pooling risks fairly, and purchasing services strategically to ensure people have access to quality care without financial hardship.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Most countries in Africa face challenges such as high out-of-pocket (OOP) spending, fragmented risk pools, underfunding of public health, and overreliance on donor funding.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Because after all</a:t>
            </a:r>
            <a:r>
              <a:rPr lang="en-US" i="1" dirty="0">
                <a:solidFill>
                  <a:srgbClr val="FF0000"/>
                </a:solidFill>
              </a:rPr>
              <a:t>,</a:t>
            </a:r>
            <a:r>
              <a:rPr lang="en-US" b="1" i="1" dirty="0">
                <a:solidFill>
                  <a:srgbClr val="FF0000"/>
                </a:solidFill>
              </a:rPr>
              <a:t> “Health financing is not just about spending more, but spending better and pooling risks fairly”.</a:t>
            </a: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In this research, we aimed to:</a:t>
            </a:r>
            <a:endParaRPr lang="en-US" sz="1600" dirty="0"/>
          </a:p>
          <a:p>
            <a:pPr lvl="3" algn="just">
              <a:buFont typeface="Wingdings" panose="05000000000000000000" pitchFamily="2" charset="2"/>
              <a:buChar char="Ø"/>
            </a:pPr>
            <a:r>
              <a:rPr lang="en-US" sz="1800" dirty="0"/>
              <a:t> Identify the proportion of CHE components to achieve optimal key health outcomes.</a:t>
            </a:r>
          </a:p>
          <a:p>
            <a:pPr lvl="3" algn="just">
              <a:buFont typeface="Wingdings" panose="05000000000000000000" pitchFamily="2" charset="2"/>
              <a:buChar char="Ø"/>
            </a:pPr>
            <a:r>
              <a:rPr lang="en-US" sz="1800" dirty="0"/>
              <a:t>Determine the optimal number of doctors, nurses, midwives, pharmacists, and dentists to achieve improved key health outcomes.</a:t>
            </a:r>
          </a:p>
          <a:p>
            <a:pPr lvl="3" algn="just">
              <a:buFont typeface="Wingdings" panose="05000000000000000000" pitchFamily="2" charset="2"/>
              <a:buChar char="Ø"/>
            </a:pPr>
            <a:r>
              <a:rPr lang="en-US" sz="1800" dirty="0"/>
              <a:t>Compute the amount of government expenditure on health required to achieve the optimal level of health workforce density.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Historical data from 2000-2024 for the 47 WHO African regional countries was used for this analysis.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Key health outcomes such as life expectancy (LE), maternal mortality (MMR), infant mortality (IMR), and UHC service coverage index (SCI) were considered in the optimization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1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E3751-E2C0-CD97-0300-31A3FD86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3FD4-0C25-F31C-A8A0-7BDD24A5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743" y="815993"/>
            <a:ext cx="10058400" cy="912932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CHE components on Key Health Outcomes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105C9-0A90-1553-035F-FE629CBF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037347"/>
                <a:ext cx="10058400" cy="3433011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Current Health Expenditure (CHE) is composed of three major funding components: government (GGHED), donor (EXT), and private (PVTD).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The CHE components were assumed to be non-linearly correlated with LE, UHC_SCI, MMR, and IMR.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A generalized additive regression model (</a:t>
                </a:r>
                <a:r>
                  <a:rPr lang="en-US" sz="2400" dirty="0" err="1"/>
                  <a:t>eqn</a:t>
                </a:r>
                <a:r>
                  <a:rPr lang="en-US" sz="2400" dirty="0"/>
                  <a:t> 1) was first fitted for each of the four key health outcomes (KHO): LE, MMR, IMR, and UHC_SCI.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g(E[KHO])=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(EXT)+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(GGHED)+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(PVTD)+e                       (1)</a:t>
                </a:r>
              </a:p>
              <a:p>
                <a:pPr marL="0" indent="0">
                  <a:buNone/>
                </a:pPr>
                <a:r>
                  <a:rPr lang="en-US" sz="2400" dirty="0"/>
                  <a:t>where g(.) is a link 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sz="2400" dirty="0"/>
                  <a:t> is a smooth function, e is the error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105C9-0A90-1553-035F-FE629CBF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037347"/>
                <a:ext cx="10058400" cy="3433011"/>
              </a:xfrm>
              <a:blipFill>
                <a:blip r:embed="rId2"/>
                <a:stretch>
                  <a:fillRect l="-1818" t="-2487" r="-667" b="-4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60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7F6A-26C7-4BF3-D208-6D85B256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B31E-C825-4B17-53CF-3611DA4A4A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8896" y="487808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CHE components on Key Health Outcomes and Service Coverage Index </a:t>
            </a:r>
            <a:r>
              <a:rPr lang="en-US" sz="3500" b="1" dirty="0" err="1">
                <a:solidFill>
                  <a:schemeClr val="accent2"/>
                </a:solidFill>
              </a:rPr>
              <a:t>contd</a:t>
            </a:r>
            <a:r>
              <a:rPr lang="en-US" sz="3500" b="1" dirty="0">
                <a:solidFill>
                  <a:schemeClr val="accent2"/>
                </a:solidFill>
              </a:rPr>
              <a:t>…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2F33-8302-A047-58FE-53FBC5A5C49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8896" y="1576070"/>
            <a:ext cx="10058400" cy="454342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results of the GAM model were as summarized in Table 1.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On average, GGHED has the most significant effect on all health outcomes: LE, MMR, and IMR.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EXT has the second-highest effect on LE and IMR.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PVTD has the second-highest effect on LE and MMR.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UHC_SCI is influenced by EXT followed by GGHED.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6F8232-D9D4-0EDD-196F-56D2156D2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959364"/>
              </p:ext>
            </p:extLst>
          </p:nvPr>
        </p:nvGraphicFramePr>
        <p:xfrm>
          <a:off x="1334704" y="1926967"/>
          <a:ext cx="9013259" cy="2149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9357">
                  <a:extLst>
                    <a:ext uri="{9D8B030D-6E8A-4147-A177-3AD203B41FA5}">
                      <a16:colId xmlns:a16="http://schemas.microsoft.com/office/drawing/2014/main" val="504188680"/>
                    </a:ext>
                  </a:extLst>
                </a:gridCol>
                <a:gridCol w="1124651">
                  <a:extLst>
                    <a:ext uri="{9D8B030D-6E8A-4147-A177-3AD203B41FA5}">
                      <a16:colId xmlns:a16="http://schemas.microsoft.com/office/drawing/2014/main" val="2696987359"/>
                    </a:ext>
                  </a:extLst>
                </a:gridCol>
                <a:gridCol w="1311091">
                  <a:extLst>
                    <a:ext uri="{9D8B030D-6E8A-4147-A177-3AD203B41FA5}">
                      <a16:colId xmlns:a16="http://schemas.microsoft.com/office/drawing/2014/main" val="2409925900"/>
                    </a:ext>
                  </a:extLst>
                </a:gridCol>
                <a:gridCol w="1262978">
                  <a:extLst>
                    <a:ext uri="{9D8B030D-6E8A-4147-A177-3AD203B41FA5}">
                      <a16:colId xmlns:a16="http://schemas.microsoft.com/office/drawing/2014/main" val="3987179205"/>
                    </a:ext>
                  </a:extLst>
                </a:gridCol>
                <a:gridCol w="1195819">
                  <a:extLst>
                    <a:ext uri="{9D8B030D-6E8A-4147-A177-3AD203B41FA5}">
                      <a16:colId xmlns:a16="http://schemas.microsoft.com/office/drawing/2014/main" val="3616994291"/>
                    </a:ext>
                  </a:extLst>
                </a:gridCol>
                <a:gridCol w="149363">
                  <a:extLst>
                    <a:ext uri="{9D8B030D-6E8A-4147-A177-3AD203B41FA5}">
                      <a16:colId xmlns:a16="http://schemas.microsoft.com/office/drawing/2014/main" val="369409126"/>
                    </a:ext>
                  </a:extLst>
                </a:gridCol>
              </a:tblGrid>
              <a:tr h="394619">
                <a:tc grid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Table 1: </a:t>
                      </a:r>
                      <a:r>
                        <a:rPr lang="en-US" sz="1600" kern="100" dirty="0">
                          <a:effectLst/>
                        </a:rPr>
                        <a:t>Fitted GAM Results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219948"/>
                  </a:ext>
                </a:extLst>
              </a:tr>
              <a:tr h="45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 dirty="0">
                          <a:effectLst/>
                        </a:rPr>
                        <a:t>Key Health Variable</a:t>
                      </a:r>
                      <a:endParaRPr lang="en-US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EXT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GGHED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PVTD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Deviance Explained (%)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 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5244424"/>
                  </a:ext>
                </a:extLst>
              </a:tr>
              <a:tr h="2200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Life Expectancy (LE)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6.447***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7.975***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5.440***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30.2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3184572"/>
                  </a:ext>
                </a:extLst>
              </a:tr>
              <a:tr h="2919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Maternal Mortality Ratio (MMR)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3.839***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8.692***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8.130***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40.3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7899339"/>
                  </a:ext>
                </a:extLst>
              </a:tr>
              <a:tr h="349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Infant Mortality Rate (IMR)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5.363***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8.565***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3.620***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42.2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3792200"/>
                  </a:ext>
                </a:extLst>
              </a:tr>
              <a:tr h="4400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Universal Health Coverage (UHC_SCI)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7.769***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6.960***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6.617***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73.1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911777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E9D282D-5FF4-0F87-8E0A-3D4AED36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444" y="40763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Sig. codes: ***&lt;0.001, **&lt;0.01, *&lt;0.05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5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BAFE-F13F-CA6D-C5C7-66E2D26F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7B3C-9B6A-F740-039E-340A2D280B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5350" y="26511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Optimal Allocation of CHE Components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B401C6-66CD-BD5C-75EF-F1421030B600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066800" y="1177925"/>
                <a:ext cx="10058400" cy="4864100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</a:t>
                </a:r>
                <a:r>
                  <a:rPr lang="en-US" dirty="0"/>
                  <a:t>Secondly, the results of the GAM model were fed to the non-linear optimization problem to determine the optimal proportions of CHE components.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The objective function was to minimize the health outcomes: (-LE, MMR, IMR, -UHC_SCI).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Subject to the constraints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Such that;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𝐶𝐻𝐸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𝐸𝑋𝑇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𝐺𝐺𝐻𝐸𝐷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𝑃𝑉𝑇𝐷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={−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𝑀𝑀𝑅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𝐼𝑀𝑅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𝑈𝐻𝐶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𝑆𝐶𝐼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={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𝐸𝑋𝑇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𝐺𝐺𝐻𝐸𝐷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𝑃𝑉𝑇𝐷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= {-LE,-UHC_SCI, MMR, IMR}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B401C6-66CD-BD5C-75EF-F1421030B6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066800" y="1177925"/>
                <a:ext cx="10058400" cy="4864100"/>
              </a:xfrm>
              <a:blipFill>
                <a:blip r:embed="rId2"/>
                <a:stretch>
                  <a:fillRect l="-1697" t="-1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99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8D03-AB77-598F-8C6A-EC9F4139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4F9C-39C9-D7A2-DC0B-134310FAEF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4464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CHE Components Optimal Level Results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6CC39-4CEE-0D9F-96B7-50D3248DBB0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386055"/>
            <a:ext cx="10058400" cy="499870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Table 2 below show the optimal allocation of CHE funding that improves the different health outcomes.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To obtain great health outcomes, governments should be encouraged to contribute 67% of CHE, private sources 19% of CHE, and the remaining 14% of CHE to be funded by external donor funding.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7495F-973D-5BEC-F58F-2303EA184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53680"/>
              </p:ext>
            </p:extLst>
          </p:nvPr>
        </p:nvGraphicFramePr>
        <p:xfrm>
          <a:off x="1475874" y="2202426"/>
          <a:ext cx="9384632" cy="29601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63445">
                  <a:extLst>
                    <a:ext uri="{9D8B030D-6E8A-4147-A177-3AD203B41FA5}">
                      <a16:colId xmlns:a16="http://schemas.microsoft.com/office/drawing/2014/main" val="32137624"/>
                    </a:ext>
                  </a:extLst>
                </a:gridCol>
                <a:gridCol w="1777904">
                  <a:extLst>
                    <a:ext uri="{9D8B030D-6E8A-4147-A177-3AD203B41FA5}">
                      <a16:colId xmlns:a16="http://schemas.microsoft.com/office/drawing/2014/main" val="2300986708"/>
                    </a:ext>
                  </a:extLst>
                </a:gridCol>
                <a:gridCol w="1732894">
                  <a:extLst>
                    <a:ext uri="{9D8B030D-6E8A-4147-A177-3AD203B41FA5}">
                      <a16:colId xmlns:a16="http://schemas.microsoft.com/office/drawing/2014/main" val="45076582"/>
                    </a:ext>
                  </a:extLst>
                </a:gridCol>
                <a:gridCol w="1710389">
                  <a:extLst>
                    <a:ext uri="{9D8B030D-6E8A-4147-A177-3AD203B41FA5}">
                      <a16:colId xmlns:a16="http://schemas.microsoft.com/office/drawing/2014/main" val="1982269133"/>
                    </a:ext>
                  </a:extLst>
                </a:gridCol>
              </a:tblGrid>
              <a:tr h="471664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Table 2: Optimal Current Health Expenditure (CHE) Allocation Proportions (%)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491700"/>
                  </a:ext>
                </a:extLst>
              </a:tr>
              <a:tr h="3492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Key Health Variable (j)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EXT (</a:t>
                      </a:r>
                      <a:r>
                        <a:rPr lang="en-US" sz="1200" kern="0" dirty="0" err="1">
                          <a:effectLst/>
                        </a:rPr>
                        <a:t>i</a:t>
                      </a:r>
                      <a:r>
                        <a:rPr lang="en-US" sz="1200" kern="0" dirty="0">
                          <a:effectLst/>
                        </a:rPr>
                        <a:t>=1)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GGHED (</a:t>
                      </a:r>
                      <a:r>
                        <a:rPr lang="en-US" sz="1200" kern="0" dirty="0" err="1">
                          <a:effectLst/>
                        </a:rPr>
                        <a:t>i</a:t>
                      </a:r>
                      <a:r>
                        <a:rPr lang="en-US" sz="1200" kern="0" dirty="0">
                          <a:effectLst/>
                        </a:rPr>
                        <a:t>=2)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PVTD (i=3)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2508260"/>
                  </a:ext>
                </a:extLst>
              </a:tr>
              <a:tr h="3492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Life Expectancy (LE)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13.76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50.05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36.19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169464"/>
                  </a:ext>
                </a:extLst>
              </a:tr>
              <a:tr h="5104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Maternal Mortality Ratio (MMR)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7.71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92.29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5268906"/>
                  </a:ext>
                </a:extLst>
              </a:tr>
              <a:tr h="3492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Infant Mortality Rate (IMR)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16.68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43.95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39.37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4606176"/>
                  </a:ext>
                </a:extLst>
              </a:tr>
              <a:tr h="5676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Universal Health Coverage (UHC_SCI)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17.98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82.02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2249043"/>
                  </a:ext>
                </a:extLst>
              </a:tr>
              <a:tr h="3626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Averages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14.03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67.08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18.89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9804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23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ECEA-1386-0C0D-C33B-FEDABAE3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8E8A-B1E7-612C-025A-87DB56F0E9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04787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67% Government Expenditure on Health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5570-D9A8-4E39-404C-AA28BF388C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17600"/>
            <a:ext cx="10058400" cy="526715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Table 3 shows the effect of investing more than 67% of CHE.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Average health outcomes of countries recording 67% of CHE or more were compared to those recording less than 67% of CHE towards their GGHED.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Table 3 results show that for governments investing in &gt;=67% of CHE, their: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 Universal Health Service coverage index is higher by 26%.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Life expectancy is higher by 12.5 years.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Maternal mortality ratios decrease by 414.5 deaths per 100,000 live births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Infant Mortality ratios decrease by 34 deaths per 1,000 live births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9031FB-7EC3-AC40-7F75-9D7010AC5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76653"/>
              </p:ext>
            </p:extLst>
          </p:nvPr>
        </p:nvGraphicFramePr>
        <p:xfrm>
          <a:off x="1311604" y="2390775"/>
          <a:ext cx="9149692" cy="2028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86255">
                  <a:extLst>
                    <a:ext uri="{9D8B030D-6E8A-4147-A177-3AD203B41FA5}">
                      <a16:colId xmlns:a16="http://schemas.microsoft.com/office/drawing/2014/main" val="3441026507"/>
                    </a:ext>
                  </a:extLst>
                </a:gridCol>
                <a:gridCol w="1716925">
                  <a:extLst>
                    <a:ext uri="{9D8B030D-6E8A-4147-A177-3AD203B41FA5}">
                      <a16:colId xmlns:a16="http://schemas.microsoft.com/office/drawing/2014/main" val="2068053279"/>
                    </a:ext>
                  </a:extLst>
                </a:gridCol>
                <a:gridCol w="1673459">
                  <a:extLst>
                    <a:ext uri="{9D8B030D-6E8A-4147-A177-3AD203B41FA5}">
                      <a16:colId xmlns:a16="http://schemas.microsoft.com/office/drawing/2014/main" val="3210397516"/>
                    </a:ext>
                  </a:extLst>
                </a:gridCol>
                <a:gridCol w="1651726">
                  <a:extLst>
                    <a:ext uri="{9D8B030D-6E8A-4147-A177-3AD203B41FA5}">
                      <a16:colId xmlns:a16="http://schemas.microsoft.com/office/drawing/2014/main" val="3402180604"/>
                    </a:ext>
                  </a:extLst>
                </a:gridCol>
                <a:gridCol w="1521327">
                  <a:extLst>
                    <a:ext uri="{9D8B030D-6E8A-4147-A177-3AD203B41FA5}">
                      <a16:colId xmlns:a16="http://schemas.microsoft.com/office/drawing/2014/main" val="3792032770"/>
                    </a:ext>
                  </a:extLst>
                </a:gridCol>
              </a:tblGrid>
              <a:tr h="477371"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0" dirty="0">
                          <a:effectLst/>
                        </a:rPr>
                        <a:t>Table 3: Impact of Government Health Expenditure on Health Outcomes</a:t>
                      </a:r>
                      <a:endParaRPr lang="en-US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234233"/>
                  </a:ext>
                </a:extLst>
              </a:tr>
              <a:tr h="5171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</a:rPr>
                        <a:t>Key Health Variable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</a:rPr>
                        <a:t>SCI_UHC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</a:rPr>
                        <a:t>LE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</a:rPr>
                        <a:t>MMR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</a:rPr>
                        <a:t>IMR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2218841"/>
                  </a:ext>
                </a:extLst>
              </a:tr>
              <a:tr h="5171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GGHED&lt;=67% of CHE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39.3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59.3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496.0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58.0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3126636"/>
                  </a:ext>
                </a:extLst>
              </a:tr>
              <a:tr h="5171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GGHED&gt;67% of CHE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65.3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71.8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81.5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24.0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3305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02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AC5B-8990-C2BD-8766-8EFA2D6A7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F26C-ECCD-0660-6CBB-9065FB5BD5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950" y="47466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 Key HWF Cadres on Key Health Outcomes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84125A-40BC-241E-FDAA-BE43348EDF0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2950" y="1387475"/>
                <a:ext cx="10058400" cy="3433762"/>
              </a:xfrm>
            </p:spPr>
            <p:txBody>
              <a:bodyPr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Health workforce (HWF) density refers to the number of health care professionals, such as doctors, nurses, midwives, pharmacists, dentists, etc., available per unit of population (measured per 10,000 population).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The HWF cadres were assumed to be non-linearly correlated with LE, UHC_SCI, MMR, and IMR.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A generalized additive regression model (</a:t>
                </a:r>
                <a:r>
                  <a:rPr lang="en-US" sz="2400" dirty="0" err="1"/>
                  <a:t>eqn</a:t>
                </a:r>
                <a:r>
                  <a:rPr lang="en-US" sz="2400" dirty="0"/>
                  <a:t> 2) was first fitted for each of the four key health outcomes (KHO): LE, MMR, IMR, and UHC_SCI.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g(E[KHO])=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Workforce_Cadre</a:t>
                </a:r>
                <a:r>
                  <a:rPr lang="en-US" sz="2400" dirty="0"/>
                  <a:t>)+e                       (2)</a:t>
                </a:r>
              </a:p>
              <a:p>
                <a:pPr marL="0" indent="0">
                  <a:buNone/>
                </a:pPr>
                <a:r>
                  <a:rPr lang="en-US" sz="2400" dirty="0"/>
                  <a:t>where g(.) is a link 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sz="2400" dirty="0"/>
                  <a:t> is a smooth function, e is the error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84125A-40BC-241E-FDAA-BE43348ED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2950" y="1387475"/>
                <a:ext cx="10058400" cy="3433762"/>
              </a:xfrm>
              <a:blipFill>
                <a:blip r:embed="rId2"/>
                <a:stretch>
                  <a:fillRect l="-1879" t="-2487" r="-1818" b="-1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93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BE3B-CA20-BDB9-7124-AFE8FD1C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2993-147D-A244-9562-54389D8CF3A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6835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Optimal Health Workforce Density Level Results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FEC5-0581-ECFF-806D-E4D3820CDE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929649"/>
            <a:ext cx="10058400" cy="54551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Table 4 below show the optimal allocation of CHE funding that improves the different health outcomes.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To obtain improved health outcomes, countries need (22-32) doctors, (46-61) nurses and midwives, (3-4) dentists, and (8-11) pharmacists per 10,000 population.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Leading to a total of around  78-89 key health workers across the 5 cadres.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ECFFE7-B020-E57B-D483-A58266C48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831258"/>
              </p:ext>
            </p:extLst>
          </p:nvPr>
        </p:nvGraphicFramePr>
        <p:xfrm>
          <a:off x="1666875" y="1695450"/>
          <a:ext cx="8458200" cy="30098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3298">
                  <a:extLst>
                    <a:ext uri="{9D8B030D-6E8A-4147-A177-3AD203B41FA5}">
                      <a16:colId xmlns:a16="http://schemas.microsoft.com/office/drawing/2014/main" val="1044401877"/>
                    </a:ext>
                  </a:extLst>
                </a:gridCol>
                <a:gridCol w="1688967">
                  <a:extLst>
                    <a:ext uri="{9D8B030D-6E8A-4147-A177-3AD203B41FA5}">
                      <a16:colId xmlns:a16="http://schemas.microsoft.com/office/drawing/2014/main" val="379974039"/>
                    </a:ext>
                  </a:extLst>
                </a:gridCol>
                <a:gridCol w="1064078">
                  <a:extLst>
                    <a:ext uri="{9D8B030D-6E8A-4147-A177-3AD203B41FA5}">
                      <a16:colId xmlns:a16="http://schemas.microsoft.com/office/drawing/2014/main" val="3107014836"/>
                    </a:ext>
                  </a:extLst>
                </a:gridCol>
                <a:gridCol w="1483179">
                  <a:extLst>
                    <a:ext uri="{9D8B030D-6E8A-4147-A177-3AD203B41FA5}">
                      <a16:colId xmlns:a16="http://schemas.microsoft.com/office/drawing/2014/main" val="3733467339"/>
                    </a:ext>
                  </a:extLst>
                </a:gridCol>
                <a:gridCol w="1298122">
                  <a:extLst>
                    <a:ext uri="{9D8B030D-6E8A-4147-A177-3AD203B41FA5}">
                      <a16:colId xmlns:a16="http://schemas.microsoft.com/office/drawing/2014/main" val="1570430429"/>
                    </a:ext>
                  </a:extLst>
                </a:gridCol>
                <a:gridCol w="1121228">
                  <a:extLst>
                    <a:ext uri="{9D8B030D-6E8A-4147-A177-3AD203B41FA5}">
                      <a16:colId xmlns:a16="http://schemas.microsoft.com/office/drawing/2014/main" val="751153811"/>
                    </a:ext>
                  </a:extLst>
                </a:gridCol>
                <a:gridCol w="1159328">
                  <a:extLst>
                    <a:ext uri="{9D8B030D-6E8A-4147-A177-3AD203B41FA5}">
                      <a16:colId xmlns:a16="http://schemas.microsoft.com/office/drawing/2014/main" val="337347821"/>
                    </a:ext>
                  </a:extLst>
                </a:gridCol>
              </a:tblGrid>
              <a:tr h="4254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/>
                </a:tc>
                <a:tc grid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Table 4:  Optimal Health Workforce Density Thresholds per 10,000 population Required for Key Health Outcomes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71913"/>
                  </a:ext>
                </a:extLst>
              </a:tr>
              <a:tr h="459806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Key Health Variable 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Doctors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Nurses &amp; Midwives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Dentists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Pharmacists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Total 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707638025"/>
                  </a:ext>
                </a:extLst>
              </a:tr>
              <a:tr h="418368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Life Expectancy (LE)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30.52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29.25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2.57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5.15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67.49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4251109248"/>
                  </a:ext>
                </a:extLst>
              </a:tr>
              <a:tr h="51088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Maternal Mortality Ratio (MMR)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11.96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60.91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2.17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10.08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85.12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2789962363"/>
                  </a:ext>
                </a:extLst>
              </a:tr>
              <a:tr h="387565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Infant Mortality Rate (IMR)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31.61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46.35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2.85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7.96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88.77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178219346"/>
                  </a:ext>
                </a:extLst>
              </a:tr>
              <a:tr h="581346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Universal Health Coverage (UHC_SCI)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12.69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47.44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3.16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7.88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71.17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2680710625"/>
                  </a:ext>
                </a:extLst>
              </a:tr>
              <a:tr h="22648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Averages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21.70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45.99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2.69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7.77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78.15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4254795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58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A6B5-651F-B4C1-2110-BC95E40C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CCBC-4CE0-9839-9D80-EF24CCE793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47466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Government Financing on HWF Density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83B75-5591-8B58-7AC5-8A0A55DC69E9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066800" y="1387474"/>
                <a:ext cx="10058400" cy="457517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 Government funding (GGHED) at different lags was assumed to have a non-linear relationship with workforce density levels. 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A generalized additive regression model (</a:t>
                </a:r>
                <a:r>
                  <a:rPr lang="en-US" sz="2600" dirty="0" err="1"/>
                  <a:t>eqn</a:t>
                </a:r>
                <a:r>
                  <a:rPr lang="en-US" sz="2600" dirty="0"/>
                  <a:t> 3) was fitted to the total HWF density: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𝐻𝑊𝐹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−2)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−3)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−4)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−5)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                      (3)</a:t>
                </a:r>
              </a:p>
              <a:p>
                <a:pPr marL="0" indent="0">
                  <a:buNone/>
                </a:pPr>
                <a:r>
                  <a:rPr lang="en-US" sz="2600" dirty="0"/>
                  <a:t>Where: </a:t>
                </a:r>
              </a:p>
              <a:p>
                <a:pPr marL="0" indent="0" algn="ctr">
                  <a:buNone/>
                </a:pPr>
                <a:r>
                  <a:rPr lang="en-US" sz="2600" dirty="0"/>
                  <a:t>HWF=</a:t>
                </a:r>
                <a:r>
                  <a:rPr lang="en-US" sz="2600" dirty="0" err="1"/>
                  <a:t>Doctors+Nurses+Midwives+Dentists+Pharmacists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83B75-5591-8B58-7AC5-8A0A55DC6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066800" y="1387474"/>
                <a:ext cx="10058400" cy="4575175"/>
              </a:xfrm>
              <a:blipFill>
                <a:blip r:embed="rId2"/>
                <a:stretch>
                  <a:fillRect l="-2000" t="-2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23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2ABD-8C0E-B937-5BC6-CA9042A1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4C6-6263-89C5-35C8-421E337198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6835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Lagged GAM Model Results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FB8F-7EFD-E45A-0A30-4D644857EA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929649"/>
            <a:ext cx="10058400" cy="54551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fitted GAM model result smooth parameter estimates were as shown: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 Current and 5-year GGHED expenditures are only significant lags.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5-year  GGHED lag had the most significant effect on HWF density, suggesting that health financing has a delayed effect on workforce growth through other constraints such as training, retention, etc.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err="1"/>
              <a:t>edf</a:t>
            </a:r>
            <a:r>
              <a:rPr lang="en-US" sz="2400" dirty="0"/>
              <a:t>&gt;&gt;1 implying that there is a non-linear effect of GGHED on HWF, implying there might be different thresholds depicting a possibility of diminishing returns.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DF671F-B506-298F-5715-38EA640B0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69879"/>
              </p:ext>
            </p:extLst>
          </p:nvPr>
        </p:nvGraphicFramePr>
        <p:xfrm>
          <a:off x="2105025" y="1333500"/>
          <a:ext cx="6848475" cy="25034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5259">
                  <a:extLst>
                    <a:ext uri="{9D8B030D-6E8A-4147-A177-3AD203B41FA5}">
                      <a16:colId xmlns:a16="http://schemas.microsoft.com/office/drawing/2014/main" val="2972440772"/>
                    </a:ext>
                  </a:extLst>
                </a:gridCol>
                <a:gridCol w="1006644">
                  <a:extLst>
                    <a:ext uri="{9D8B030D-6E8A-4147-A177-3AD203B41FA5}">
                      <a16:colId xmlns:a16="http://schemas.microsoft.com/office/drawing/2014/main" val="2307042153"/>
                    </a:ext>
                  </a:extLst>
                </a:gridCol>
                <a:gridCol w="1089154">
                  <a:extLst>
                    <a:ext uri="{9D8B030D-6E8A-4147-A177-3AD203B41FA5}">
                      <a16:colId xmlns:a16="http://schemas.microsoft.com/office/drawing/2014/main" val="3714509076"/>
                    </a:ext>
                  </a:extLst>
                </a:gridCol>
                <a:gridCol w="862706">
                  <a:extLst>
                    <a:ext uri="{9D8B030D-6E8A-4147-A177-3AD203B41FA5}">
                      <a16:colId xmlns:a16="http://schemas.microsoft.com/office/drawing/2014/main" val="2978715663"/>
                    </a:ext>
                  </a:extLst>
                </a:gridCol>
                <a:gridCol w="2074712">
                  <a:extLst>
                    <a:ext uri="{9D8B030D-6E8A-4147-A177-3AD203B41FA5}">
                      <a16:colId xmlns:a16="http://schemas.microsoft.com/office/drawing/2014/main" val="728108005"/>
                    </a:ext>
                  </a:extLst>
                </a:gridCol>
              </a:tblGrid>
              <a:tr h="399142"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Table 5: Lagged GAM Model Results on the effect of GGHED per capita on HWF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530371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Variable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edf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Ref.df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F-value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pvalue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2032350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f(GGHED_Lag0)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8.174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8.745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3.716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71160701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f(GGHED_Lag1)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0.156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0.6930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31885143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f(GGHED_Lag2)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1.433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1.769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0.735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0.5703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98165014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f(GGHED_Lag3)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2.746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0.0989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5752576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f(GGHED_Lag4)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6.419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7.558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1.669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0.1299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24014088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f(GGHED_Lag5)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8.203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8.762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4.383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0.0000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48976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15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4CE26-001A-7D1C-1C21-BB261C8C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118D-D042-C7C4-8A05-AAF9666BF0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474662"/>
            <a:ext cx="1040892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Current Govt Health Financing Thresholds on HWF Density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142E0-01E7-EF76-4E23-EA8CEDD998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274128"/>
            <a:ext cx="10058400" cy="45751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The results of the GAM model were fitted to the threshold regression model independently for the current and 5-year lag GGHED.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At current GGHED levels, thresholds where the sign of the derivative changes occur at $29, $87, $162, and $ 137 per capita.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This shows that  there are alternating phases of growth and decline as spending increases.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Implying that more current spending on health doesn’t guarantee more workforce density.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A61CB-A505-66FE-E19A-CD823A97BA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332" y="2176146"/>
            <a:ext cx="5105399" cy="14814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BA68E7-D3E2-AFC0-280F-DA684D1E2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19423"/>
              </p:ext>
            </p:extLst>
          </p:nvPr>
        </p:nvGraphicFramePr>
        <p:xfrm>
          <a:off x="1224914" y="2176144"/>
          <a:ext cx="3537585" cy="1481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4086">
                  <a:extLst>
                    <a:ext uri="{9D8B030D-6E8A-4147-A177-3AD203B41FA5}">
                      <a16:colId xmlns:a16="http://schemas.microsoft.com/office/drawing/2014/main" val="3034949738"/>
                    </a:ext>
                  </a:extLst>
                </a:gridCol>
                <a:gridCol w="1543499">
                  <a:extLst>
                    <a:ext uri="{9D8B030D-6E8A-4147-A177-3AD203B41FA5}">
                      <a16:colId xmlns:a16="http://schemas.microsoft.com/office/drawing/2014/main" val="2475242386"/>
                    </a:ext>
                  </a:extLst>
                </a:gridCol>
              </a:tblGrid>
              <a:tr h="246909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Table 6: GGHED Threshold on HWF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70513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GGHED per capita, $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Derivative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9537725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0.0211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35281896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87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-0.0144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92336446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162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0.0106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84209722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337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-0.0226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5032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39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521D-194F-874F-48CA-A64E178F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C9B6-BEF1-B122-0CAE-EC3DD7370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474662"/>
            <a:ext cx="11109960" cy="912813"/>
          </a:xfrm>
        </p:spPr>
        <p:txBody>
          <a:bodyPr>
            <a:noAutofit/>
          </a:bodyPr>
          <a:lstStyle/>
          <a:p>
            <a:r>
              <a:rPr lang="en-US" sz="3450" b="1" dirty="0">
                <a:solidFill>
                  <a:schemeClr val="accent2"/>
                </a:solidFill>
              </a:rPr>
              <a:t>5- Year Lagged Govt Health Financing Thresholds on HWF Density</a:t>
            </a:r>
            <a:endParaRPr lang="en-US" sz="345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ED02-5C71-B2A9-6CA6-0B2E93713C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274128"/>
            <a:ext cx="10058400" cy="497427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The 5-Year GGHED lagged levels thresholds where the sign of the derivative changes occur at $81, $129, $174, $214 and $300 per capita.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This shows that  even with delayed effect, there are still alternating phases of growth and decline as spending increases.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Implying that more current spending on health doesn’t guarantee more workforce density 5 years into the future unless efficiency and optimal allocation levels are maintained.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A03BAA-6DE3-A0E7-0544-EBDFAFA07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248527"/>
              </p:ext>
            </p:extLst>
          </p:nvPr>
        </p:nvGraphicFramePr>
        <p:xfrm>
          <a:off x="1310640" y="1445260"/>
          <a:ext cx="4053840" cy="18620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4740">
                  <a:extLst>
                    <a:ext uri="{9D8B030D-6E8A-4147-A177-3AD203B41FA5}">
                      <a16:colId xmlns:a16="http://schemas.microsoft.com/office/drawing/2014/main" val="302006321"/>
                    </a:ext>
                  </a:extLst>
                </a:gridCol>
                <a:gridCol w="166658">
                  <a:extLst>
                    <a:ext uri="{9D8B030D-6E8A-4147-A177-3AD203B41FA5}">
                      <a16:colId xmlns:a16="http://schemas.microsoft.com/office/drawing/2014/main" val="4259972034"/>
                    </a:ext>
                  </a:extLst>
                </a:gridCol>
                <a:gridCol w="1522442">
                  <a:extLst>
                    <a:ext uri="{9D8B030D-6E8A-4147-A177-3AD203B41FA5}">
                      <a16:colId xmlns:a16="http://schemas.microsoft.com/office/drawing/2014/main" val="1128959057"/>
                    </a:ext>
                  </a:extLst>
                </a:gridCol>
              </a:tblGrid>
              <a:tr h="446536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Table 7: Five-Year Lagged GGHED Threshold on HWF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462972"/>
                  </a:ext>
                </a:extLst>
              </a:tr>
              <a:tr h="227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GGHED per capita, $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Derivative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61287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0.0117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36751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129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-0.0005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3517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174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0.0066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30859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214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-0.0167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136591"/>
                  </a:ext>
                </a:extLst>
              </a:tr>
              <a:tr h="227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300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0.0107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43664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57E7608-4282-C13A-B8B8-357E5A6C9F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320" y="1445260"/>
            <a:ext cx="5516880" cy="1983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62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E7A3-2929-6BA4-D7C5-1C1AA411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0EEF-6945-FEAB-80AE-E01F24938B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-1746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Health Workforce Elasticity vs Government Financing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BBA16-0FCE-4C69-FDE2-8DB80887A2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895352"/>
            <a:ext cx="10881360" cy="523874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The threshold regression model results were subjected to elasticity analysis.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Elasticity measures the % change HWF gets for a % increase in GGHED.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HWF density non-linearly increase with GGHED.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HWF  elasticity levels increase and decrease at different levels of GGHED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600" dirty="0"/>
              <a:t>Optimal GGHED levels per capita recorded at $40.75, $186.83, and $438.41, responding 21.12, 43.46, and 72.88 health workers (doctors, nurses, midwives, pharmacists and dentists), respectively, per 10,000 population.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To achieve the recommended 78.16 HWF, invest $449.23 GGHED per capita.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605D1-FAE0-3653-C8A6-D5CCC1B91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885" y="1792605"/>
            <a:ext cx="8915400" cy="1731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54187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9113</TotalTime>
  <Words>1828</Words>
  <Application>Microsoft Office PowerPoint</Application>
  <PresentationFormat>Widescreen</PresentationFormat>
  <Paragraphs>290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Wingdings</vt:lpstr>
      <vt:lpstr>Retrospect</vt:lpstr>
      <vt:lpstr>INVESTING IN HEALTH SYSTEMS:  Insights into How Health Financing Shapes Workforce Density, UHC Service Coverage, and Key Health Outcomes.  A WHO African Regional Perspective </vt:lpstr>
      <vt:lpstr>Background</vt:lpstr>
      <vt:lpstr>Effect of CHE components on Key Health Outcomes</vt:lpstr>
      <vt:lpstr>Effect of CHE components on Key Health Outcomes and Service Coverage Index contd…</vt:lpstr>
      <vt:lpstr>Optimal Allocation of CHE Components</vt:lpstr>
      <vt:lpstr>CHE Components Optimal Level Results</vt:lpstr>
      <vt:lpstr>Effect of 67% Government Expenditure on Health</vt:lpstr>
      <vt:lpstr>Effect of  Key HWF Cadres on Key Health Outcomes</vt:lpstr>
      <vt:lpstr>Optimal Health Workforce Density Level Results</vt:lpstr>
      <vt:lpstr>Effect of Government Financing on HWF Density</vt:lpstr>
      <vt:lpstr>Lagged GAM Model Results</vt:lpstr>
      <vt:lpstr>Current Govt Health Financing Thresholds on HWF Density</vt:lpstr>
      <vt:lpstr>5- Year Lagged Govt Health Financing Thresholds on HWF Density</vt:lpstr>
      <vt:lpstr>Health Workforce Elasticity vs Government Financing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Charity Wamwea</dc:creator>
  <cp:lastModifiedBy>Charity Wamwea</cp:lastModifiedBy>
  <cp:revision>18</cp:revision>
  <dcterms:created xsi:type="dcterms:W3CDTF">2026-03-03T13:44:27Z</dcterms:created>
  <dcterms:modified xsi:type="dcterms:W3CDTF">2026-05-21T06:29:03Z</dcterms:modified>
</cp:coreProperties>
</file>
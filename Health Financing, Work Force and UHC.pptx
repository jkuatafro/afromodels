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0" autoAdjust="0"/>
    <p:restoredTop sz="94660"/>
  </p:normalViewPr>
  <p:slideViewPr>
    <p:cSldViewPr snapToGrid="0">
      <p:cViewPr>
        <p:scale>
          <a:sx n="93" d="100"/>
          <a:sy n="93" d="100"/>
        </p:scale>
        <p:origin x="53"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24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532974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77988-1040-4D94-A1A4-72818F46F5F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600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177988-1040-4D94-A1A4-72818F46F5F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872036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177988-1040-4D94-A1A4-72818F46F5F5}"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84826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177988-1040-4D94-A1A4-72818F46F5F5}"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520603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1177988-1040-4D94-A1A4-72818F46F5F5}" type="datetimeFigureOut">
              <a:rPr lang="en-US" smtClean="0"/>
              <a:t>3/6/2026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3626768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1177988-1040-4D94-A1A4-72818F46F5F5}" type="datetimeFigureOut">
              <a:rPr lang="en-US" smtClean="0"/>
              <a:t>3/6/2026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7F26C80-AA2B-46C7-AD5A-BB8F5C90DEBB}" type="slidenum">
              <a:rPr lang="en-US" smtClean="0"/>
              <a:t>‹#›</a:t>
            </a:fld>
            <a:endParaRPr lang="en-US"/>
          </a:p>
        </p:txBody>
      </p:sp>
    </p:spTree>
    <p:extLst>
      <p:ext uri="{BB962C8B-B14F-4D97-AF65-F5344CB8AC3E}">
        <p14:creationId xmlns:p14="http://schemas.microsoft.com/office/powerpoint/2010/main" val="1762403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177988-1040-4D94-A1A4-72818F46F5F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943211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2077567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77988-1040-4D94-A1A4-72818F46F5F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26C80-AA2B-46C7-AD5A-BB8F5C90DEBB}" type="slidenum">
              <a:rPr lang="en-US" smtClean="0"/>
              <a:t>‹#›</a:t>
            </a:fld>
            <a:endParaRPr lang="en-US"/>
          </a:p>
        </p:txBody>
      </p:sp>
    </p:spTree>
    <p:extLst>
      <p:ext uri="{BB962C8B-B14F-4D97-AF65-F5344CB8AC3E}">
        <p14:creationId xmlns:p14="http://schemas.microsoft.com/office/powerpoint/2010/main" val="1614612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1177988-1040-4D94-A1A4-72818F46F5F5}" type="datetimeFigureOut">
              <a:rPr lang="en-US" smtClean="0"/>
              <a:t>3/6/2026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7F26C80-AA2B-46C7-AD5A-BB8F5C90DEB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6726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DAA6C-7CB4-DCF7-1F35-5032815FEA49}"/>
              </a:ext>
            </a:extLst>
          </p:cNvPr>
          <p:cNvSpPr>
            <a:spLocks noGrp="1"/>
          </p:cNvSpPr>
          <p:nvPr>
            <p:ph type="ctrTitle"/>
          </p:nvPr>
        </p:nvSpPr>
        <p:spPr>
          <a:xfrm>
            <a:off x="1524000" y="3717044"/>
            <a:ext cx="9144000" cy="2387600"/>
          </a:xfrm>
        </p:spPr>
        <p:txBody>
          <a:bodyPr>
            <a:normAutofit fontScale="90000"/>
          </a:bodyPr>
          <a:lstStyle/>
          <a:p>
            <a:r>
              <a:rPr lang="en-US" sz="6700" b="1" dirty="0"/>
              <a:t>Investing in Health Systems: Insights into How Health Financing Shape Workforce Density and UHC Outcomes</a:t>
            </a:r>
            <a:br>
              <a:rPr lang="en-US" dirty="0"/>
            </a:br>
            <a:endParaRPr lang="en-US" dirty="0"/>
          </a:p>
        </p:txBody>
      </p:sp>
    </p:spTree>
    <p:extLst>
      <p:ext uri="{BB962C8B-B14F-4D97-AF65-F5344CB8AC3E}">
        <p14:creationId xmlns:p14="http://schemas.microsoft.com/office/powerpoint/2010/main" val="3074044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02D2-C9B1-BA7B-E8BE-D3AF45095775}"/>
              </a:ext>
            </a:extLst>
          </p:cNvPr>
          <p:cNvSpPr>
            <a:spLocks noGrp="1"/>
          </p:cNvSpPr>
          <p:nvPr>
            <p:ph type="title"/>
          </p:nvPr>
        </p:nvSpPr>
        <p:spPr/>
        <p:txBody>
          <a:bodyPr/>
          <a:lstStyle/>
          <a:p>
            <a:r>
              <a:rPr lang="en-US" b="1" dirty="0"/>
              <a:t>Background</a:t>
            </a:r>
          </a:p>
        </p:txBody>
      </p:sp>
      <p:sp>
        <p:nvSpPr>
          <p:cNvPr id="3" name="Content Placeholder 2">
            <a:extLst>
              <a:ext uri="{FF2B5EF4-FFF2-40B4-BE49-F238E27FC236}">
                <a16:creationId xmlns:a16="http://schemas.microsoft.com/office/drawing/2014/main" id="{661031F2-AE6D-D01F-1CB8-53DA3400063B}"/>
              </a:ext>
            </a:extLst>
          </p:cNvPr>
          <p:cNvSpPr>
            <a:spLocks noGrp="1"/>
          </p:cNvSpPr>
          <p:nvPr>
            <p:ph idx="1"/>
          </p:nvPr>
        </p:nvSpPr>
        <p:spPr/>
        <p:txBody>
          <a:bodyPr/>
          <a:lstStyle/>
          <a:p>
            <a:pPr>
              <a:buFont typeface="Wingdings" panose="05000000000000000000" pitchFamily="2" charset="2"/>
              <a:buChar char="§"/>
            </a:pPr>
            <a:r>
              <a:rPr lang="en-US" dirty="0"/>
              <a:t>Evidence from the World Health Organization (WHO) demonstrates that a minimum density of 44.5 doctors, nurses, and midwives per 10,000 population.</a:t>
            </a:r>
          </a:p>
          <a:p>
            <a:pPr>
              <a:buFont typeface="Wingdings" panose="05000000000000000000" pitchFamily="2" charset="2"/>
              <a:buChar char="§"/>
            </a:pPr>
            <a:r>
              <a:rPr lang="en-US" dirty="0"/>
              <a:t> This rate is essential to deliver essential health services and sustain progress toward Universal Health Coverage (UHC) (World Health Organization, 2025). </a:t>
            </a:r>
          </a:p>
          <a:p>
            <a:pPr>
              <a:buFont typeface="Wingdings" panose="05000000000000000000" pitchFamily="2" charset="2"/>
              <a:buChar char="§"/>
            </a:pPr>
            <a:r>
              <a:rPr lang="en-US" dirty="0"/>
              <a:t>Countries that reach or surpass this threshold consistently record service coverage indices above 70%, reflecting improved access, quality, and equity in care (Ahmat, </a:t>
            </a:r>
            <a:r>
              <a:rPr lang="en-US" dirty="0" err="1"/>
              <a:t>Asamani</a:t>
            </a:r>
            <a:r>
              <a:rPr lang="en-US" dirty="0"/>
              <a:t>, &amp; </a:t>
            </a:r>
            <a:r>
              <a:rPr lang="en-US" dirty="0" err="1"/>
              <a:t>Illou</a:t>
            </a:r>
            <a:r>
              <a:rPr lang="en-US" dirty="0"/>
              <a:t>, 2022). </a:t>
            </a:r>
          </a:p>
          <a:p>
            <a:endParaRPr lang="en-US" dirty="0"/>
          </a:p>
        </p:txBody>
      </p:sp>
    </p:spTree>
    <p:extLst>
      <p:ext uri="{BB962C8B-B14F-4D97-AF65-F5344CB8AC3E}">
        <p14:creationId xmlns:p14="http://schemas.microsoft.com/office/powerpoint/2010/main" val="183141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D847E-FB12-559B-FBCA-91469138F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44770-E41B-E861-59D8-1D6C41B0E569}"/>
              </a:ext>
            </a:extLst>
          </p:cNvPr>
          <p:cNvSpPr>
            <a:spLocks noGrp="1"/>
          </p:cNvSpPr>
          <p:nvPr>
            <p:ph type="title"/>
          </p:nvPr>
        </p:nvSpPr>
        <p:spPr>
          <a:xfrm>
            <a:off x="1097280" y="286604"/>
            <a:ext cx="10058400" cy="912932"/>
          </a:xfrm>
        </p:spPr>
        <p:txBody>
          <a:bodyPr>
            <a:normAutofit/>
          </a:bodyPr>
          <a:lstStyle/>
          <a:p>
            <a:r>
              <a:rPr lang="en-US" sz="3600" b="1" dirty="0"/>
              <a:t>Average Number of Health Workers vis-à-vis UHC_SCI</a:t>
            </a:r>
          </a:p>
        </p:txBody>
      </p:sp>
      <p:sp>
        <p:nvSpPr>
          <p:cNvPr id="3" name="Content Placeholder 2">
            <a:extLst>
              <a:ext uri="{FF2B5EF4-FFF2-40B4-BE49-F238E27FC236}">
                <a16:creationId xmlns:a16="http://schemas.microsoft.com/office/drawing/2014/main" id="{78109E70-8813-846E-EF5B-EDEDE126F5B6}"/>
              </a:ext>
            </a:extLst>
          </p:cNvPr>
          <p:cNvSpPr>
            <a:spLocks noGrp="1"/>
          </p:cNvSpPr>
          <p:nvPr>
            <p:ph idx="1"/>
          </p:nvPr>
        </p:nvSpPr>
        <p:spPr>
          <a:xfrm>
            <a:off x="1097280" y="1288026"/>
            <a:ext cx="10058400" cy="4581068"/>
          </a:xfrm>
        </p:spPr>
        <p:txBody>
          <a:bodyPr>
            <a:normAutofit fontScale="77500" lnSpcReduction="20000"/>
          </a:bodyPr>
          <a:lstStyle/>
          <a:p>
            <a:pPr>
              <a:buFont typeface="Wingdings" panose="05000000000000000000" pitchFamily="2" charset="2"/>
              <a:buChar char="§"/>
            </a:pPr>
            <a:r>
              <a:rPr lang="en-US" dirty="0"/>
              <a:t> To determine the minimum average proportion of health workers (doctors, nurses, midwives, dentists, and pharmacists) per 10,000 population required to meet the 70% UHC.</a:t>
            </a:r>
          </a:p>
          <a:p>
            <a:pPr>
              <a:buFont typeface="Wingdings" panose="05000000000000000000" pitchFamily="2" charset="2"/>
              <a:buChar char="§"/>
            </a:pPr>
            <a:r>
              <a:rPr lang="en-US" dirty="0"/>
              <a:t> A descriptive analysis of data from 47 WHO African regional countries spanning from 2000 to 2024 was conducted. </a:t>
            </a:r>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a:buFont typeface="Wingdings" panose="05000000000000000000" pitchFamily="2" charset="2"/>
              <a:buChar char="§"/>
            </a:pPr>
            <a:endParaRPr lang="en-US" dirty="0"/>
          </a:p>
          <a:p>
            <a:pPr marL="0" indent="0">
              <a:buNone/>
            </a:pPr>
            <a:endParaRPr lang="en-US" dirty="0"/>
          </a:p>
          <a:p>
            <a:pPr>
              <a:buFont typeface="Wingdings" panose="05000000000000000000" pitchFamily="2" charset="2"/>
              <a:buChar char="§"/>
            </a:pPr>
            <a:r>
              <a:rPr lang="en-US" dirty="0"/>
              <a:t>It was discovered that on average, we need </a:t>
            </a:r>
            <a:r>
              <a:rPr lang="en-US" b="1" dirty="0">
                <a:solidFill>
                  <a:schemeClr val="accent2"/>
                </a:solidFill>
              </a:rPr>
              <a:t>11.09</a:t>
            </a:r>
            <a:r>
              <a:rPr lang="en-US" dirty="0"/>
              <a:t> doctors, </a:t>
            </a:r>
            <a:r>
              <a:rPr lang="en-US" b="1" dirty="0">
                <a:solidFill>
                  <a:schemeClr val="accent2"/>
                </a:solidFill>
              </a:rPr>
              <a:t>2.19</a:t>
            </a:r>
            <a:r>
              <a:rPr lang="en-US" dirty="0"/>
              <a:t> dentists, </a:t>
            </a:r>
            <a:r>
              <a:rPr lang="en-US" b="1" dirty="0">
                <a:solidFill>
                  <a:schemeClr val="accent2"/>
                </a:solidFill>
              </a:rPr>
              <a:t>28.53</a:t>
            </a:r>
            <a:r>
              <a:rPr lang="en-US" dirty="0"/>
              <a:t> nurses or midwives, and </a:t>
            </a:r>
            <a:r>
              <a:rPr lang="en-US" b="1" dirty="0">
                <a:solidFill>
                  <a:schemeClr val="accent2"/>
                </a:solidFill>
              </a:rPr>
              <a:t>2.81 </a:t>
            </a:r>
            <a:r>
              <a:rPr lang="en-US" dirty="0"/>
              <a:t>pharmacists per </a:t>
            </a:r>
            <a:r>
              <a:rPr lang="en-US" b="1" dirty="0">
                <a:solidFill>
                  <a:schemeClr val="accent2"/>
                </a:solidFill>
              </a:rPr>
              <a:t>10,000</a:t>
            </a:r>
            <a:r>
              <a:rPr lang="en-US" dirty="0"/>
              <a:t> population to achieve </a:t>
            </a:r>
            <a:r>
              <a:rPr lang="en-US" b="1" dirty="0">
                <a:solidFill>
                  <a:schemeClr val="accent2"/>
                </a:solidFill>
              </a:rPr>
              <a:t>70</a:t>
            </a:r>
            <a:r>
              <a:rPr lang="en-US" dirty="0"/>
              <a:t>% universal health coverage.</a:t>
            </a:r>
          </a:p>
          <a:p>
            <a:endParaRPr lang="en-US" dirty="0"/>
          </a:p>
        </p:txBody>
      </p:sp>
      <p:pic>
        <p:nvPicPr>
          <p:cNvPr id="4" name="Picture 3">
            <a:extLst>
              <a:ext uri="{FF2B5EF4-FFF2-40B4-BE49-F238E27FC236}">
                <a16:creationId xmlns:a16="http://schemas.microsoft.com/office/drawing/2014/main" id="{A4790D95-5DBC-9AC2-319A-D92175F6548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5517" y="2190135"/>
            <a:ext cx="7917683" cy="2838201"/>
          </a:xfrm>
          <a:prstGeom prst="rect">
            <a:avLst/>
          </a:prstGeom>
          <a:noFill/>
          <a:ln>
            <a:noFill/>
          </a:ln>
        </p:spPr>
      </p:pic>
    </p:spTree>
    <p:extLst>
      <p:ext uri="{BB962C8B-B14F-4D97-AF65-F5344CB8AC3E}">
        <p14:creationId xmlns:p14="http://schemas.microsoft.com/office/powerpoint/2010/main" val="309432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E3751-E2C0-CD97-0300-31A3FD86E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A3FD4-0C25-F31C-A8A0-7BDD24A5249E}"/>
              </a:ext>
            </a:extLst>
          </p:cNvPr>
          <p:cNvSpPr>
            <a:spLocks noGrp="1"/>
          </p:cNvSpPr>
          <p:nvPr>
            <p:ph type="title"/>
          </p:nvPr>
        </p:nvSpPr>
        <p:spPr>
          <a:xfrm>
            <a:off x="1273743" y="815993"/>
            <a:ext cx="10058400" cy="912932"/>
          </a:xfrm>
        </p:spPr>
        <p:txBody>
          <a:bodyPr>
            <a:normAutofit fontScale="90000"/>
          </a:bodyPr>
          <a:lstStyle/>
          <a:p>
            <a:r>
              <a:rPr lang="en-US" b="1" dirty="0"/>
              <a:t>Effect of Government Health Financing on Health Workforce Densities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F105C9-0A90-1553-035F-FE629CBF9038}"/>
                  </a:ext>
                </a:extLst>
              </p:cNvPr>
              <p:cNvSpPr>
                <a:spLocks noGrp="1"/>
              </p:cNvSpPr>
              <p:nvPr>
                <p:ph idx="1"/>
              </p:nvPr>
            </p:nvSpPr>
            <p:spPr>
              <a:xfrm>
                <a:off x="1097280" y="1876926"/>
                <a:ext cx="10058400" cy="3992167"/>
              </a:xfrm>
            </p:spPr>
            <p:txBody>
              <a:bodyPr>
                <a:normAutofit lnSpcReduction="10000"/>
              </a:bodyPr>
              <a:lstStyle/>
              <a:p>
                <a:pPr>
                  <a:buFont typeface="Wingdings" panose="05000000000000000000" pitchFamily="2" charset="2"/>
                  <a:buChar char="§"/>
                </a:pPr>
                <a:r>
                  <a:rPr lang="en-US" dirty="0"/>
                  <a:t>A  panel data analysis was performed to assess whether health financing has a significant effect on health workforce density, with fixed- and random-effects models fitted to the data. </a:t>
                </a:r>
              </a:p>
              <a:p>
                <a:pPr>
                  <a:buFont typeface="Wingdings" panose="05000000000000000000" pitchFamily="2" charset="2"/>
                  <a:buChar char="§"/>
                </a:pPr>
                <a:r>
                  <a:rPr lang="en-US" dirty="0"/>
                  <a:t>The Hausman test results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𝜒</m:t>
                        </m:r>
                      </m:e>
                      <m:sup>
                        <m:r>
                          <a:rPr lang="en-US" i="1">
                            <a:latin typeface="Cambria Math" panose="02040503050406030204" pitchFamily="18" charset="0"/>
                          </a:rPr>
                          <m:t>2</m:t>
                        </m:r>
                      </m:sup>
                    </m:sSup>
                    <m:r>
                      <a:rPr lang="en-US" i="1">
                        <a:latin typeface="Cambria Math" panose="02040503050406030204" pitchFamily="18" charset="0"/>
                      </a:rPr>
                      <m:t>=16.859, </m:t>
                    </m:r>
                    <m:r>
                      <a:rPr lang="en-US" i="1">
                        <a:latin typeface="Cambria Math" panose="02040503050406030204" pitchFamily="18" charset="0"/>
                      </a:rPr>
                      <m:t>𝑝𝑣𝑎𝑙𝑢𝑒</m:t>
                    </m:r>
                    <m:r>
                      <a:rPr lang="en-US" i="1">
                        <a:latin typeface="Cambria Math" panose="02040503050406030204" pitchFamily="18" charset="0"/>
                      </a:rPr>
                      <m:t>&lt;0.001</m:t>
                    </m:r>
                  </m:oMath>
                </a14:m>
                <a:r>
                  <a:rPr lang="en-US" dirty="0"/>
                  <a:t>) confirmed that the fixed effect model is preferred over the inconsistent random effects model. The fitted fixed effect model was given by:</a:t>
                </a:r>
              </a:p>
              <a:p>
                <a:pPr marL="0" indent="0" algn="ctr">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𝐻𝑊𝐹</m:t>
                        </m:r>
                      </m:e>
                      <m:sub>
                        <m:r>
                          <a:rPr lang="en-US" i="1">
                            <a:latin typeface="Cambria Math" panose="02040503050406030204" pitchFamily="18" charset="0"/>
                          </a:rPr>
                          <m:t>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r>
                          <a:rPr lang="en-US" i="1">
                            <a:latin typeface="Cambria Math" panose="02040503050406030204" pitchFamily="18" charset="0"/>
                          </a:rPr>
                          <m:t>∗</m:t>
                        </m:r>
                        <m:r>
                          <a:rPr lang="en-US" i="1">
                            <a:latin typeface="Cambria Math" panose="02040503050406030204" pitchFamily="18" charset="0"/>
                          </a:rPr>
                          <m:t>𝐺𝐺𝐻𝐸𝐷</m:t>
                        </m:r>
                      </m:e>
                      <m:sub>
                        <m:r>
                          <a:rPr lang="en-US" i="1">
                            <a:latin typeface="Cambria Math" panose="02040503050406030204" pitchFamily="18" charset="0"/>
                          </a:rPr>
                          <m:t>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𝑖𝑡</m:t>
                        </m:r>
                      </m:sub>
                    </m:sSub>
                  </m:oMath>
                </a14:m>
                <a:r>
                  <a:rPr lang="en-US" dirty="0"/>
                  <a:t>	  </a:t>
                </a:r>
              </a:p>
              <a:p>
                <a:pPr>
                  <a:buFont typeface="Wingdings" panose="05000000000000000000" pitchFamily="2" charset="2"/>
                  <a:buChar char="§"/>
                </a:pPr>
                <a:r>
                  <a:rPr lang="en-US" dirty="0"/>
                  <a:t> The Domestic General Government Health Expenditure (GGHED) per capita (in current USD) was found to be positively correlated with health workforce (HWF) density, such that each unit increase in the government health expenditure per capita (in current USD) corresponds to a </a:t>
                </a:r>
                <a:r>
                  <a:rPr lang="en-US" b="1" dirty="0">
                    <a:solidFill>
                      <a:schemeClr val="accent2"/>
                    </a:solidFill>
                  </a:rPr>
                  <a:t>0.07</a:t>
                </a:r>
                <a:r>
                  <a:rPr lang="en-US" dirty="0"/>
                  <a:t> </a:t>
                </a:r>
                <a:r>
                  <a:rPr lang="en-US" b="1" dirty="0">
                    <a:solidFill>
                      <a:schemeClr val="accent2"/>
                    </a:solidFill>
                  </a:rPr>
                  <a:t>unit increase in HWF density per 10,000 population </a:t>
                </a:r>
                <a:r>
                  <a:rPr lang="en-US" dirty="0"/>
                  <a:t>within countries over time. </a:t>
                </a:r>
              </a:p>
              <a:p>
                <a:pPr>
                  <a:buFont typeface="Wingdings" panose="05000000000000000000" pitchFamily="2" charset="2"/>
                  <a:buChar char="§"/>
                </a:pPr>
                <a:r>
                  <a:rPr lang="en-US" dirty="0"/>
                  <a:t>The fitted model's overall R-squared was found to be </a:t>
                </a:r>
                <a:r>
                  <a:rPr lang="en-US" b="1" dirty="0">
                    <a:solidFill>
                      <a:schemeClr val="accent2"/>
                    </a:solidFill>
                  </a:rPr>
                  <a:t>0.10595</a:t>
                </a:r>
                <a:r>
                  <a:rPr lang="en-US" dirty="0"/>
                  <a:t>, implying that </a:t>
                </a:r>
                <a:r>
                  <a:rPr lang="en-US" b="1" dirty="0">
                    <a:solidFill>
                      <a:schemeClr val="accent2"/>
                    </a:solidFill>
                  </a:rPr>
                  <a:t>only 11%</a:t>
                </a:r>
                <a:r>
                  <a:rPr lang="en-US" dirty="0"/>
                  <a:t> of the variation in workforce density is explained by the government expenditure per capita. 	</a:t>
                </a:r>
              </a:p>
            </p:txBody>
          </p:sp>
        </mc:Choice>
        <mc:Fallback xmlns="">
          <p:sp>
            <p:nvSpPr>
              <p:cNvPr id="3" name="Content Placeholder 2">
                <a:extLst>
                  <a:ext uri="{FF2B5EF4-FFF2-40B4-BE49-F238E27FC236}">
                    <a16:creationId xmlns:a16="http://schemas.microsoft.com/office/drawing/2014/main" id="{42F105C9-0A90-1553-035F-FE629CBF9038}"/>
                  </a:ext>
                </a:extLst>
              </p:cNvPr>
              <p:cNvSpPr>
                <a:spLocks noGrp="1" noRot="1" noChangeAspect="1" noMove="1" noResize="1" noEditPoints="1" noAdjustHandles="1" noChangeArrowheads="1" noChangeShapeType="1" noTextEdit="1"/>
              </p:cNvSpPr>
              <p:nvPr>
                <p:ph idx="1"/>
              </p:nvPr>
            </p:nvSpPr>
            <p:spPr>
              <a:xfrm>
                <a:off x="1097280" y="1876926"/>
                <a:ext cx="10058400" cy="3992167"/>
              </a:xfrm>
              <a:blipFill>
                <a:blip r:embed="rId2"/>
                <a:stretch>
                  <a:fillRect l="-1455" t="-2290" r="-1939"/>
                </a:stretch>
              </a:blipFill>
            </p:spPr>
            <p:txBody>
              <a:bodyPr/>
              <a:lstStyle/>
              <a:p>
                <a:r>
                  <a:rPr lang="en-US">
                    <a:noFill/>
                  </a:rPr>
                  <a:t> </a:t>
                </a:r>
              </a:p>
            </p:txBody>
          </p:sp>
        </mc:Fallback>
      </mc:AlternateContent>
    </p:spTree>
    <p:extLst>
      <p:ext uri="{BB962C8B-B14F-4D97-AF65-F5344CB8AC3E}">
        <p14:creationId xmlns:p14="http://schemas.microsoft.com/office/powerpoint/2010/main" val="273160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675AA-ECDA-76F4-2108-B1A205974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375A0-88BE-F168-EC80-05CCB6612151}"/>
              </a:ext>
            </a:extLst>
          </p:cNvPr>
          <p:cNvSpPr>
            <a:spLocks noGrp="1"/>
          </p:cNvSpPr>
          <p:nvPr>
            <p:ph type="title"/>
          </p:nvPr>
        </p:nvSpPr>
        <p:spPr>
          <a:xfrm>
            <a:off x="1273743" y="815993"/>
            <a:ext cx="10773878" cy="912932"/>
          </a:xfrm>
        </p:spPr>
        <p:txBody>
          <a:bodyPr>
            <a:normAutofit fontScale="90000"/>
          </a:bodyPr>
          <a:lstStyle/>
          <a:p>
            <a:r>
              <a:rPr lang="en-US" b="1" dirty="0"/>
              <a:t>Sensitivity of Workforce Density to Government-Specific Health Financing Changes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6764AC-6B50-8EF2-2E28-1134387310B8}"/>
                  </a:ext>
                </a:extLst>
              </p:cNvPr>
              <p:cNvSpPr>
                <a:spLocks noGrp="1"/>
              </p:cNvSpPr>
              <p:nvPr>
                <p:ph idx="1"/>
              </p:nvPr>
            </p:nvSpPr>
            <p:spPr>
              <a:xfrm>
                <a:off x="1097280" y="1876926"/>
                <a:ext cx="10396630" cy="3992167"/>
              </a:xfrm>
            </p:spPr>
            <p:txBody>
              <a:bodyPr>
                <a:normAutofit/>
              </a:bodyPr>
              <a:lstStyle/>
              <a:p>
                <a:pPr>
                  <a:buFont typeface="Wingdings" panose="05000000000000000000" pitchFamily="2" charset="2"/>
                  <a:buChar char="§"/>
                </a:pPr>
                <a:r>
                  <a:rPr lang="en-US" dirty="0"/>
                  <a:t> Elasticity measures were performed to check how sensitive workforce density is to government-specific health financing changes, where a fixed effects panel regression model with log-transformed variables, given by :</a:t>
                </a:r>
              </a:p>
              <a:p>
                <a:pPr algn="ctr"/>
                <a14:m>
                  <m:oMath xmlns:m="http://schemas.openxmlformats.org/officeDocument/2006/math">
                    <m:r>
                      <m:rPr>
                        <m:sty m:val="p"/>
                      </m:rPr>
                      <a:rPr lang="en-US">
                        <a:latin typeface="Cambria Math" panose="02040503050406030204" pitchFamily="18" charset="0"/>
                      </a:rPr>
                      <m:t>log</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𝐻𝑊𝐹</m:t>
                        </m:r>
                        <m:r>
                          <a:rPr lang="en-US" i="1">
                            <a:latin typeface="Cambria Math" panose="02040503050406030204" pitchFamily="18" charset="0"/>
                          </a:rPr>
                          <m:t>)</m:t>
                        </m:r>
                      </m:e>
                      <m:sub>
                        <m:r>
                          <a:rPr lang="en-US" i="1">
                            <a:latin typeface="Cambria Math" panose="02040503050406030204" pitchFamily="18" charset="0"/>
                          </a:rPr>
                          <m:t>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r>
                          <a:rPr lang="en-US" i="1">
                            <a:latin typeface="Cambria Math" panose="02040503050406030204" pitchFamily="18" charset="0"/>
                          </a:rPr>
                          <m:t>∗</m:t>
                        </m:r>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𝐺𝐺𝐻𝐸𝐷</m:t>
                        </m:r>
                        <m:r>
                          <a:rPr lang="en-US" i="1">
                            <a:latin typeface="Cambria Math" panose="02040503050406030204" pitchFamily="18" charset="0"/>
                          </a:rPr>
                          <m:t>)</m:t>
                        </m:r>
                      </m:e>
                      <m:sub>
                        <m:r>
                          <a:rPr lang="en-US" i="1">
                            <a:latin typeface="Cambria Math" panose="02040503050406030204" pitchFamily="18" charset="0"/>
                          </a:rPr>
                          <m:t>𝑖𝑡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𝑖𝑡</m:t>
                        </m:r>
                      </m:sub>
                    </m:sSub>
                  </m:oMath>
                </a14:m>
                <a:r>
                  <a:rPr lang="en-US" dirty="0"/>
                  <a:t>                                                     (2)</a:t>
                </a:r>
              </a:p>
              <a:p>
                <a:pPr>
                  <a:buFont typeface="Wingdings" panose="05000000000000000000" pitchFamily="2" charset="2"/>
                  <a:buChar char="§"/>
                </a:pPr>
                <a:r>
                  <a:rPr lang="en-US" dirty="0"/>
                  <a:t> Results show that a </a:t>
                </a:r>
                <a:r>
                  <a:rPr lang="en-US" b="1" dirty="0">
                    <a:solidFill>
                      <a:schemeClr val="accent2"/>
                    </a:solidFill>
                  </a:rPr>
                  <a:t>1% increase </a:t>
                </a:r>
                <a:r>
                  <a:rPr lang="en-US" dirty="0"/>
                  <a:t>in government health expenditure (GGHED) per capita is significantly associated with a </a:t>
                </a:r>
                <a:r>
                  <a:rPr lang="en-US" b="1" dirty="0">
                    <a:solidFill>
                      <a:schemeClr val="accent2"/>
                    </a:solidFill>
                  </a:rPr>
                  <a:t>0.40% increase </a:t>
                </a:r>
                <a:r>
                  <a:rPr lang="en-US" dirty="0"/>
                  <a:t>(elasticity) in workforce density within countries over time. </a:t>
                </a:r>
              </a:p>
              <a:p>
                <a:pPr>
                  <a:buFont typeface="Wingdings" panose="05000000000000000000" pitchFamily="2" charset="2"/>
                  <a:buChar char="§"/>
                </a:pPr>
                <a:r>
                  <a:rPr lang="en-US" dirty="0"/>
                  <a:t>Since the elasticity value was </a:t>
                </a:r>
                <a:r>
                  <a:rPr lang="en-US" b="1" dirty="0">
                    <a:solidFill>
                      <a:schemeClr val="accent2"/>
                    </a:solidFill>
                  </a:rPr>
                  <a:t>less than 1%</a:t>
                </a:r>
                <a:r>
                  <a:rPr lang="en-US" dirty="0"/>
                  <a:t>, it confirms that </a:t>
                </a:r>
                <a:r>
                  <a:rPr lang="en-US" b="1" dirty="0">
                    <a:solidFill>
                      <a:schemeClr val="accent2"/>
                    </a:solidFill>
                  </a:rPr>
                  <a:t>workforce density responds to financing but not proportionally (inelastic)</a:t>
                </a:r>
                <a:r>
                  <a:rPr lang="en-US" dirty="0"/>
                  <a:t>, hence </a:t>
                </a:r>
                <a:r>
                  <a:rPr lang="en-US" b="1" dirty="0">
                    <a:solidFill>
                      <a:schemeClr val="accent2"/>
                    </a:solidFill>
                  </a:rPr>
                  <a:t>doubling</a:t>
                </a:r>
                <a:r>
                  <a:rPr lang="en-US" dirty="0"/>
                  <a:t> the amount the </a:t>
                </a:r>
                <a:r>
                  <a:rPr lang="en-US" b="1" dirty="0">
                    <a:solidFill>
                      <a:schemeClr val="accent2"/>
                    </a:solidFill>
                  </a:rPr>
                  <a:t>government spends </a:t>
                </a:r>
                <a:r>
                  <a:rPr lang="en-US" dirty="0"/>
                  <a:t>per person </a:t>
                </a:r>
                <a:r>
                  <a:rPr lang="en-US" b="1" dirty="0">
                    <a:solidFill>
                      <a:schemeClr val="accent2"/>
                    </a:solidFill>
                  </a:rPr>
                  <a:t>wouldn’t</a:t>
                </a:r>
                <a:r>
                  <a:rPr lang="en-US" dirty="0"/>
                  <a:t> necessarily </a:t>
                </a:r>
                <a:r>
                  <a:rPr lang="en-US" b="1" dirty="0">
                    <a:solidFill>
                      <a:schemeClr val="accent2"/>
                    </a:solidFill>
                  </a:rPr>
                  <a:t>double</a:t>
                </a:r>
                <a:r>
                  <a:rPr lang="en-US" dirty="0"/>
                  <a:t> the </a:t>
                </a:r>
                <a:r>
                  <a:rPr lang="en-US" b="1" dirty="0">
                    <a:solidFill>
                      <a:schemeClr val="accent2"/>
                    </a:solidFill>
                  </a:rPr>
                  <a:t>workforce density</a:t>
                </a:r>
                <a:r>
                  <a:rPr lang="en-US" dirty="0"/>
                  <a:t>. </a:t>
                </a:r>
              </a:p>
            </p:txBody>
          </p:sp>
        </mc:Choice>
        <mc:Fallback xmlns="">
          <p:sp>
            <p:nvSpPr>
              <p:cNvPr id="3" name="Content Placeholder 2">
                <a:extLst>
                  <a:ext uri="{FF2B5EF4-FFF2-40B4-BE49-F238E27FC236}">
                    <a16:creationId xmlns:a16="http://schemas.microsoft.com/office/drawing/2014/main" id="{C96764AC-6B50-8EF2-2E28-1134387310B8}"/>
                  </a:ext>
                </a:extLst>
              </p:cNvPr>
              <p:cNvSpPr>
                <a:spLocks noGrp="1" noRot="1" noChangeAspect="1" noMove="1" noResize="1" noEditPoints="1" noAdjustHandles="1" noChangeArrowheads="1" noChangeShapeType="1" noTextEdit="1"/>
              </p:cNvSpPr>
              <p:nvPr>
                <p:ph idx="1"/>
              </p:nvPr>
            </p:nvSpPr>
            <p:spPr>
              <a:xfrm>
                <a:off x="1097280" y="1876926"/>
                <a:ext cx="10396630" cy="3992167"/>
              </a:xfrm>
              <a:blipFill>
                <a:blip r:embed="rId2"/>
                <a:stretch>
                  <a:fillRect l="-1408" t="-1679" r="-1290"/>
                </a:stretch>
              </a:blipFill>
            </p:spPr>
            <p:txBody>
              <a:bodyPr/>
              <a:lstStyle/>
              <a:p>
                <a:r>
                  <a:rPr lang="en-US">
                    <a:noFill/>
                  </a:rPr>
                  <a:t> </a:t>
                </a:r>
              </a:p>
            </p:txBody>
          </p:sp>
        </mc:Fallback>
      </mc:AlternateContent>
    </p:spTree>
    <p:extLst>
      <p:ext uri="{BB962C8B-B14F-4D97-AF65-F5344CB8AC3E}">
        <p14:creationId xmlns:p14="http://schemas.microsoft.com/office/powerpoint/2010/main" val="562789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94AAA-F276-FC77-C3B2-8BEACED48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FC16F-AFC9-C463-D483-CE8A6399F8E0}"/>
              </a:ext>
            </a:extLst>
          </p:cNvPr>
          <p:cNvSpPr>
            <a:spLocks noGrp="1"/>
          </p:cNvSpPr>
          <p:nvPr>
            <p:ph type="title"/>
          </p:nvPr>
        </p:nvSpPr>
        <p:spPr>
          <a:xfrm>
            <a:off x="1273743" y="815993"/>
            <a:ext cx="10773878" cy="912932"/>
          </a:xfrm>
        </p:spPr>
        <p:txBody>
          <a:bodyPr>
            <a:normAutofit fontScale="90000"/>
          </a:bodyPr>
          <a:lstStyle/>
          <a:p>
            <a:r>
              <a:rPr lang="en-US" b="1" dirty="0"/>
              <a:t>Sensitivity of Workforce Density to Government-Specific Health Financing Changes </a:t>
            </a:r>
            <a:r>
              <a:rPr lang="en-US" b="1" dirty="0" err="1"/>
              <a:t>Contd</a:t>
            </a:r>
            <a:r>
              <a:rPr lang="en-US" b="1" dirty="0"/>
              <a: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139669-FE7D-5C58-1F1A-C620AB366D58}"/>
                  </a:ext>
                </a:extLst>
              </p:cNvPr>
              <p:cNvSpPr>
                <a:spLocks noGrp="1"/>
              </p:cNvSpPr>
              <p:nvPr>
                <p:ph idx="1"/>
              </p:nvPr>
            </p:nvSpPr>
            <p:spPr>
              <a:xfrm>
                <a:off x="1097280" y="1876926"/>
                <a:ext cx="10396630" cy="3992167"/>
              </a:xfrm>
            </p:spPr>
            <p:txBody>
              <a:bodyPr>
                <a:normAutofit fontScale="92500" lnSpcReduction="20000"/>
              </a:bodyPr>
              <a:lstStyle/>
              <a:p>
                <a:pPr>
                  <a:buFont typeface="Wingdings" panose="05000000000000000000" pitchFamily="2" charset="2"/>
                  <a:buChar char="§"/>
                </a:pPr>
                <a:r>
                  <a:rPr lang="en-US" dirty="0"/>
                  <a:t> Due to the non-linear relationship between the health workforce density and health financing.</a:t>
                </a:r>
              </a:p>
              <a:p>
                <a:pPr>
                  <a:buFont typeface="Wingdings" panose="05000000000000000000" pitchFamily="2" charset="2"/>
                  <a:buChar char="§"/>
                </a:pPr>
                <a:r>
                  <a:rPr lang="en-US" dirty="0"/>
                  <a:t> A threshold regression model with segmented relationships, (</a:t>
                </a:r>
                <a:r>
                  <a:rPr lang="en-US" dirty="0" err="1"/>
                  <a:t>eqn</a:t>
                </a:r>
                <a:r>
                  <a:rPr lang="en-US" dirty="0"/>
                  <a:t> 3) was fitted to the data to ascertain whether there is any significant threshold (</a:t>
                </a:r>
                <a14:m>
                  <m:oMath xmlns:m="http://schemas.openxmlformats.org/officeDocument/2006/math">
                    <m:r>
                      <a:rPr lang="en-US" i="1">
                        <a:latin typeface="Cambria Math" panose="02040503050406030204" pitchFamily="18" charset="0"/>
                      </a:rPr>
                      <m:t>𝜀</m:t>
                    </m:r>
                    <m:r>
                      <a:rPr lang="en-US" i="1">
                        <a:latin typeface="Cambria Math" panose="02040503050406030204" pitchFamily="18" charset="0"/>
                      </a:rPr>
                      <m:t>)</m:t>
                    </m:r>
                  </m:oMath>
                </a14:m>
                <a:r>
                  <a:rPr lang="en-US" dirty="0"/>
                  <a:t> after some level of financing, which may result in a significant rise in workforce density.</a:t>
                </a:r>
              </a:p>
              <a:p>
                <a:pPr algn="ct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𝐻𝑊𝐹</m:t>
                        </m:r>
                      </m:e>
                      <m:sub>
                        <m:r>
                          <a:rPr lang="en-US" i="1">
                            <a:latin typeface="Cambria Math" panose="02040503050406030204" pitchFamily="18" charset="0"/>
                          </a:rPr>
                          <m:t>𝑖𝑡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𝐺𝐺𝐻𝐸𝐷</m:t>
                                </m:r>
                              </m:e>
                              <m:sub>
                                <m:r>
                                  <a:rPr lang="en-US" i="1">
                                    <a:latin typeface="Cambria Math" panose="02040503050406030204" pitchFamily="18" charset="0"/>
                                  </a:rPr>
                                  <m:t>𝑖𝑡</m:t>
                                </m:r>
                              </m:sub>
                            </m:sSub>
                            <m:r>
                              <a:rPr lang="en-US" i="1">
                                <a:latin typeface="Cambria Math" panose="02040503050406030204" pitchFamily="18" charset="0"/>
                              </a:rPr>
                              <m:t> </m:t>
                            </m:r>
                            <m:r>
                              <a:rPr lang="en-US" i="1">
                                <a:latin typeface="Cambria Math" panose="02040503050406030204" pitchFamily="18" charset="0"/>
                              </a:rPr>
                              <m:t>𝑖𝑓</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𝐺𝐺𝐻𝐸𝐷</m:t>
                                </m:r>
                              </m:e>
                              <m:sub>
                                <m:r>
                                  <a:rPr lang="en-US" i="1">
                                    <a:latin typeface="Cambria Math" panose="02040503050406030204" pitchFamily="18" charset="0"/>
                                  </a:rPr>
                                  <m:t>𝑖𝑡</m:t>
                                </m:r>
                              </m:sub>
                            </m:sSub>
                            <m:r>
                              <a:rPr lang="en-US" i="1">
                                <a:latin typeface="Cambria Math" panose="02040503050406030204" pitchFamily="18" charset="0"/>
                              </a:rPr>
                              <m:t>&lt;</m:t>
                            </m:r>
                            <m:r>
                              <a:rPr lang="en-US" i="1">
                                <a:latin typeface="Cambria Math" panose="02040503050406030204" pitchFamily="18" charset="0"/>
                              </a:rPr>
                              <m:t>𝜀</m:t>
                            </m:r>
                            <m:r>
                              <a:rPr lang="en-US" i="1">
                                <a:latin typeface="Cambria Math" panose="02040503050406030204" pitchFamily="18" charset="0"/>
                              </a:rPr>
                              <m:t> </m:t>
                            </m:r>
                          </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𝐺𝐺𝐻𝐸𝐷</m:t>
                                </m:r>
                              </m:e>
                              <m:sub>
                                <m:r>
                                  <a:rPr lang="en-US" i="1">
                                    <a:latin typeface="Cambria Math" panose="02040503050406030204" pitchFamily="18" charset="0"/>
                                  </a:rPr>
                                  <m:t>𝑖𝑡</m:t>
                                </m:r>
                              </m:sub>
                            </m:sSub>
                            <m:r>
                              <a:rPr lang="en-US" i="1">
                                <a:latin typeface="Cambria Math" panose="02040503050406030204" pitchFamily="18" charset="0"/>
                              </a:rPr>
                              <m:t> </m:t>
                            </m:r>
                            <m:r>
                              <a:rPr lang="en-US" i="1">
                                <a:latin typeface="Cambria Math" panose="02040503050406030204" pitchFamily="18" charset="0"/>
                              </a:rPr>
                              <m:t>𝑖𝑓</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𝐺𝐺𝐻𝐸𝐷</m:t>
                                </m:r>
                              </m:e>
                              <m:sub>
                                <m:r>
                                  <a:rPr lang="en-US" i="1">
                                    <a:latin typeface="Cambria Math" panose="02040503050406030204" pitchFamily="18" charset="0"/>
                                  </a:rPr>
                                  <m:t>𝑖𝑡</m:t>
                                </m:r>
                              </m:sub>
                            </m:sSub>
                            <m:r>
                              <a:rPr lang="en-US" i="1">
                                <a:latin typeface="Cambria Math" panose="02040503050406030204" pitchFamily="18" charset="0"/>
                              </a:rPr>
                              <m:t>≥</m:t>
                            </m:r>
                            <m:r>
                              <a:rPr lang="en-US" i="1">
                                <a:latin typeface="Cambria Math" panose="02040503050406030204" pitchFamily="18" charset="0"/>
                              </a:rPr>
                              <m:t>𝜀</m:t>
                            </m:r>
                            <m:r>
                              <a:rPr lang="en-US" i="1">
                                <a:latin typeface="Cambria Math" panose="02040503050406030204" pitchFamily="18" charset="0"/>
                              </a:rPr>
                              <m:t> </m:t>
                            </m:r>
                          </m:e>
                        </m:eqArr>
                      </m:e>
                    </m:d>
                  </m:oMath>
                </a14:m>
                <a:r>
                  <a:rPr lang="en-US" dirty="0"/>
                  <a:t>			(3)</a:t>
                </a:r>
              </a:p>
              <a:p>
                <a:pPr>
                  <a:buFont typeface="Wingdings" panose="05000000000000000000" pitchFamily="2" charset="2"/>
                  <a:buChar char="§"/>
                </a:pPr>
                <a:r>
                  <a:rPr lang="en-US" dirty="0"/>
                  <a:t> The result of the model found the threshold level where the slope of the relationship between government health expenditure and health workforce density changes to be </a:t>
                </a:r>
                <a14:m>
                  <m:oMath xmlns:m="http://schemas.openxmlformats.org/officeDocument/2006/math">
                    <m:r>
                      <a:rPr lang="en-US" i="1">
                        <a:latin typeface="Cambria Math" panose="02040503050406030204" pitchFamily="18" charset="0"/>
                      </a:rPr>
                      <m:t>$74.31 </m:t>
                    </m:r>
                  </m:oMath>
                </a14:m>
                <a:r>
                  <a:rPr lang="en-US" dirty="0"/>
                  <a:t>per person, implying that the relationship between GGHED and HWF is different before and after this level. </a:t>
                </a:r>
              </a:p>
              <a:p>
                <a:pPr>
                  <a:buFont typeface="Wingdings" panose="05000000000000000000" pitchFamily="2" charset="2"/>
                  <a:buChar char="§"/>
                </a:pPr>
                <a:r>
                  <a:rPr lang="en-US" dirty="0"/>
                  <a:t> It was discovered that </a:t>
                </a:r>
                <a:r>
                  <a:rPr lang="en-US" b="1" dirty="0">
                    <a:solidFill>
                      <a:schemeClr val="accent2"/>
                    </a:solidFill>
                  </a:rPr>
                  <a:t>before the breakpoint of $74.31 per capita</a:t>
                </a:r>
                <a:r>
                  <a:rPr lang="en-US" dirty="0"/>
                  <a:t>, each additional dollar of GGHED per capita is associated </a:t>
                </a:r>
                <a:r>
                  <a:rPr lang="en-US" b="1" dirty="0">
                    <a:solidFill>
                      <a:schemeClr val="accent2"/>
                    </a:solidFill>
                  </a:rPr>
                  <a:t>with an increase of about 0.40 health workers per 10,000 population.</a:t>
                </a:r>
                <a:r>
                  <a:rPr lang="en-US" dirty="0"/>
                  <a:t> </a:t>
                </a:r>
              </a:p>
              <a:p>
                <a:pPr>
                  <a:buFont typeface="Wingdings" panose="05000000000000000000" pitchFamily="2" charset="2"/>
                  <a:buChar char="§"/>
                </a:pPr>
                <a:r>
                  <a:rPr lang="en-US" dirty="0"/>
                  <a:t>However, this term adjusts </a:t>
                </a:r>
                <a:r>
                  <a:rPr lang="en-US" b="1" dirty="0">
                    <a:solidFill>
                      <a:schemeClr val="accent2"/>
                    </a:solidFill>
                  </a:rPr>
                  <a:t>after the breakpoint </a:t>
                </a:r>
                <a:r>
                  <a:rPr lang="en-US" dirty="0"/>
                  <a:t>such that a unit increase in GGHED per capita leads to an </a:t>
                </a:r>
                <a:r>
                  <a:rPr lang="en-US" b="1" dirty="0">
                    <a:solidFill>
                      <a:schemeClr val="accent2"/>
                    </a:solidFill>
                  </a:rPr>
                  <a:t>increase of about 0.06 health workers per 10,000 population</a:t>
                </a:r>
                <a:r>
                  <a:rPr lang="en-US" dirty="0"/>
                  <a:t>.</a:t>
                </a:r>
              </a:p>
            </p:txBody>
          </p:sp>
        </mc:Choice>
        <mc:Fallback xmlns="">
          <p:sp>
            <p:nvSpPr>
              <p:cNvPr id="3" name="Content Placeholder 2">
                <a:extLst>
                  <a:ext uri="{FF2B5EF4-FFF2-40B4-BE49-F238E27FC236}">
                    <a16:creationId xmlns:a16="http://schemas.microsoft.com/office/drawing/2014/main" id="{55139669-FE7D-5C58-1F1A-C620AB366D58}"/>
                  </a:ext>
                </a:extLst>
              </p:cNvPr>
              <p:cNvSpPr>
                <a:spLocks noGrp="1" noRot="1" noChangeAspect="1" noMove="1" noResize="1" noEditPoints="1" noAdjustHandles="1" noChangeArrowheads="1" noChangeShapeType="1" noTextEdit="1"/>
              </p:cNvSpPr>
              <p:nvPr>
                <p:ph idx="1"/>
              </p:nvPr>
            </p:nvSpPr>
            <p:spPr>
              <a:xfrm>
                <a:off x="1097280" y="1876926"/>
                <a:ext cx="10396630" cy="3992167"/>
              </a:xfrm>
              <a:blipFill>
                <a:blip r:embed="rId2"/>
                <a:stretch>
                  <a:fillRect l="-1290" t="-2595" r="-1642"/>
                </a:stretch>
              </a:blipFill>
            </p:spPr>
            <p:txBody>
              <a:bodyPr/>
              <a:lstStyle/>
              <a:p>
                <a:r>
                  <a:rPr lang="en-US">
                    <a:noFill/>
                  </a:rPr>
                  <a:t> </a:t>
                </a:r>
              </a:p>
            </p:txBody>
          </p:sp>
        </mc:Fallback>
      </mc:AlternateContent>
    </p:spTree>
    <p:extLst>
      <p:ext uri="{BB962C8B-B14F-4D97-AF65-F5344CB8AC3E}">
        <p14:creationId xmlns:p14="http://schemas.microsoft.com/office/powerpoint/2010/main" val="3214257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DF19-0818-1859-A549-88A4173B1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D9AD4-A1E0-2F41-996E-0140F32C2409}"/>
              </a:ext>
            </a:extLst>
          </p:cNvPr>
          <p:cNvSpPr>
            <a:spLocks noGrp="1"/>
          </p:cNvSpPr>
          <p:nvPr>
            <p:ph type="title"/>
          </p:nvPr>
        </p:nvSpPr>
        <p:spPr>
          <a:xfrm>
            <a:off x="1273743" y="815993"/>
            <a:ext cx="10773878" cy="912932"/>
          </a:xfrm>
        </p:spPr>
        <p:txBody>
          <a:bodyPr>
            <a:normAutofit fontScale="90000"/>
          </a:bodyPr>
          <a:lstStyle/>
          <a:p>
            <a:r>
              <a:rPr lang="en-US" b="1" dirty="0"/>
              <a:t>Lagged Effect of Government-Specific Health Financing on Workforce Density </a:t>
            </a:r>
            <a:endParaRPr lang="en-US" dirty="0"/>
          </a:p>
        </p:txBody>
      </p:sp>
      <p:sp>
        <p:nvSpPr>
          <p:cNvPr id="3" name="Content Placeholder 2">
            <a:extLst>
              <a:ext uri="{FF2B5EF4-FFF2-40B4-BE49-F238E27FC236}">
                <a16:creationId xmlns:a16="http://schemas.microsoft.com/office/drawing/2014/main" id="{7C0FBF1D-3545-EAD7-62DA-30161DF43772}"/>
              </a:ext>
            </a:extLst>
          </p:cNvPr>
          <p:cNvSpPr>
            <a:spLocks noGrp="1"/>
          </p:cNvSpPr>
          <p:nvPr>
            <p:ph idx="1"/>
          </p:nvPr>
        </p:nvSpPr>
        <p:spPr>
          <a:xfrm>
            <a:off x="1097280" y="1876926"/>
            <a:ext cx="10396630" cy="3992167"/>
          </a:xfrm>
        </p:spPr>
        <p:txBody>
          <a:bodyPr>
            <a:normAutofit lnSpcReduction="10000"/>
          </a:bodyPr>
          <a:lstStyle/>
          <a:p>
            <a:pPr algn="just">
              <a:buFont typeface="Wingdings" panose="05000000000000000000" pitchFamily="2" charset="2"/>
              <a:buChar char="§"/>
            </a:pPr>
            <a:r>
              <a:rPr lang="en-US" dirty="0"/>
              <a:t> A lagged fixed-effect model was fitted to the data to help us capture any delayed effects government health expenditure may have on health workforce density.</a:t>
            </a:r>
          </a:p>
          <a:p>
            <a:pPr algn="just">
              <a:buFont typeface="Wingdings" panose="05000000000000000000" pitchFamily="2" charset="2"/>
              <a:buChar char="§"/>
            </a:pPr>
            <a:r>
              <a:rPr lang="en-US" dirty="0"/>
              <a:t> The results show that government spending has </a:t>
            </a:r>
            <a:r>
              <a:rPr lang="en-US" b="1" dirty="0">
                <a:solidFill>
                  <a:schemeClr val="accent2"/>
                </a:solidFill>
              </a:rPr>
              <a:t>a small (0.0412), almost significant (</a:t>
            </a:r>
            <a:r>
              <a:rPr lang="en-US" b="1" dirty="0" err="1">
                <a:solidFill>
                  <a:schemeClr val="accent2"/>
                </a:solidFill>
              </a:rPr>
              <a:t>pvalue</a:t>
            </a:r>
            <a:r>
              <a:rPr lang="en-US" b="1" dirty="0">
                <a:solidFill>
                  <a:schemeClr val="accent2"/>
                </a:solidFill>
              </a:rPr>
              <a:t>=0.0709) impact </a:t>
            </a:r>
            <a:r>
              <a:rPr lang="en-US" dirty="0"/>
              <a:t>on health workforce density </a:t>
            </a:r>
            <a:r>
              <a:rPr lang="en-US" b="1" dirty="0">
                <a:solidFill>
                  <a:schemeClr val="accent2"/>
                </a:solidFill>
              </a:rPr>
              <a:t>within one year</a:t>
            </a:r>
            <a:r>
              <a:rPr lang="en-US" dirty="0"/>
              <a:t>. </a:t>
            </a:r>
          </a:p>
          <a:p>
            <a:pPr algn="just">
              <a:buFont typeface="Wingdings" panose="05000000000000000000" pitchFamily="2" charset="2"/>
              <a:buChar char="§"/>
            </a:pPr>
            <a:r>
              <a:rPr lang="en-US" dirty="0"/>
              <a:t> However, the </a:t>
            </a:r>
            <a:r>
              <a:rPr lang="en-US" b="1" dirty="0">
                <a:solidFill>
                  <a:schemeClr val="accent2"/>
                </a:solidFill>
              </a:rPr>
              <a:t>strongest positive effect </a:t>
            </a:r>
            <a:r>
              <a:rPr lang="en-US" dirty="0"/>
              <a:t>(0.1114) </a:t>
            </a:r>
            <a:r>
              <a:rPr lang="en-US" b="1" dirty="0">
                <a:solidFill>
                  <a:schemeClr val="accent2"/>
                </a:solidFill>
              </a:rPr>
              <a:t>appears after 4 years</a:t>
            </a:r>
            <a:r>
              <a:rPr lang="en-US" dirty="0"/>
              <a:t>, suggesting that health financing translates into workforce growth through other constraints such as training, retention, and so on. </a:t>
            </a:r>
          </a:p>
          <a:p>
            <a:pPr algn="just">
              <a:buFont typeface="Wingdings" panose="05000000000000000000" pitchFamily="2" charset="2"/>
              <a:buChar char="§"/>
            </a:pPr>
            <a:r>
              <a:rPr lang="en-US" dirty="0"/>
              <a:t> Implying that government health expenditure per capita influences health workforce density both in the short term (maybe through hiring) and medium term (maybe through training and deployment).</a:t>
            </a:r>
          </a:p>
          <a:p>
            <a:pPr algn="just">
              <a:buFont typeface="Wingdings" panose="05000000000000000000" pitchFamily="2" charset="2"/>
              <a:buChar char="§"/>
            </a:pPr>
            <a:r>
              <a:rPr lang="en-US" dirty="0"/>
              <a:t> In addition to this, an </a:t>
            </a:r>
            <a:r>
              <a:rPr lang="en-US" b="1" dirty="0">
                <a:solidFill>
                  <a:schemeClr val="accent2"/>
                </a:solidFill>
              </a:rPr>
              <a:t>R-squared value of 0.342</a:t>
            </a:r>
            <a:r>
              <a:rPr lang="en-US" dirty="0"/>
              <a:t> was recorded, implying that </a:t>
            </a:r>
            <a:r>
              <a:rPr lang="en-US" b="1" dirty="0">
                <a:solidFill>
                  <a:schemeClr val="accent2"/>
                </a:solidFill>
              </a:rPr>
              <a:t>34% of the variation </a:t>
            </a:r>
            <a:r>
              <a:rPr lang="en-US" dirty="0"/>
              <a:t>in workforce density within countries is explained by lagged government spending.</a:t>
            </a:r>
          </a:p>
        </p:txBody>
      </p:sp>
    </p:spTree>
    <p:extLst>
      <p:ext uri="{BB962C8B-B14F-4D97-AF65-F5344CB8AC3E}">
        <p14:creationId xmlns:p14="http://schemas.microsoft.com/office/powerpoint/2010/main" val="328950487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7194</TotalTime>
  <Words>872</Words>
  <Application>Microsoft Office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Calibri Light</vt:lpstr>
      <vt:lpstr>Cambria Math</vt:lpstr>
      <vt:lpstr>Wingdings</vt:lpstr>
      <vt:lpstr>Retrospect</vt:lpstr>
      <vt:lpstr>Investing in Health Systems: Insights into How Health Financing Shape Workforce Density and UHC Outcomes </vt:lpstr>
      <vt:lpstr>Background</vt:lpstr>
      <vt:lpstr>Average Number of Health Workers vis-à-vis UHC_SCI</vt:lpstr>
      <vt:lpstr>Effect of Government Health Financing on Health Workforce Densities</vt:lpstr>
      <vt:lpstr>Sensitivity of Workforce Density to Government-Specific Health Financing Changes</vt:lpstr>
      <vt:lpstr>Sensitivity of Workforce Density to Government-Specific Health Financing Changes Contd…</vt:lpstr>
      <vt:lpstr>Lagged Effect of Government-Specific Health Financing on Workforce Density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Charity Wamwea</dc:creator>
  <cp:lastModifiedBy>Charity Wamwea</cp:lastModifiedBy>
  <cp:revision>2</cp:revision>
  <dcterms:created xsi:type="dcterms:W3CDTF">2026-03-03T13:44:27Z</dcterms:created>
  <dcterms:modified xsi:type="dcterms:W3CDTF">2026-03-11T07:38:12Z</dcterms:modified>
</cp:coreProperties>
</file>